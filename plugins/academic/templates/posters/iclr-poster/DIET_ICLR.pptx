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32918400" cx="65836800"/>
  <p:notesSz cx="6858000" cy="9144000"/>
  <p:embeddedFontLst>
    <p:embeddedFont>
      <p:font typeface="Helvetica Neue"/>
      <p:regular r:id="rId8"/>
      <p:bold r:id="rId9"/>
      <p:italic r:id="rId10"/>
      <p:boldItalic r:id="rId11"/>
    </p:embeddedFont>
    <p:embeddedFont>
      <p:font typeface="Helvetica Neue Ligh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658">
          <p15:clr>
            <a:srgbClr val="747775"/>
          </p15:clr>
        </p15:guide>
        <p15:guide id="2" pos="13833">
          <p15:clr>
            <a:srgbClr val="747775"/>
          </p15:clr>
        </p15:guide>
        <p15:guide id="3" orient="horz" pos="3402">
          <p15:clr>
            <a:srgbClr val="747775"/>
          </p15:clr>
        </p15:guide>
        <p15:guide id="4" pos="2766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658" orient="horz"/>
        <p:guide pos="13833"/>
        <p:guide pos="3402" orient="horz"/>
        <p:guide pos="2766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boldItalic.fntdata"/><Relationship Id="rId10" Type="http://schemas.openxmlformats.org/officeDocument/2006/relationships/font" Target="fonts/HelveticaNeue-italic.fntdata"/><Relationship Id="rId13" Type="http://schemas.openxmlformats.org/officeDocument/2006/relationships/font" Target="fonts/HelveticaNeueLight-bold.fntdata"/><Relationship Id="rId12" Type="http://schemas.openxmlformats.org/officeDocument/2006/relationships/font" Target="fonts/HelveticaNeueL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HelveticaNeue-bold.fntdata"/><Relationship Id="rId15" Type="http://schemas.openxmlformats.org/officeDocument/2006/relationships/font" Target="fonts/HelveticaNeueLight-boldItalic.fntdata"/><Relationship Id="rId14" Type="http://schemas.openxmlformats.org/officeDocument/2006/relationships/font" Target="fonts/HelveticaNeue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HelveticaNeu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27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27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bdbdc0eaa_1_0:notes"/>
          <p:cNvSpPr/>
          <p:nvPr>
            <p:ph idx="2" type="sldImg"/>
          </p:nvPr>
        </p:nvSpPr>
        <p:spPr>
          <a:xfrm>
            <a:off x="327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bdbdc0ea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244300" y="4765280"/>
            <a:ext cx="61348200" cy="13136700"/>
          </a:xfrm>
          <a:prstGeom prst="rect">
            <a:avLst/>
          </a:prstGeom>
        </p:spPr>
        <p:txBody>
          <a:bodyPr anchorCtr="0" anchor="b" bIns="609500" lIns="609500" spcFirstLastPara="1" rIns="609500" wrap="square" tIns="6095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700"/>
              <a:buNone/>
              <a:defRPr sz="34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4700"/>
              <a:buNone/>
              <a:defRPr sz="34700"/>
            </a:lvl2pPr>
            <a:lvl3pPr lvl="2" algn="ctr">
              <a:spcBef>
                <a:spcPts val="0"/>
              </a:spcBef>
              <a:spcAft>
                <a:spcPts val="0"/>
              </a:spcAft>
              <a:buSzPts val="34700"/>
              <a:buNone/>
              <a:defRPr sz="34700"/>
            </a:lvl3pPr>
            <a:lvl4pPr lvl="3" algn="ctr">
              <a:spcBef>
                <a:spcPts val="0"/>
              </a:spcBef>
              <a:spcAft>
                <a:spcPts val="0"/>
              </a:spcAft>
              <a:buSzPts val="34700"/>
              <a:buNone/>
              <a:defRPr sz="34700"/>
            </a:lvl4pPr>
            <a:lvl5pPr lvl="4" algn="ctr">
              <a:spcBef>
                <a:spcPts val="0"/>
              </a:spcBef>
              <a:spcAft>
                <a:spcPts val="0"/>
              </a:spcAft>
              <a:buSzPts val="34700"/>
              <a:buNone/>
              <a:defRPr sz="34700"/>
            </a:lvl5pPr>
            <a:lvl6pPr lvl="5" algn="ctr">
              <a:spcBef>
                <a:spcPts val="0"/>
              </a:spcBef>
              <a:spcAft>
                <a:spcPts val="0"/>
              </a:spcAft>
              <a:buSzPts val="34700"/>
              <a:buNone/>
              <a:defRPr sz="34700"/>
            </a:lvl6pPr>
            <a:lvl7pPr lvl="6" algn="ctr">
              <a:spcBef>
                <a:spcPts val="0"/>
              </a:spcBef>
              <a:spcAft>
                <a:spcPts val="0"/>
              </a:spcAft>
              <a:buSzPts val="34700"/>
              <a:buNone/>
              <a:defRPr sz="34700"/>
            </a:lvl7pPr>
            <a:lvl8pPr lvl="7" algn="ctr">
              <a:spcBef>
                <a:spcPts val="0"/>
              </a:spcBef>
              <a:spcAft>
                <a:spcPts val="0"/>
              </a:spcAft>
              <a:buSzPts val="34700"/>
              <a:buNone/>
              <a:defRPr sz="34700"/>
            </a:lvl8pPr>
            <a:lvl9pPr lvl="8" algn="ctr">
              <a:spcBef>
                <a:spcPts val="0"/>
              </a:spcBef>
              <a:spcAft>
                <a:spcPts val="0"/>
              </a:spcAft>
              <a:buSzPts val="34700"/>
              <a:buNone/>
              <a:defRPr sz="347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244240" y="18138400"/>
            <a:ext cx="61348200" cy="5072700"/>
          </a:xfrm>
          <a:prstGeom prst="rect">
            <a:avLst/>
          </a:prstGeom>
        </p:spPr>
        <p:txBody>
          <a:bodyPr anchorCtr="0" anchor="t" bIns="609500" lIns="609500" spcFirstLastPara="1" rIns="609500" wrap="square" tIns="6095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00"/>
              <a:buNone/>
              <a:defRPr sz="18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00"/>
              <a:buNone/>
              <a:defRPr sz="18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00"/>
              <a:buNone/>
              <a:defRPr sz="18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00"/>
              <a:buNone/>
              <a:defRPr sz="18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00"/>
              <a:buNone/>
              <a:defRPr sz="18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00"/>
              <a:buNone/>
              <a:defRPr sz="18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00"/>
              <a:buNone/>
              <a:defRPr sz="18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00"/>
              <a:buNone/>
              <a:defRPr sz="18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700"/>
              <a:buNone/>
              <a:defRPr sz="187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61001696" y="29844588"/>
            <a:ext cx="3950400" cy="2519100"/>
          </a:xfrm>
          <a:prstGeom prst="rect">
            <a:avLst/>
          </a:prstGeom>
        </p:spPr>
        <p:txBody>
          <a:bodyPr anchorCtr="0" anchor="ctr" bIns="609500" lIns="609500" spcFirstLastPara="1" rIns="609500" wrap="square" tIns="609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244240" y="13765440"/>
            <a:ext cx="61348200" cy="5387700"/>
          </a:xfrm>
          <a:prstGeom prst="rect">
            <a:avLst/>
          </a:prstGeom>
        </p:spPr>
        <p:txBody>
          <a:bodyPr anchorCtr="0" anchor="ctr" bIns="609500" lIns="609500" spcFirstLastPara="1" rIns="609500" wrap="square" tIns="6095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1001696" y="29844588"/>
            <a:ext cx="3950400" cy="2519100"/>
          </a:xfrm>
          <a:prstGeom prst="rect">
            <a:avLst/>
          </a:prstGeom>
        </p:spPr>
        <p:txBody>
          <a:bodyPr anchorCtr="0" anchor="ctr" bIns="609500" lIns="609500" spcFirstLastPara="1" rIns="609500" wrap="square" tIns="609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244240" y="2848160"/>
            <a:ext cx="61348200" cy="3665100"/>
          </a:xfrm>
          <a:prstGeom prst="rect">
            <a:avLst/>
          </a:prstGeom>
        </p:spPr>
        <p:txBody>
          <a:bodyPr anchorCtr="0" anchor="t" bIns="609500" lIns="609500" spcFirstLastPara="1" rIns="609500" wrap="square" tIns="6095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244240" y="7375840"/>
            <a:ext cx="61348200" cy="21864900"/>
          </a:xfrm>
          <a:prstGeom prst="rect">
            <a:avLst/>
          </a:prstGeom>
        </p:spPr>
        <p:txBody>
          <a:bodyPr anchorCtr="0" anchor="t" bIns="609500" lIns="609500" spcFirstLastPara="1" rIns="609500" wrap="square" tIns="609500">
            <a:normAutofit/>
          </a:bodyPr>
          <a:lstStyle>
            <a:lvl1pPr indent="-990600" lvl="0" marL="457200">
              <a:spcBef>
                <a:spcPts val="0"/>
              </a:spcBef>
              <a:spcAft>
                <a:spcPts val="0"/>
              </a:spcAft>
              <a:buSzPts val="12000"/>
              <a:buChar char="●"/>
              <a:defRPr/>
            </a:lvl1pPr>
            <a:lvl2pPr indent="-819150" lvl="1" marL="914400">
              <a:spcBef>
                <a:spcPts val="0"/>
              </a:spcBef>
              <a:spcAft>
                <a:spcPts val="0"/>
              </a:spcAft>
              <a:buSzPts val="9300"/>
              <a:buChar char="○"/>
              <a:defRPr/>
            </a:lvl2pPr>
            <a:lvl3pPr indent="-819150" lvl="2" marL="1371600">
              <a:spcBef>
                <a:spcPts val="0"/>
              </a:spcBef>
              <a:spcAft>
                <a:spcPts val="0"/>
              </a:spcAft>
              <a:buSzPts val="9300"/>
              <a:buChar char="■"/>
              <a:defRPr/>
            </a:lvl3pPr>
            <a:lvl4pPr indent="-819150" lvl="3" marL="1828800">
              <a:spcBef>
                <a:spcPts val="0"/>
              </a:spcBef>
              <a:spcAft>
                <a:spcPts val="0"/>
              </a:spcAft>
              <a:buSzPts val="9300"/>
              <a:buChar char="●"/>
              <a:defRPr/>
            </a:lvl4pPr>
            <a:lvl5pPr indent="-819150" lvl="4" marL="2286000">
              <a:spcBef>
                <a:spcPts val="0"/>
              </a:spcBef>
              <a:spcAft>
                <a:spcPts val="0"/>
              </a:spcAft>
              <a:buSzPts val="9300"/>
              <a:buChar char="○"/>
              <a:defRPr/>
            </a:lvl5pPr>
            <a:lvl6pPr indent="-819150" lvl="5" marL="2743200">
              <a:spcBef>
                <a:spcPts val="0"/>
              </a:spcBef>
              <a:spcAft>
                <a:spcPts val="0"/>
              </a:spcAft>
              <a:buSzPts val="9300"/>
              <a:buChar char="■"/>
              <a:defRPr/>
            </a:lvl6pPr>
            <a:lvl7pPr indent="-819150" lvl="6" marL="3200400">
              <a:spcBef>
                <a:spcPts val="0"/>
              </a:spcBef>
              <a:spcAft>
                <a:spcPts val="0"/>
              </a:spcAft>
              <a:buSzPts val="9300"/>
              <a:buChar char="●"/>
              <a:defRPr/>
            </a:lvl7pPr>
            <a:lvl8pPr indent="-819150" lvl="7" marL="3657600">
              <a:spcBef>
                <a:spcPts val="0"/>
              </a:spcBef>
              <a:spcAft>
                <a:spcPts val="0"/>
              </a:spcAft>
              <a:buSzPts val="9300"/>
              <a:buChar char="○"/>
              <a:defRPr/>
            </a:lvl8pPr>
            <a:lvl9pPr indent="-819150" lvl="8" marL="4114800">
              <a:spcBef>
                <a:spcPts val="0"/>
              </a:spcBef>
              <a:spcAft>
                <a:spcPts val="0"/>
              </a:spcAft>
              <a:buSzPts val="93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1001696" y="29844588"/>
            <a:ext cx="3950400" cy="2519100"/>
          </a:xfrm>
          <a:prstGeom prst="rect">
            <a:avLst/>
          </a:prstGeom>
        </p:spPr>
        <p:txBody>
          <a:bodyPr anchorCtr="0" anchor="ctr" bIns="609500" lIns="609500" spcFirstLastPara="1" rIns="609500" wrap="square" tIns="609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44240" y="2848160"/>
            <a:ext cx="61348200" cy="3665100"/>
          </a:xfrm>
          <a:prstGeom prst="rect">
            <a:avLst/>
          </a:prstGeom>
        </p:spPr>
        <p:txBody>
          <a:bodyPr anchorCtr="0" anchor="t" bIns="609500" lIns="609500" spcFirstLastPara="1" rIns="609500" wrap="square" tIns="6095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44240" y="7375840"/>
            <a:ext cx="28799400" cy="21864900"/>
          </a:xfrm>
          <a:prstGeom prst="rect">
            <a:avLst/>
          </a:prstGeom>
        </p:spPr>
        <p:txBody>
          <a:bodyPr anchorCtr="0" anchor="t" bIns="609500" lIns="609500" spcFirstLastPara="1" rIns="609500" wrap="square" tIns="609500">
            <a:normAutofit/>
          </a:bodyPr>
          <a:lstStyle>
            <a:lvl1pPr indent="-819150" lvl="0" marL="457200">
              <a:spcBef>
                <a:spcPts val="0"/>
              </a:spcBef>
              <a:spcAft>
                <a:spcPts val="0"/>
              </a:spcAft>
              <a:buSzPts val="9300"/>
              <a:buChar char="●"/>
              <a:defRPr sz="9300"/>
            </a:lvl1pPr>
            <a:lvl2pPr indent="-736600" lvl="1" marL="914400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2pPr>
            <a:lvl3pPr indent="-736600" lvl="2" marL="1371600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3pPr>
            <a:lvl4pPr indent="-736600" lvl="3" marL="1828800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4pPr>
            <a:lvl5pPr indent="-736600" lvl="4" marL="2286000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5pPr>
            <a:lvl6pPr indent="-736600" lvl="5" marL="2743200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6pPr>
            <a:lvl7pPr indent="-736600" lvl="6" marL="3200400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7pPr>
            <a:lvl8pPr indent="-736600" lvl="7" marL="3657600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8pPr>
            <a:lvl9pPr indent="-736600" lvl="8" marL="4114800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4793280" y="7375840"/>
            <a:ext cx="28799400" cy="21864900"/>
          </a:xfrm>
          <a:prstGeom prst="rect">
            <a:avLst/>
          </a:prstGeom>
        </p:spPr>
        <p:txBody>
          <a:bodyPr anchorCtr="0" anchor="t" bIns="609500" lIns="609500" spcFirstLastPara="1" rIns="609500" wrap="square" tIns="609500">
            <a:normAutofit/>
          </a:bodyPr>
          <a:lstStyle>
            <a:lvl1pPr indent="-819150" lvl="0" marL="457200">
              <a:spcBef>
                <a:spcPts val="0"/>
              </a:spcBef>
              <a:spcAft>
                <a:spcPts val="0"/>
              </a:spcAft>
              <a:buSzPts val="9300"/>
              <a:buChar char="●"/>
              <a:defRPr sz="9300"/>
            </a:lvl1pPr>
            <a:lvl2pPr indent="-736600" lvl="1" marL="914400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2pPr>
            <a:lvl3pPr indent="-736600" lvl="2" marL="1371600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3pPr>
            <a:lvl4pPr indent="-736600" lvl="3" marL="1828800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4pPr>
            <a:lvl5pPr indent="-736600" lvl="4" marL="2286000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5pPr>
            <a:lvl6pPr indent="-736600" lvl="5" marL="2743200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6pPr>
            <a:lvl7pPr indent="-736600" lvl="6" marL="3200400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7pPr>
            <a:lvl8pPr indent="-736600" lvl="7" marL="3657600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8pPr>
            <a:lvl9pPr indent="-736600" lvl="8" marL="4114800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1001696" y="29844588"/>
            <a:ext cx="3950400" cy="2519100"/>
          </a:xfrm>
          <a:prstGeom prst="rect">
            <a:avLst/>
          </a:prstGeom>
        </p:spPr>
        <p:txBody>
          <a:bodyPr anchorCtr="0" anchor="ctr" bIns="609500" lIns="609500" spcFirstLastPara="1" rIns="609500" wrap="square" tIns="609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244240" y="2848160"/>
            <a:ext cx="61348200" cy="3665100"/>
          </a:xfrm>
          <a:prstGeom prst="rect">
            <a:avLst/>
          </a:prstGeom>
        </p:spPr>
        <p:txBody>
          <a:bodyPr anchorCtr="0" anchor="t" bIns="609500" lIns="609500" spcFirstLastPara="1" rIns="609500" wrap="square" tIns="6095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7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61001696" y="29844588"/>
            <a:ext cx="3950400" cy="2519100"/>
          </a:xfrm>
          <a:prstGeom prst="rect">
            <a:avLst/>
          </a:prstGeom>
        </p:spPr>
        <p:txBody>
          <a:bodyPr anchorCtr="0" anchor="ctr" bIns="609500" lIns="609500" spcFirstLastPara="1" rIns="609500" wrap="square" tIns="609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244240" y="3555840"/>
            <a:ext cx="20217600" cy="4836600"/>
          </a:xfrm>
          <a:prstGeom prst="rect">
            <a:avLst/>
          </a:prstGeom>
        </p:spPr>
        <p:txBody>
          <a:bodyPr anchorCtr="0" anchor="b" bIns="609500" lIns="609500" spcFirstLastPara="1" rIns="609500" wrap="square" tIns="6095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244240" y="8893440"/>
            <a:ext cx="20217600" cy="20348100"/>
          </a:xfrm>
          <a:prstGeom prst="rect">
            <a:avLst/>
          </a:prstGeom>
        </p:spPr>
        <p:txBody>
          <a:bodyPr anchorCtr="0" anchor="t" bIns="609500" lIns="609500" spcFirstLastPara="1" rIns="609500" wrap="square" tIns="609500">
            <a:normAutofit/>
          </a:bodyPr>
          <a:lstStyle>
            <a:lvl1pPr indent="-736600" lvl="0" marL="457200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1pPr>
            <a:lvl2pPr indent="-736600" lvl="1" marL="914400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2pPr>
            <a:lvl3pPr indent="-736600" lvl="2" marL="1371600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3pPr>
            <a:lvl4pPr indent="-736600" lvl="3" marL="1828800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4pPr>
            <a:lvl5pPr indent="-736600" lvl="4" marL="2286000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5pPr>
            <a:lvl6pPr indent="-736600" lvl="5" marL="2743200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6pPr>
            <a:lvl7pPr indent="-736600" lvl="6" marL="3200400">
              <a:spcBef>
                <a:spcPts val="0"/>
              </a:spcBef>
              <a:spcAft>
                <a:spcPts val="0"/>
              </a:spcAft>
              <a:buSzPts val="8000"/>
              <a:buChar char="●"/>
              <a:defRPr sz="8000"/>
            </a:lvl7pPr>
            <a:lvl8pPr indent="-736600" lvl="7" marL="3657600">
              <a:spcBef>
                <a:spcPts val="0"/>
              </a:spcBef>
              <a:spcAft>
                <a:spcPts val="0"/>
              </a:spcAft>
              <a:buSzPts val="8000"/>
              <a:buChar char="○"/>
              <a:defRPr sz="8000"/>
            </a:lvl8pPr>
            <a:lvl9pPr indent="-736600" lvl="8" marL="4114800">
              <a:spcBef>
                <a:spcPts val="0"/>
              </a:spcBef>
              <a:spcAft>
                <a:spcPts val="0"/>
              </a:spcAft>
              <a:buSzPts val="8000"/>
              <a:buChar char="■"/>
              <a:defRPr sz="80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61001696" y="29844588"/>
            <a:ext cx="3950400" cy="2519100"/>
          </a:xfrm>
          <a:prstGeom prst="rect">
            <a:avLst/>
          </a:prstGeom>
        </p:spPr>
        <p:txBody>
          <a:bodyPr anchorCtr="0" anchor="ctr" bIns="609500" lIns="609500" spcFirstLastPara="1" rIns="609500" wrap="square" tIns="609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529800" y="2880960"/>
            <a:ext cx="45848400" cy="26181300"/>
          </a:xfrm>
          <a:prstGeom prst="rect">
            <a:avLst/>
          </a:prstGeom>
        </p:spPr>
        <p:txBody>
          <a:bodyPr anchorCtr="0" anchor="ctr" bIns="609500" lIns="609500" spcFirstLastPara="1" rIns="609500" wrap="square" tIns="6095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1pPr>
            <a:lvl2pPr lvl="1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2pPr>
            <a:lvl3pPr lvl="2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3pPr>
            <a:lvl4pPr lvl="3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4pPr>
            <a:lvl5pPr lvl="4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5pPr>
            <a:lvl6pPr lvl="5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6pPr>
            <a:lvl7pPr lvl="6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7pPr>
            <a:lvl8pPr lvl="7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8pPr>
            <a:lvl9pPr lvl="8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61001696" y="29844588"/>
            <a:ext cx="3950400" cy="2519100"/>
          </a:xfrm>
          <a:prstGeom prst="rect">
            <a:avLst/>
          </a:prstGeom>
        </p:spPr>
        <p:txBody>
          <a:bodyPr anchorCtr="0" anchor="ctr" bIns="609500" lIns="609500" spcFirstLastPara="1" rIns="609500" wrap="square" tIns="609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2918400" y="-800"/>
            <a:ext cx="329184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09500" lIns="609500" spcFirstLastPara="1" rIns="609500" wrap="square" tIns="60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911600" y="7892320"/>
            <a:ext cx="29125200" cy="9486600"/>
          </a:xfrm>
          <a:prstGeom prst="rect">
            <a:avLst/>
          </a:prstGeom>
        </p:spPr>
        <p:txBody>
          <a:bodyPr anchorCtr="0" anchor="b" bIns="609500" lIns="609500" spcFirstLastPara="1" rIns="609500" wrap="square" tIns="6095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0"/>
              <a:buNone/>
              <a:defRPr sz="2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0"/>
              <a:buNone/>
              <a:defRPr sz="2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0"/>
              <a:buNone/>
              <a:defRPr sz="2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0"/>
              <a:buNone/>
              <a:defRPr sz="2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0"/>
              <a:buNone/>
              <a:defRPr sz="2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0"/>
              <a:buNone/>
              <a:defRPr sz="2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0"/>
              <a:buNone/>
              <a:defRPr sz="2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0"/>
              <a:buNone/>
              <a:defRPr sz="2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0"/>
              <a:buNone/>
              <a:defRPr sz="280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911600" y="17939680"/>
            <a:ext cx="29125200" cy="7904700"/>
          </a:xfrm>
          <a:prstGeom prst="rect">
            <a:avLst/>
          </a:prstGeom>
        </p:spPr>
        <p:txBody>
          <a:bodyPr anchorCtr="0" anchor="t" bIns="609500" lIns="609500" spcFirstLastPara="1" rIns="609500" wrap="square" tIns="6095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5564400" y="4634080"/>
            <a:ext cx="27626400" cy="23648700"/>
          </a:xfrm>
          <a:prstGeom prst="rect">
            <a:avLst/>
          </a:prstGeom>
        </p:spPr>
        <p:txBody>
          <a:bodyPr anchorCtr="0" anchor="ctr" bIns="609500" lIns="609500" spcFirstLastPara="1" rIns="609500" wrap="square" tIns="609500">
            <a:normAutofit/>
          </a:bodyPr>
          <a:lstStyle>
            <a:lvl1pPr indent="-990600" lvl="0" marL="457200">
              <a:spcBef>
                <a:spcPts val="0"/>
              </a:spcBef>
              <a:spcAft>
                <a:spcPts val="0"/>
              </a:spcAft>
              <a:buSzPts val="12000"/>
              <a:buChar char="●"/>
              <a:defRPr/>
            </a:lvl1pPr>
            <a:lvl2pPr indent="-819150" lvl="1" marL="914400">
              <a:spcBef>
                <a:spcPts val="0"/>
              </a:spcBef>
              <a:spcAft>
                <a:spcPts val="0"/>
              </a:spcAft>
              <a:buSzPts val="9300"/>
              <a:buChar char="○"/>
              <a:defRPr/>
            </a:lvl2pPr>
            <a:lvl3pPr indent="-819150" lvl="2" marL="1371600">
              <a:spcBef>
                <a:spcPts val="0"/>
              </a:spcBef>
              <a:spcAft>
                <a:spcPts val="0"/>
              </a:spcAft>
              <a:buSzPts val="9300"/>
              <a:buChar char="■"/>
              <a:defRPr/>
            </a:lvl3pPr>
            <a:lvl4pPr indent="-819150" lvl="3" marL="1828800">
              <a:spcBef>
                <a:spcPts val="0"/>
              </a:spcBef>
              <a:spcAft>
                <a:spcPts val="0"/>
              </a:spcAft>
              <a:buSzPts val="9300"/>
              <a:buChar char="●"/>
              <a:defRPr/>
            </a:lvl4pPr>
            <a:lvl5pPr indent="-819150" lvl="4" marL="2286000">
              <a:spcBef>
                <a:spcPts val="0"/>
              </a:spcBef>
              <a:spcAft>
                <a:spcPts val="0"/>
              </a:spcAft>
              <a:buSzPts val="9300"/>
              <a:buChar char="○"/>
              <a:defRPr/>
            </a:lvl5pPr>
            <a:lvl6pPr indent="-819150" lvl="5" marL="2743200">
              <a:spcBef>
                <a:spcPts val="0"/>
              </a:spcBef>
              <a:spcAft>
                <a:spcPts val="0"/>
              </a:spcAft>
              <a:buSzPts val="9300"/>
              <a:buChar char="■"/>
              <a:defRPr/>
            </a:lvl6pPr>
            <a:lvl7pPr indent="-819150" lvl="6" marL="3200400">
              <a:spcBef>
                <a:spcPts val="0"/>
              </a:spcBef>
              <a:spcAft>
                <a:spcPts val="0"/>
              </a:spcAft>
              <a:buSzPts val="9300"/>
              <a:buChar char="●"/>
              <a:defRPr/>
            </a:lvl7pPr>
            <a:lvl8pPr indent="-819150" lvl="7" marL="3657600">
              <a:spcBef>
                <a:spcPts val="0"/>
              </a:spcBef>
              <a:spcAft>
                <a:spcPts val="0"/>
              </a:spcAft>
              <a:buSzPts val="9300"/>
              <a:buChar char="○"/>
              <a:defRPr/>
            </a:lvl8pPr>
            <a:lvl9pPr indent="-819150" lvl="8" marL="4114800">
              <a:spcBef>
                <a:spcPts val="0"/>
              </a:spcBef>
              <a:spcAft>
                <a:spcPts val="0"/>
              </a:spcAft>
              <a:buSzPts val="93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1001696" y="29844588"/>
            <a:ext cx="3950400" cy="2519100"/>
          </a:xfrm>
          <a:prstGeom prst="rect">
            <a:avLst/>
          </a:prstGeom>
        </p:spPr>
        <p:txBody>
          <a:bodyPr anchorCtr="0" anchor="ctr" bIns="609500" lIns="609500" spcFirstLastPara="1" rIns="609500" wrap="square" tIns="609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244240" y="27075680"/>
            <a:ext cx="43191600" cy="3872700"/>
          </a:xfrm>
          <a:prstGeom prst="rect">
            <a:avLst/>
          </a:prstGeom>
        </p:spPr>
        <p:txBody>
          <a:bodyPr anchorCtr="0" anchor="ctr" bIns="609500" lIns="609500" spcFirstLastPara="1" rIns="609500" wrap="square" tIns="6095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61001696" y="29844588"/>
            <a:ext cx="3950400" cy="2519100"/>
          </a:xfrm>
          <a:prstGeom prst="rect">
            <a:avLst/>
          </a:prstGeom>
        </p:spPr>
        <p:txBody>
          <a:bodyPr anchorCtr="0" anchor="ctr" bIns="609500" lIns="609500" spcFirstLastPara="1" rIns="609500" wrap="square" tIns="609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244240" y="7079200"/>
            <a:ext cx="61348200" cy="12566400"/>
          </a:xfrm>
          <a:prstGeom prst="rect">
            <a:avLst/>
          </a:prstGeom>
        </p:spPr>
        <p:txBody>
          <a:bodyPr anchorCtr="0" anchor="b" bIns="609500" lIns="609500" spcFirstLastPara="1" rIns="609500" wrap="square" tIns="6095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0"/>
              <a:buNone/>
              <a:defRPr sz="8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0"/>
              <a:buNone/>
              <a:defRPr sz="8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0"/>
              <a:buNone/>
              <a:defRPr sz="8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0"/>
              <a:buNone/>
              <a:defRPr sz="8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0"/>
              <a:buNone/>
              <a:defRPr sz="8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0"/>
              <a:buNone/>
              <a:defRPr sz="8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0"/>
              <a:buNone/>
              <a:defRPr sz="8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0"/>
              <a:buNone/>
              <a:defRPr sz="8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0"/>
              <a:buNone/>
              <a:defRPr sz="80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244240" y="20174240"/>
            <a:ext cx="61348200" cy="8325000"/>
          </a:xfrm>
          <a:prstGeom prst="rect">
            <a:avLst/>
          </a:prstGeom>
        </p:spPr>
        <p:txBody>
          <a:bodyPr anchorCtr="0" anchor="t" bIns="609500" lIns="609500" spcFirstLastPara="1" rIns="609500" wrap="square" tIns="609500">
            <a:normAutofit/>
          </a:bodyPr>
          <a:lstStyle>
            <a:lvl1pPr indent="-990600" lvl="0" marL="45720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/>
            </a:lvl1pPr>
            <a:lvl2pPr indent="-819150" lvl="1" marL="914400" algn="ctr">
              <a:spcBef>
                <a:spcPts val="0"/>
              </a:spcBef>
              <a:spcAft>
                <a:spcPts val="0"/>
              </a:spcAft>
              <a:buSzPts val="9300"/>
              <a:buChar char="○"/>
              <a:defRPr/>
            </a:lvl2pPr>
            <a:lvl3pPr indent="-819150" lvl="2" marL="1371600" algn="ctr">
              <a:spcBef>
                <a:spcPts val="0"/>
              </a:spcBef>
              <a:spcAft>
                <a:spcPts val="0"/>
              </a:spcAft>
              <a:buSzPts val="9300"/>
              <a:buChar char="■"/>
              <a:defRPr/>
            </a:lvl3pPr>
            <a:lvl4pPr indent="-819150" lvl="3" marL="1828800" algn="ctr">
              <a:spcBef>
                <a:spcPts val="0"/>
              </a:spcBef>
              <a:spcAft>
                <a:spcPts val="0"/>
              </a:spcAft>
              <a:buSzPts val="9300"/>
              <a:buChar char="●"/>
              <a:defRPr/>
            </a:lvl4pPr>
            <a:lvl5pPr indent="-819150" lvl="4" marL="2286000" algn="ctr">
              <a:spcBef>
                <a:spcPts val="0"/>
              </a:spcBef>
              <a:spcAft>
                <a:spcPts val="0"/>
              </a:spcAft>
              <a:buSzPts val="9300"/>
              <a:buChar char="○"/>
              <a:defRPr/>
            </a:lvl5pPr>
            <a:lvl6pPr indent="-819150" lvl="5" marL="2743200" algn="ctr">
              <a:spcBef>
                <a:spcPts val="0"/>
              </a:spcBef>
              <a:spcAft>
                <a:spcPts val="0"/>
              </a:spcAft>
              <a:buSzPts val="9300"/>
              <a:buChar char="■"/>
              <a:defRPr/>
            </a:lvl6pPr>
            <a:lvl7pPr indent="-819150" lvl="6" marL="3200400" algn="ctr">
              <a:spcBef>
                <a:spcPts val="0"/>
              </a:spcBef>
              <a:spcAft>
                <a:spcPts val="0"/>
              </a:spcAft>
              <a:buSzPts val="9300"/>
              <a:buChar char="●"/>
              <a:defRPr/>
            </a:lvl7pPr>
            <a:lvl8pPr indent="-819150" lvl="7" marL="3657600" algn="ctr">
              <a:spcBef>
                <a:spcPts val="0"/>
              </a:spcBef>
              <a:spcAft>
                <a:spcPts val="0"/>
              </a:spcAft>
              <a:buSzPts val="9300"/>
              <a:buChar char="○"/>
              <a:defRPr/>
            </a:lvl8pPr>
            <a:lvl9pPr indent="-819150" lvl="8" marL="4114800" algn="ctr">
              <a:spcBef>
                <a:spcPts val="0"/>
              </a:spcBef>
              <a:spcAft>
                <a:spcPts val="0"/>
              </a:spcAft>
              <a:buSzPts val="93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61001696" y="29844588"/>
            <a:ext cx="3950400" cy="2519100"/>
          </a:xfrm>
          <a:prstGeom prst="rect">
            <a:avLst/>
          </a:prstGeom>
        </p:spPr>
        <p:txBody>
          <a:bodyPr anchorCtr="0" anchor="ctr" bIns="609500" lIns="609500" spcFirstLastPara="1" rIns="609500" wrap="square" tIns="609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1001696" y="29844588"/>
            <a:ext cx="3950400" cy="2519100"/>
          </a:xfrm>
          <a:prstGeom prst="rect">
            <a:avLst/>
          </a:prstGeom>
        </p:spPr>
        <p:txBody>
          <a:bodyPr anchorCtr="0" anchor="ctr" bIns="609500" lIns="609500" spcFirstLastPara="1" rIns="609500" wrap="square" tIns="6095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44240" y="2848160"/>
            <a:ext cx="61348200" cy="3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0" lIns="609500" spcFirstLastPara="1" rIns="609500" wrap="square" tIns="6095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00"/>
              <a:buNone/>
              <a:defRPr sz="18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00"/>
              <a:buNone/>
              <a:defRPr sz="18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00"/>
              <a:buNone/>
              <a:defRPr sz="18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00"/>
              <a:buNone/>
              <a:defRPr sz="18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00"/>
              <a:buNone/>
              <a:defRPr sz="18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00"/>
              <a:buNone/>
              <a:defRPr sz="18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00"/>
              <a:buNone/>
              <a:defRPr sz="18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00"/>
              <a:buNone/>
              <a:defRPr sz="18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00"/>
              <a:buNone/>
              <a:defRPr sz="18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44240" y="7375840"/>
            <a:ext cx="61348200" cy="21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0" lIns="609500" spcFirstLastPara="1" rIns="609500" wrap="square" tIns="609500">
            <a:normAutofit/>
          </a:bodyPr>
          <a:lstStyle>
            <a:lvl1pPr indent="-990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Char char="●"/>
              <a:defRPr sz="12000">
                <a:solidFill>
                  <a:schemeClr val="dk2"/>
                </a:solidFill>
              </a:defRPr>
            </a:lvl1pPr>
            <a:lvl2pPr indent="-8191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300"/>
              <a:buChar char="○"/>
              <a:defRPr sz="9300">
                <a:solidFill>
                  <a:schemeClr val="dk2"/>
                </a:solidFill>
              </a:defRPr>
            </a:lvl2pPr>
            <a:lvl3pPr indent="-8191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300"/>
              <a:buChar char="■"/>
              <a:defRPr sz="9300">
                <a:solidFill>
                  <a:schemeClr val="dk2"/>
                </a:solidFill>
              </a:defRPr>
            </a:lvl3pPr>
            <a:lvl4pPr indent="-8191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300"/>
              <a:buChar char="●"/>
              <a:defRPr sz="9300">
                <a:solidFill>
                  <a:schemeClr val="dk2"/>
                </a:solidFill>
              </a:defRPr>
            </a:lvl4pPr>
            <a:lvl5pPr indent="-8191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300"/>
              <a:buChar char="○"/>
              <a:defRPr sz="9300">
                <a:solidFill>
                  <a:schemeClr val="dk2"/>
                </a:solidFill>
              </a:defRPr>
            </a:lvl5pPr>
            <a:lvl6pPr indent="-8191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300"/>
              <a:buChar char="■"/>
              <a:defRPr sz="9300">
                <a:solidFill>
                  <a:schemeClr val="dk2"/>
                </a:solidFill>
              </a:defRPr>
            </a:lvl6pPr>
            <a:lvl7pPr indent="-8191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300"/>
              <a:buChar char="●"/>
              <a:defRPr sz="9300">
                <a:solidFill>
                  <a:schemeClr val="dk2"/>
                </a:solidFill>
              </a:defRPr>
            </a:lvl7pPr>
            <a:lvl8pPr indent="-8191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300"/>
              <a:buChar char="○"/>
              <a:defRPr sz="9300">
                <a:solidFill>
                  <a:schemeClr val="dk2"/>
                </a:solidFill>
              </a:defRPr>
            </a:lvl8pPr>
            <a:lvl9pPr indent="-8191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300"/>
              <a:buChar char="■"/>
              <a:defRPr sz="93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1001696" y="29844588"/>
            <a:ext cx="3950400" cy="25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0" lIns="609500" spcFirstLastPara="1" rIns="609500" wrap="square" tIns="609500">
            <a:normAutofit/>
          </a:bodyPr>
          <a:lstStyle>
            <a:lvl1pPr lvl="0" algn="r">
              <a:buNone/>
              <a:defRPr sz="6700">
                <a:solidFill>
                  <a:schemeClr val="dk2"/>
                </a:solidFill>
              </a:defRPr>
            </a:lvl1pPr>
            <a:lvl2pPr lvl="1" algn="r">
              <a:buNone/>
              <a:defRPr sz="6700">
                <a:solidFill>
                  <a:schemeClr val="dk2"/>
                </a:solidFill>
              </a:defRPr>
            </a:lvl2pPr>
            <a:lvl3pPr lvl="2" algn="r">
              <a:buNone/>
              <a:defRPr sz="6700">
                <a:solidFill>
                  <a:schemeClr val="dk2"/>
                </a:solidFill>
              </a:defRPr>
            </a:lvl3pPr>
            <a:lvl4pPr lvl="3" algn="r">
              <a:buNone/>
              <a:defRPr sz="6700">
                <a:solidFill>
                  <a:schemeClr val="dk2"/>
                </a:solidFill>
              </a:defRPr>
            </a:lvl4pPr>
            <a:lvl5pPr lvl="4" algn="r">
              <a:buNone/>
              <a:defRPr sz="6700">
                <a:solidFill>
                  <a:schemeClr val="dk2"/>
                </a:solidFill>
              </a:defRPr>
            </a:lvl5pPr>
            <a:lvl6pPr lvl="5" algn="r">
              <a:buNone/>
              <a:defRPr sz="6700">
                <a:solidFill>
                  <a:schemeClr val="dk2"/>
                </a:solidFill>
              </a:defRPr>
            </a:lvl6pPr>
            <a:lvl7pPr lvl="6" algn="r">
              <a:buNone/>
              <a:defRPr sz="6700">
                <a:solidFill>
                  <a:schemeClr val="dk2"/>
                </a:solidFill>
              </a:defRPr>
            </a:lvl7pPr>
            <a:lvl8pPr lvl="7" algn="r">
              <a:buNone/>
              <a:defRPr sz="6700">
                <a:solidFill>
                  <a:schemeClr val="dk2"/>
                </a:solidFill>
              </a:defRPr>
            </a:lvl8pPr>
            <a:lvl9pPr lvl="8" algn="r">
              <a:buNone/>
              <a:defRPr sz="67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4.png"/><Relationship Id="rId11" Type="http://schemas.openxmlformats.org/officeDocument/2006/relationships/image" Target="../media/image14.png"/><Relationship Id="rId10" Type="http://schemas.openxmlformats.org/officeDocument/2006/relationships/image" Target="../media/image11.png"/><Relationship Id="rId13" Type="http://schemas.openxmlformats.org/officeDocument/2006/relationships/image" Target="../media/image5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Relationship Id="rId15" Type="http://schemas.openxmlformats.org/officeDocument/2006/relationships/image" Target="../media/image16.png"/><Relationship Id="rId14" Type="http://schemas.openxmlformats.org/officeDocument/2006/relationships/image" Target="../media/image9.png"/><Relationship Id="rId17" Type="http://schemas.openxmlformats.org/officeDocument/2006/relationships/image" Target="../media/image10.png"/><Relationship Id="rId16" Type="http://schemas.openxmlformats.org/officeDocument/2006/relationships/image" Target="../media/image18.png"/><Relationship Id="rId5" Type="http://schemas.openxmlformats.org/officeDocument/2006/relationships/image" Target="../media/image3.png"/><Relationship Id="rId19" Type="http://schemas.openxmlformats.org/officeDocument/2006/relationships/image" Target="../media/image7.png"/><Relationship Id="rId6" Type="http://schemas.openxmlformats.org/officeDocument/2006/relationships/image" Target="../media/image8.png"/><Relationship Id="rId18" Type="http://schemas.openxmlformats.org/officeDocument/2006/relationships/image" Target="../media/image13.png"/><Relationship Id="rId7" Type="http://schemas.openxmlformats.org/officeDocument/2006/relationships/image" Target="../media/image1.png"/><Relationship Id="rId8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20.png"/><Relationship Id="rId11" Type="http://schemas.openxmlformats.org/officeDocument/2006/relationships/image" Target="../media/image11.png"/><Relationship Id="rId22" Type="http://schemas.openxmlformats.org/officeDocument/2006/relationships/image" Target="../media/image25.png"/><Relationship Id="rId10" Type="http://schemas.openxmlformats.org/officeDocument/2006/relationships/image" Target="../media/image15.png"/><Relationship Id="rId21" Type="http://schemas.openxmlformats.org/officeDocument/2006/relationships/image" Target="../media/image19.png"/><Relationship Id="rId13" Type="http://schemas.openxmlformats.org/officeDocument/2006/relationships/image" Target="../media/image12.png"/><Relationship Id="rId24" Type="http://schemas.openxmlformats.org/officeDocument/2006/relationships/image" Target="../media/image24.png"/><Relationship Id="rId12" Type="http://schemas.openxmlformats.org/officeDocument/2006/relationships/image" Target="../media/image14.png"/><Relationship Id="rId23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image" Target="../media/image5.png"/><Relationship Id="rId17" Type="http://schemas.openxmlformats.org/officeDocument/2006/relationships/image" Target="../media/image13.png"/><Relationship Id="rId16" Type="http://schemas.openxmlformats.org/officeDocument/2006/relationships/image" Target="../media/image10.png"/><Relationship Id="rId5" Type="http://schemas.openxmlformats.org/officeDocument/2006/relationships/image" Target="../media/image2.png"/><Relationship Id="rId19" Type="http://schemas.openxmlformats.org/officeDocument/2006/relationships/image" Target="../media/image23.png"/><Relationship Id="rId6" Type="http://schemas.openxmlformats.org/officeDocument/2006/relationships/image" Target="../media/image3.png"/><Relationship Id="rId18" Type="http://schemas.openxmlformats.org/officeDocument/2006/relationships/image" Target="../media/image22.png"/><Relationship Id="rId7" Type="http://schemas.openxmlformats.org/officeDocument/2006/relationships/image" Target="../media/image8.png"/><Relationship Id="rId8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17975" y="13432100"/>
            <a:ext cx="16611600" cy="6667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0" y="5984750"/>
            <a:ext cx="65836800" cy="4815600"/>
          </a:xfrm>
          <a:prstGeom prst="rect">
            <a:avLst/>
          </a:prstGeom>
          <a:solidFill>
            <a:srgbClr val="4A8F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F9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886900" y="2806000"/>
            <a:ext cx="658368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Cross-Entropy Is All You Need To Invert the Data Generating Process</a:t>
            </a:r>
            <a:br>
              <a:rPr b="1" lang="en-GB" sz="12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GB" sz="68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Patrik Reizinger*, </a:t>
            </a:r>
            <a:r>
              <a:rPr lang="en-GB" sz="68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Alice Bizeul*, </a:t>
            </a:r>
            <a:r>
              <a:rPr lang="en-GB" sz="68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Attila Juhos*</a:t>
            </a:r>
            <a:r>
              <a:rPr lang="en-GB" sz="68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, </a:t>
            </a:r>
            <a:r>
              <a:rPr lang="en-GB" sz="68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Julia E. Vogt</a:t>
            </a:r>
            <a:r>
              <a:rPr lang="en-GB" sz="68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, Randall Balestriero, Wieland Brendel, </a:t>
            </a:r>
            <a:r>
              <a:rPr lang="en-GB" sz="68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David Klindt</a:t>
            </a:r>
            <a:endParaRPr baseline="30000" sz="6800">
              <a:solidFill>
                <a:schemeClr val="dk2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99596" y="1254649"/>
            <a:ext cx="6221701" cy="1477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52046" y="1629082"/>
            <a:ext cx="4995738" cy="1185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486609" y="930433"/>
            <a:ext cx="8489252" cy="2125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792058" y="1196188"/>
            <a:ext cx="4995750" cy="159443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47960176" y="19833500"/>
            <a:ext cx="17200500" cy="1688100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Supervised Experiments</a:t>
            </a:r>
            <a:endParaRPr b="1" sz="7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83000" y="19833488"/>
            <a:ext cx="46254900" cy="1688100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Self-Supervised Experiments</a:t>
            </a:r>
            <a:endParaRPr b="1" sz="6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05907" y="1039521"/>
            <a:ext cx="7268327" cy="198770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/>
        </p:nvSpPr>
        <p:spPr>
          <a:xfrm>
            <a:off x="375675" y="11207275"/>
            <a:ext cx="16741800" cy="1688100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identifiability?</a:t>
            </a:r>
            <a:endParaRPr b="1" sz="7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375675" y="16656600"/>
            <a:ext cx="16454100" cy="2655300"/>
          </a:xfrm>
          <a:prstGeom prst="rect">
            <a:avLst/>
          </a:prstGeom>
          <a:solidFill>
            <a:srgbClr val="D201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Identifiability = Data + Model constraints</a:t>
            </a:r>
            <a:endParaRPr sz="65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47960175" y="11207275"/>
            <a:ext cx="17200500" cy="1688100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Similar (Platonic) representations</a:t>
            </a:r>
            <a:endParaRPr b="1" sz="7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7" name="Google Shape;67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203025" y="1127525"/>
            <a:ext cx="2655300" cy="265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 title="2560px-ETH_Zürich_Logo_black.svg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8523633" y="1331606"/>
            <a:ext cx="7926077" cy="132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105925" y="1039554"/>
            <a:ext cx="3394499" cy="1907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5302760" y="1179655"/>
            <a:ext cx="3394500" cy="16275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3"/>
          <p:cNvSpPr txBox="1"/>
          <p:nvPr/>
        </p:nvSpPr>
        <p:spPr>
          <a:xfrm rot="2700000">
            <a:off x="59840386" y="1009403"/>
            <a:ext cx="8850997" cy="1477712"/>
          </a:xfrm>
          <a:prstGeom prst="rect">
            <a:avLst/>
          </a:prstGeom>
          <a:solidFill>
            <a:srgbClr val="D201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r a l</a:t>
            </a:r>
            <a:endParaRPr b="1" sz="9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860125" y="13015461"/>
            <a:ext cx="11772900" cy="345507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3"/>
          <p:cNvSpPr txBox="1"/>
          <p:nvPr/>
        </p:nvSpPr>
        <p:spPr>
          <a:xfrm>
            <a:off x="17313775" y="16656450"/>
            <a:ext cx="29605500" cy="2655300"/>
          </a:xfrm>
          <a:prstGeom prst="rect">
            <a:avLst/>
          </a:prstGeom>
          <a:solidFill>
            <a:srgbClr val="D201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 the optimum of the cross entropy loss, we identify both the latent vectors and the cluster vectors up to a linear (affine) transformations</a:t>
            </a:r>
            <a:endParaRPr sz="7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375675" y="5984750"/>
            <a:ext cx="65461200" cy="48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1019388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Solving an arbitrary classification tasks is sufficient to linearly identify the ground-truth representations both in supervised and self-supervised learning.</a:t>
            </a:r>
            <a:endParaRPr b="1" sz="13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5" name="Google Shape;75;p1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5410150" y="14107238"/>
            <a:ext cx="11772900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28100" y="21533701"/>
            <a:ext cx="7926075" cy="11577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3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9102975" y="22112550"/>
            <a:ext cx="18771843" cy="1011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3"/>
          <p:cNvPicPr preferRelativeResize="0"/>
          <p:nvPr/>
        </p:nvPicPr>
        <p:blipFill rotWithShape="1">
          <a:blip r:embed="rId17">
            <a:alphaModFix/>
          </a:blip>
          <a:srcRect b="0" l="0" r="59959" t="0"/>
          <a:stretch/>
        </p:blipFill>
        <p:spPr>
          <a:xfrm>
            <a:off x="28523625" y="22524963"/>
            <a:ext cx="8227453" cy="9437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3"/>
          <p:cNvPicPr preferRelativeResize="0"/>
          <p:nvPr/>
        </p:nvPicPr>
        <p:blipFill rotWithShape="1">
          <a:blip r:embed="rId17">
            <a:alphaModFix/>
          </a:blip>
          <a:srcRect b="0" l="49385" r="0" t="0"/>
          <a:stretch/>
        </p:blipFill>
        <p:spPr>
          <a:xfrm>
            <a:off x="36953461" y="22789803"/>
            <a:ext cx="10400313" cy="9437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3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7937196" y="22956700"/>
            <a:ext cx="17200499" cy="6642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3"/>
          <p:cNvPicPr preferRelativeResize="0"/>
          <p:nvPr/>
        </p:nvPicPr>
        <p:blipFill rotWithShape="1">
          <a:blip r:embed="rId19">
            <a:alphaModFix/>
          </a:blip>
          <a:srcRect b="36427" l="0" r="0" t="0"/>
          <a:stretch/>
        </p:blipFill>
        <p:spPr>
          <a:xfrm>
            <a:off x="23177400" y="12063150"/>
            <a:ext cx="23450071" cy="190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3"/>
          <p:cNvPicPr preferRelativeResize="0"/>
          <p:nvPr/>
        </p:nvPicPr>
        <p:blipFill rotWithShape="1">
          <a:blip r:embed="rId20">
            <a:alphaModFix/>
          </a:blip>
          <a:srcRect b="38491" l="0" r="76812" t="0"/>
          <a:stretch/>
        </p:blipFill>
        <p:spPr>
          <a:xfrm>
            <a:off x="17313771" y="10750075"/>
            <a:ext cx="3844531" cy="481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3"/>
          <p:cNvPicPr preferRelativeResize="0"/>
          <p:nvPr/>
        </p:nvPicPr>
        <p:blipFill rotWithShape="1">
          <a:blip r:embed="rId19">
            <a:alphaModFix/>
          </a:blip>
          <a:srcRect b="50763" l="27412" r="61264" t="0"/>
          <a:stretch/>
        </p:blipFill>
        <p:spPr>
          <a:xfrm>
            <a:off x="20708550" y="11973450"/>
            <a:ext cx="2655299" cy="147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4"/>
          <p:cNvPicPr preferRelativeResize="0"/>
          <p:nvPr/>
        </p:nvPicPr>
        <p:blipFill rotWithShape="1">
          <a:blip r:embed="rId3">
            <a:alphaModFix/>
          </a:blip>
          <a:srcRect b="0" l="0" r="0" t="16562"/>
          <a:stretch/>
        </p:blipFill>
        <p:spPr>
          <a:xfrm>
            <a:off x="27530425" y="17406524"/>
            <a:ext cx="12747950" cy="21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54625" y="13030675"/>
            <a:ext cx="16611600" cy="6667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/>
          <p:nvPr/>
        </p:nvSpPr>
        <p:spPr>
          <a:xfrm>
            <a:off x="0" y="5984750"/>
            <a:ext cx="65836800" cy="4815600"/>
          </a:xfrm>
          <a:prstGeom prst="rect">
            <a:avLst/>
          </a:prstGeom>
          <a:solidFill>
            <a:srgbClr val="4A8F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F9000"/>
              </a:solidFill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886900" y="2348800"/>
            <a:ext cx="412179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Cross-Entropy Is All You Need To Invert the Data Generating Process</a:t>
            </a:r>
            <a:br>
              <a:rPr b="1" lang="en-GB" sz="12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GB" sz="68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Patrik Reizinger*, Alice Bizeul*, Attila Juhos*, Julia E. Vogt, Randall Balestriero, Wieland Brendel, David Klindt</a:t>
            </a:r>
            <a:endParaRPr baseline="30000" sz="6800">
              <a:solidFill>
                <a:schemeClr val="dk2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92" name="Google Shape;9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356596" y="949849"/>
            <a:ext cx="6221701" cy="1477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109046" y="1324282"/>
            <a:ext cx="4995738" cy="1185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343609" y="625633"/>
            <a:ext cx="8489252" cy="2125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649058" y="891388"/>
            <a:ext cx="4995750" cy="159443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47960225" y="19833500"/>
            <a:ext cx="17876700" cy="1688100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Supervised Experiments</a:t>
            </a:r>
            <a:endParaRPr b="1" sz="7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-83025" y="19833500"/>
            <a:ext cx="47594400" cy="1688100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Self-Supervised Experiments</a:t>
            </a:r>
            <a:endParaRPr b="1" sz="6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8" name="Google Shape;98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62907" y="734721"/>
            <a:ext cx="7268327" cy="198770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367125" y="12709075"/>
            <a:ext cx="16454100" cy="190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Identifiability = Data + Model constraints</a:t>
            </a:r>
            <a:endParaRPr sz="6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-83025" y="11144950"/>
            <a:ext cx="17200500" cy="1688100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identifiability?</a:t>
            </a:r>
            <a:endParaRPr b="1" sz="7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47960175" y="11144950"/>
            <a:ext cx="17876700" cy="1688100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Similar (Platonic) representations</a:t>
            </a:r>
            <a:endParaRPr b="1" sz="7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2" name="Google Shape;102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8757725" y="1331600"/>
            <a:ext cx="3844525" cy="384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title="2560px-ETH_Zürich_Logo_black.svg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7380633" y="1026806"/>
            <a:ext cx="7926077" cy="132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962925" y="734754"/>
            <a:ext cx="3394499" cy="1907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4159760" y="874855"/>
            <a:ext cx="3394500" cy="1627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 rot="2700000">
            <a:off x="59840386" y="1009403"/>
            <a:ext cx="8850997" cy="1477712"/>
          </a:xfrm>
          <a:prstGeom prst="rect">
            <a:avLst/>
          </a:prstGeom>
          <a:solidFill>
            <a:srgbClr val="D201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r a l</a:t>
            </a:r>
            <a:endParaRPr b="1" sz="9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7" name="Google Shape;107;p14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934800" y="14963875"/>
            <a:ext cx="13623551" cy="399819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375675" y="5984750"/>
            <a:ext cx="65461200" cy="48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1019388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2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Solving an arbitrary classification tasks is sufficient to linearly identify the ground-truth representations both in supervised and self-supervised learning.</a:t>
            </a:r>
            <a:endParaRPr b="1" sz="132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9" name="Google Shape;109;p14"/>
          <p:cNvPicPr preferRelativeResize="0"/>
          <p:nvPr/>
        </p:nvPicPr>
        <p:blipFill rotWithShape="1">
          <a:blip r:embed="rId15">
            <a:alphaModFix/>
          </a:blip>
          <a:srcRect b="70680" l="0" r="0" t="24619"/>
          <a:stretch/>
        </p:blipFill>
        <p:spPr>
          <a:xfrm rot="-5400000">
            <a:off x="-3521400" y="23753050"/>
            <a:ext cx="7926075" cy="54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/>
          <p:cNvPicPr preferRelativeResize="0"/>
          <p:nvPr/>
        </p:nvPicPr>
        <p:blipFill rotWithShape="1">
          <a:blip r:embed="rId16">
            <a:alphaModFix/>
          </a:blip>
          <a:srcRect b="8020" l="49385" r="0" t="0"/>
          <a:stretch/>
        </p:blipFill>
        <p:spPr>
          <a:xfrm>
            <a:off x="35101625" y="22041850"/>
            <a:ext cx="12409750" cy="103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7960171" y="22112538"/>
            <a:ext cx="17200499" cy="664269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17498475" y="11144950"/>
            <a:ext cx="30012900" cy="1688100"/>
          </a:xfrm>
          <a:prstGeom prst="rect">
            <a:avLst/>
          </a:prstGeom>
          <a:solidFill>
            <a:srgbClr val="4A8F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What’s our data &amp; model?</a:t>
            </a:r>
            <a:endParaRPr b="1" sz="7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17554250" y="13104975"/>
            <a:ext cx="296055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 the optimum of the cross entropy loss, we identify both the latent vectors and the cluster vectors up to a linear (affine) transformations</a:t>
            </a:r>
            <a:endParaRPr sz="6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4" name="Google Shape;114;p14"/>
          <p:cNvPicPr preferRelativeResize="0"/>
          <p:nvPr/>
        </p:nvPicPr>
        <p:blipFill rotWithShape="1">
          <a:blip r:embed="rId15">
            <a:alphaModFix/>
          </a:blip>
          <a:srcRect b="37452" l="0" r="0" t="56364"/>
          <a:stretch/>
        </p:blipFill>
        <p:spPr>
          <a:xfrm rot="-5400000">
            <a:off x="-3435550" y="26753900"/>
            <a:ext cx="7926075" cy="715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48671475" y="29041375"/>
            <a:ext cx="16454100" cy="30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Although trained solely with class labels, learned representations capture all ImageNet-X latent factors.</a:t>
            </a:r>
            <a:endParaRPr sz="6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6" name="Google Shape;116;p14" title="Screenshot 2025-04-14 at 23.26.28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8296567" y="15214575"/>
            <a:ext cx="5721533" cy="44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3660100" y="16158000"/>
            <a:ext cx="2269200" cy="4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26051975" y="15919200"/>
            <a:ext cx="360045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9851300" y="16139775"/>
            <a:ext cx="2269200" cy="4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32184975" y="15935325"/>
            <a:ext cx="360045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5947300" y="16139775"/>
            <a:ext cx="2269200" cy="4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8261925" y="15935325"/>
            <a:ext cx="363855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4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42119500" y="16139775"/>
            <a:ext cx="2269200" cy="4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4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44298849" y="15797925"/>
            <a:ext cx="3013301" cy="132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4"/>
          <p:cNvPicPr preferRelativeResize="0"/>
          <p:nvPr/>
        </p:nvPicPr>
        <p:blipFill rotWithShape="1">
          <a:blip r:embed="rId24">
            <a:alphaModFix/>
          </a:blip>
          <a:srcRect b="0" l="0" r="66647" t="0"/>
          <a:stretch/>
        </p:blipFill>
        <p:spPr>
          <a:xfrm>
            <a:off x="10075500" y="21735600"/>
            <a:ext cx="7041975" cy="703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4"/>
          <p:cNvPicPr preferRelativeResize="0"/>
          <p:nvPr/>
        </p:nvPicPr>
        <p:blipFill rotWithShape="1">
          <a:blip r:embed="rId15">
            <a:alphaModFix/>
          </a:blip>
          <a:srcRect b="1347" l="0" r="0" t="92468"/>
          <a:stretch/>
        </p:blipFill>
        <p:spPr>
          <a:xfrm rot="-5400000">
            <a:off x="-3283150" y="30267225"/>
            <a:ext cx="7926075" cy="71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4"/>
          <p:cNvPicPr preferRelativeResize="0"/>
          <p:nvPr/>
        </p:nvPicPr>
        <p:blipFill rotWithShape="1">
          <a:blip r:embed="rId15">
            <a:alphaModFix/>
          </a:blip>
          <a:srcRect b="77203" l="0" r="0" t="0"/>
          <a:stretch/>
        </p:blipFill>
        <p:spPr>
          <a:xfrm>
            <a:off x="1393988" y="22433474"/>
            <a:ext cx="7926075" cy="2639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/>
          <p:cNvPicPr preferRelativeResize="0"/>
          <p:nvPr/>
        </p:nvPicPr>
        <p:blipFill rotWithShape="1">
          <a:blip r:embed="rId15">
            <a:alphaModFix/>
          </a:blip>
          <a:srcRect b="10613" l="0" r="2562" t="66589"/>
          <a:stretch/>
        </p:blipFill>
        <p:spPr>
          <a:xfrm>
            <a:off x="1495375" y="29491400"/>
            <a:ext cx="7723299" cy="2639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/>
          <p:cNvPicPr preferRelativeResize="0"/>
          <p:nvPr/>
        </p:nvPicPr>
        <p:blipFill rotWithShape="1">
          <a:blip r:embed="rId15">
            <a:alphaModFix/>
          </a:blip>
          <a:srcRect b="45663" l="0" r="0" t="31540"/>
          <a:stretch/>
        </p:blipFill>
        <p:spPr>
          <a:xfrm>
            <a:off x="1393988" y="25848137"/>
            <a:ext cx="7926075" cy="263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4"/>
          <p:cNvSpPr txBox="1"/>
          <p:nvPr/>
        </p:nvSpPr>
        <p:spPr>
          <a:xfrm>
            <a:off x="26257600" y="29105813"/>
            <a:ext cx="8489400" cy="30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100"/>
              <a:t>Our theory is robust to assumption violations, e.g., vMF → truncated Laplace</a:t>
            </a:r>
            <a:endParaRPr sz="5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1" name="Google Shape;131;p14"/>
          <p:cNvPicPr preferRelativeResize="0"/>
          <p:nvPr/>
        </p:nvPicPr>
        <p:blipFill rotWithShape="1">
          <a:blip r:embed="rId24">
            <a:alphaModFix/>
          </a:blip>
          <a:srcRect b="0" l="33248" r="31343" t="0"/>
          <a:stretch/>
        </p:blipFill>
        <p:spPr>
          <a:xfrm>
            <a:off x="18391575" y="21735600"/>
            <a:ext cx="7475901" cy="703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4"/>
          <p:cNvPicPr preferRelativeResize="0"/>
          <p:nvPr/>
        </p:nvPicPr>
        <p:blipFill rotWithShape="1">
          <a:blip r:embed="rId24">
            <a:alphaModFix/>
          </a:blip>
          <a:srcRect b="0" l="68230" r="0" t="0"/>
          <a:stretch/>
        </p:blipFill>
        <p:spPr>
          <a:xfrm>
            <a:off x="27072308" y="21735588"/>
            <a:ext cx="6707600" cy="703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4"/>
          <p:cNvSpPr txBox="1"/>
          <p:nvPr/>
        </p:nvSpPr>
        <p:spPr>
          <a:xfrm>
            <a:off x="26295700" y="28987438"/>
            <a:ext cx="8489400" cy="30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100"/>
              <a:t>Our theory is robust to assumption violations, e.g., vMF → truncated Laplace</a:t>
            </a:r>
            <a:endParaRPr sz="5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18503175" y="28870938"/>
            <a:ext cx="7476000" cy="212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300">
                <a:solidFill>
                  <a:schemeClr val="dk1"/>
                </a:solidFill>
              </a:rPr>
              <a:t>Higher-dimensional data</a:t>
            </a:r>
            <a:br>
              <a:rPr lang="en-GB" sz="4300">
                <a:solidFill>
                  <a:schemeClr val="dk1"/>
                </a:solidFill>
              </a:rPr>
            </a:br>
            <a:r>
              <a:rPr lang="en-GB" sz="4300">
                <a:solidFill>
                  <a:schemeClr val="dk1"/>
                </a:solidFill>
              </a:rPr>
              <a:t>need more clusters</a:t>
            </a:r>
            <a:endParaRPr sz="4300"/>
          </a:p>
        </p:txBody>
      </p:sp>
      <p:sp>
        <p:nvSpPr>
          <p:cNvPr id="135" name="Google Shape;135;p14"/>
          <p:cNvSpPr txBox="1"/>
          <p:nvPr/>
        </p:nvSpPr>
        <p:spPr>
          <a:xfrm>
            <a:off x="9619750" y="28870938"/>
            <a:ext cx="8292300" cy="212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300">
                <a:solidFill>
                  <a:schemeClr val="dk1"/>
                </a:solidFill>
              </a:rPr>
              <a:t>More concentrated clusters</a:t>
            </a:r>
            <a:br>
              <a:rPr lang="en-GB" sz="4300">
                <a:solidFill>
                  <a:schemeClr val="dk1"/>
                </a:solidFill>
              </a:rPr>
            </a:br>
            <a:r>
              <a:rPr lang="en-GB" sz="4300">
                <a:solidFill>
                  <a:schemeClr val="dk1"/>
                </a:solidFill>
              </a:rPr>
              <a:t> need larger batches</a:t>
            </a:r>
            <a:endParaRPr sz="4300">
              <a:solidFill>
                <a:schemeClr val="dk1"/>
              </a:solidFill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10629275" y="31094550"/>
            <a:ext cx="14880900" cy="118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100">
                <a:solidFill>
                  <a:schemeClr val="dk1"/>
                </a:solidFill>
              </a:rPr>
              <a:t>Intuition: the hypersphere needs to be covered well</a:t>
            </a:r>
            <a:endParaRPr sz="5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