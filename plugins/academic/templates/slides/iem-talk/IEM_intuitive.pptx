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ink/ink1.xml" ContentType="application/inkml+xml"/>
  <Override PartName="/ppt/notesSlides/notesSlide9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9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8"/>
  </p:notesMasterIdLst>
  <p:sldIdLst>
    <p:sldId id="256" r:id="rId2"/>
    <p:sldId id="382" r:id="rId3"/>
    <p:sldId id="473" r:id="rId4"/>
    <p:sldId id="472" r:id="rId5"/>
    <p:sldId id="471" r:id="rId6"/>
    <p:sldId id="470" r:id="rId7"/>
    <p:sldId id="528" r:id="rId8"/>
    <p:sldId id="451" r:id="rId9"/>
    <p:sldId id="531" r:id="rId10"/>
    <p:sldId id="543" r:id="rId11"/>
    <p:sldId id="542" r:id="rId12"/>
    <p:sldId id="541" r:id="rId13"/>
    <p:sldId id="540" r:id="rId14"/>
    <p:sldId id="539" r:id="rId15"/>
    <p:sldId id="387" r:id="rId16"/>
    <p:sldId id="493" r:id="rId17"/>
    <p:sldId id="492" r:id="rId18"/>
    <p:sldId id="491" r:id="rId19"/>
    <p:sldId id="490" r:id="rId20"/>
    <p:sldId id="530" r:id="rId21"/>
    <p:sldId id="538" r:id="rId22"/>
    <p:sldId id="467" r:id="rId23"/>
    <p:sldId id="372" r:id="rId24"/>
    <p:sldId id="398" r:id="rId25"/>
    <p:sldId id="447" r:id="rId26"/>
    <p:sldId id="446" r:id="rId27"/>
    <p:sldId id="393" r:id="rId28"/>
    <p:sldId id="536" r:id="rId29"/>
    <p:sldId id="394" r:id="rId30"/>
    <p:sldId id="395" r:id="rId31"/>
    <p:sldId id="396" r:id="rId32"/>
    <p:sldId id="535" r:id="rId33"/>
    <p:sldId id="397" r:id="rId34"/>
    <p:sldId id="402" r:id="rId35"/>
    <p:sldId id="360" r:id="rId36"/>
    <p:sldId id="404" r:id="rId37"/>
    <p:sldId id="403" r:id="rId38"/>
    <p:sldId id="429" r:id="rId39"/>
    <p:sldId id="363" r:id="rId40"/>
    <p:sldId id="405" r:id="rId41"/>
    <p:sldId id="406" r:id="rId42"/>
    <p:sldId id="407" r:id="rId43"/>
    <p:sldId id="408" r:id="rId44"/>
    <p:sldId id="484" r:id="rId45"/>
    <p:sldId id="409" r:id="rId46"/>
    <p:sldId id="366" r:id="rId47"/>
    <p:sldId id="415" r:id="rId48"/>
    <p:sldId id="416" r:id="rId49"/>
    <p:sldId id="417" r:id="rId50"/>
    <p:sldId id="368" r:id="rId51"/>
    <p:sldId id="419" r:id="rId52"/>
    <p:sldId id="371" r:id="rId53"/>
    <p:sldId id="537" r:id="rId54"/>
    <p:sldId id="455" r:id="rId55"/>
    <p:sldId id="359" r:id="rId56"/>
    <p:sldId id="497" r:id="rId57"/>
    <p:sldId id="496" r:id="rId58"/>
    <p:sldId id="495" r:id="rId59"/>
    <p:sldId id="494" r:id="rId60"/>
    <p:sldId id="436" r:id="rId61"/>
    <p:sldId id="439" r:id="rId62"/>
    <p:sldId id="440" r:id="rId63"/>
    <p:sldId id="437" r:id="rId64"/>
    <p:sldId id="438" r:id="rId65"/>
    <p:sldId id="373" r:id="rId66"/>
    <p:sldId id="410" r:id="rId67"/>
    <p:sldId id="411" r:id="rId68"/>
    <p:sldId id="412" r:id="rId69"/>
    <p:sldId id="374" r:id="rId70"/>
    <p:sldId id="413" r:id="rId71"/>
    <p:sldId id="425" r:id="rId72"/>
    <p:sldId id="426" r:id="rId73"/>
    <p:sldId id="414" r:id="rId74"/>
    <p:sldId id="365" r:id="rId75"/>
    <p:sldId id="375" r:id="rId76"/>
    <p:sldId id="418" r:id="rId77"/>
    <p:sldId id="376" r:id="rId78"/>
    <p:sldId id="377" r:id="rId79"/>
    <p:sldId id="420" r:id="rId80"/>
    <p:sldId id="369" r:id="rId81"/>
    <p:sldId id="379" r:id="rId82"/>
    <p:sldId id="421" r:id="rId83"/>
    <p:sldId id="422" r:id="rId84"/>
    <p:sldId id="477" r:id="rId85"/>
    <p:sldId id="483" r:id="rId86"/>
    <p:sldId id="482" r:id="rId87"/>
    <p:sldId id="481" r:id="rId88"/>
    <p:sldId id="480" r:id="rId89"/>
    <p:sldId id="479" r:id="rId90"/>
    <p:sldId id="478" r:id="rId91"/>
    <p:sldId id="475" r:id="rId92"/>
    <p:sldId id="474" r:id="rId93"/>
    <p:sldId id="388" r:id="rId94"/>
    <p:sldId id="424" r:id="rId95"/>
    <p:sldId id="389" r:id="rId96"/>
    <p:sldId id="466" r:id="rId97"/>
    <p:sldId id="512" r:id="rId98"/>
    <p:sldId id="515" r:id="rId99"/>
    <p:sldId id="514" r:id="rId100"/>
    <p:sldId id="513" r:id="rId101"/>
    <p:sldId id="516" r:id="rId102"/>
    <p:sldId id="432" r:id="rId103"/>
    <p:sldId id="519" r:id="rId104"/>
    <p:sldId id="460" r:id="rId105"/>
    <p:sldId id="518" r:id="rId106"/>
    <p:sldId id="517" r:id="rId107"/>
    <p:sldId id="461" r:id="rId108"/>
    <p:sldId id="525" r:id="rId109"/>
    <p:sldId id="524" r:id="rId110"/>
    <p:sldId id="523" r:id="rId111"/>
    <p:sldId id="522" r:id="rId112"/>
    <p:sldId id="521" r:id="rId113"/>
    <p:sldId id="520" r:id="rId114"/>
    <p:sldId id="449" r:id="rId115"/>
    <p:sldId id="450" r:id="rId116"/>
    <p:sldId id="526" r:id="rId117"/>
    <p:sldId id="463" r:id="rId118"/>
    <p:sldId id="468" r:id="rId119"/>
    <p:sldId id="453" r:id="rId120"/>
    <p:sldId id="498" r:id="rId121"/>
    <p:sldId id="464" r:id="rId122"/>
    <p:sldId id="502" r:id="rId123"/>
    <p:sldId id="501" r:id="rId124"/>
    <p:sldId id="500" r:id="rId125"/>
    <p:sldId id="499" r:id="rId126"/>
    <p:sldId id="465" r:id="rId127"/>
    <p:sldId id="509" r:id="rId128"/>
    <p:sldId id="508" r:id="rId129"/>
    <p:sldId id="507" r:id="rId130"/>
    <p:sldId id="506" r:id="rId131"/>
    <p:sldId id="505" r:id="rId132"/>
    <p:sldId id="504" r:id="rId133"/>
    <p:sldId id="503" r:id="rId134"/>
    <p:sldId id="457" r:id="rId135"/>
    <p:sldId id="511" r:id="rId136"/>
    <p:sldId id="510" r:id="rId13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011B"/>
    <a:srgbClr val="4A8FE3"/>
    <a:srgbClr val="E8FFFD"/>
    <a:srgbClr val="007C6B"/>
    <a:srgbClr val="BBE6E1"/>
    <a:srgbClr val="D6E6E4"/>
    <a:srgbClr val="C4E6E2"/>
    <a:srgbClr val="9D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83"/>
    <p:restoredTop sz="96296"/>
  </p:normalViewPr>
  <p:slideViewPr>
    <p:cSldViewPr snapToGrid="0">
      <p:cViewPr varScale="1">
        <p:scale>
          <a:sx n="109" d="100"/>
          <a:sy n="109" d="100"/>
        </p:scale>
        <p:origin x="984" y="184"/>
      </p:cViewPr>
      <p:guideLst/>
    </p:cSldViewPr>
  </p:slideViewPr>
  <p:outlineViewPr>
    <p:cViewPr>
      <p:scale>
        <a:sx n="100" d="100"/>
        <a:sy n="100" d="100"/>
      </p:scale>
      <p:origin x="0" y="-2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7T21:51:47.04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1061 1 24575,'-80'0'0,"-9"7"0,36 0 0,0 3 0,4 1 0,1 1 0,-32 16 0,29-6 0,23-7 0,15-5 0,8-3 0,-1-1 0,-1 0 0,-4 3 0,-15 8 0,-14 7 0,-10 8 0,-2 1 0,9-6 0,14-8 0,13-11 0,10-8 0,3-3 0,-3-1 0,0 2 0,-4 1 0,1 1 0,0 0 0,0 0 0,2 0 0,-1 0 0,1 0 0,-1 0 0,-3 0 0,1 2 0,-1 1 0,0 1 0,0 1 0,1 0 0,1-1 0,2 0 0,0-1 0,-1-1 0,2-1 0,2 2 0,-1 2 0,3 0 0,-3-1 0,-2 0 0,-1 0 0,2-1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7T21:51:47.04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1061 1 24575,'-80'0'0,"-9"7"0,36 0 0,0 3 0,4 1 0,1 1 0,-32 16 0,29-6 0,23-7 0,15-5 0,8-3 0,-1-1 0,-1 0 0,-4 3 0,-15 8 0,-14 7 0,-10 8 0,-2 1 0,9-6 0,14-8 0,13-11 0,10-8 0,3-3 0,-3-1 0,0 2 0,-4 1 0,1 1 0,0 0 0,0 0 0,2 0 0,-1 0 0,1 0 0,-1 0 0,-3 0 0,1 2 0,-1 1 0,0 1 0,0 1 0,1 0 0,1-1 0,2 0 0,0-1 0,-1-1 0,2-1 0,2 2 0,-1 2 0,3 0 0,-3-1 0,-2 0 0,-1 0 0,2-1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1T15:12:36.94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111 150 24575,'-16'-2'0,"4"-4"0,9-2 0,1-2 0,-1 1 0,1 0 0,2 0 0,0 0 0,0-1 0,-2-1 0,-1 1 0,-2-3 0,-4-1 0,1 1 0,-4 1 0,5 7 0,-1 7 0,3 4 0,3 3 0,-3 0 0,3-1 0,-1-1 0,2 2 0,1 0 0,0 0 0,0-1 0,0 1 0,0-1 0,0 2 0,0-2 0,0 0 0,0-1 0,0 4 0,0 0 0,0 1 0,0-2 0,0 0 0,0 6 0,3 8 0,5 6 0,4 1 0,1-6 0,-2-6 0,-3-6 0,-1-4 0,1-5 0,-1-2 0,2-2 0,-1 0 0,0 0 0,0 0 0,-1 3 0,2 7 0,7 14 0,8 15 0,9 16 0,3 8 0,-2-1 0,-1 0 0,-2 0 0,-3 1 0,-2 3 0,-3-4 0,-3-10 0,-5-10 0,-4-10 0,-4-3 0,-2 1 0,1 1 0,0-2 0,-1-5 0,1-6 0,-2-3 0,-1-4 0,0-4 0,0-2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7T21:51:47.04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1061 1 24575,'-80'0'0,"-9"7"0,36 0 0,0 3 0,4 1 0,1 1 0,-32 16 0,29-6 0,23-7 0,15-5 0,8-3 0,-1-1 0,-1 0 0,-4 3 0,-15 8 0,-14 7 0,-10 8 0,-2 1 0,9-6 0,14-8 0,13-11 0,10-8 0,3-3 0,-3-1 0,0 2 0,-4 1 0,1 1 0,0 0 0,0 0 0,2 0 0,-1 0 0,1 0 0,-1 0 0,-3 0 0,1 2 0,-1 1 0,0 1 0,0 1 0,1 0 0,1-1 0,2 0 0,0-1 0,-1-1 0,2-1 0,2 2 0,-1 2 0,3 0 0,-3-1 0,-2 0 0,-1 0 0,2-1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1T15:12:36.94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111 150 24575,'-16'-2'0,"4"-4"0,9-2 0,1-2 0,-1 1 0,1 0 0,2 0 0,0 0 0,0-1 0,-2-1 0,-1 1 0,-2-3 0,-4-1 0,1 1 0,-4 1 0,5 7 0,-1 7 0,3 4 0,3 3 0,-3 0 0,3-1 0,-1-1 0,2 2 0,1 0 0,0 0 0,0-1 0,0 1 0,0-1 0,0 2 0,0-2 0,0 0 0,0-1 0,0 4 0,0 0 0,0 1 0,0-2 0,0 0 0,0 6 0,3 8 0,5 6 0,4 1 0,1-6 0,-2-6 0,-3-6 0,-1-4 0,1-5 0,-1-2 0,2-2 0,-1 0 0,0 0 0,0 0 0,-1 3 0,2 7 0,7 14 0,8 15 0,9 16 0,3 8 0,-2-1 0,-1 0 0,-2 0 0,-3 1 0,-2 3 0,-3-4 0,-3-10 0,-5-10 0,-4-10 0,-4-3 0,-2 1 0,1 1 0,0-2 0,-1-5 0,1-6 0,-2-3 0,-1-4 0,0-4 0,0-2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38A1B-0799-3B43-B048-8701BFD75EF8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92070-C317-ED49-991C-6BFB89C17E1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126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5416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83B7-AF81-C353-FDCD-4098CE7E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2919C-B48A-3D12-A4A1-C5757237E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C895B-3AF0-E05C-C549-2F9E588AF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6849C-E927-53D4-3225-E19020D90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812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05B4-D5F4-3C07-2623-30B8D7FE0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9F6FF-80D1-FC1A-B802-EE9A51D9E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68891-64D5-D9F1-1A66-D3CB7149D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8936B-9E55-4EFA-17FB-79DAE65FD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1852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929D-10C5-1E78-2971-C911F3496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8FFF6-C68C-5A31-46AA-D7BD260AF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4CD85-D318-1D42-FD28-58B743A99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0D83E-47B5-0D9D-D438-0F766E68E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9906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0FE9-F890-2E71-25F9-F09B133EC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98283-E48D-A316-8B89-94077077E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B3A8D-9BBB-7EE5-03DF-DDA84C15F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0F662-89EB-63FD-A77D-85D7D1E60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233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A3F4-1388-4FB8-C4D5-F4D4A03E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F51F3-6647-C8FE-2DB2-594FC11E1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D5717-D3E9-D08E-E59B-9191B4BB2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436B8-5352-E27E-5167-D2444E8B2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93980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860DF-A136-844B-9AC2-C7176F1D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5A2D1-9A01-AFAE-D79D-8C4A6CDA2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3C7B4-E60C-8945-7A62-32A151F27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0E3AE-23B4-7E86-1701-F90128130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8193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3D4E-1068-DEBB-552F-39E2917DC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93D16-615B-37E2-FECD-D7677BDD7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127FB-20E4-BD11-8B24-B760BAF2A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95EBE-14D6-35B1-FB5D-643D94CAD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1405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50DE-83F4-7747-1F57-7D0AD144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B998A-7767-6A7A-B0E6-A702CAEC6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C3BA6-51CD-E875-1EA4-52124729A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CCFAE-FEEA-A6C6-D7D5-694F30EA6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6055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662A-B666-2C7B-5BEE-300625BB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029C8-0357-A4A2-119C-16739B5AF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5C26F-9971-6EB0-04A5-CFE7FB9A3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638AC-9B3C-0A4A-FCA4-F30A1B4A2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3913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1C6BA-9779-D0DB-2736-E1F16B9B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F019D-917A-95AD-1E99-1A6DDD51A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48632-62B7-9643-65DB-E1FBBD035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ECCBA-7E50-283B-D1F3-17EC7644F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15051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AA6AD-8CB6-2A99-707E-AD6C207D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CD68B-0746-2DB1-9F5A-8F2B5D105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235D6-C5D0-0B6B-4C8C-530F6D4CE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7E323-518F-927B-5621-DEF3B1EE8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31385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C491D-A0CA-ED69-54CD-40938750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DC7BD-9659-825A-31A1-64A72BC9F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3581-3E2D-E220-5DB1-06442FAD1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C2FD3-1F4D-8242-F605-8248E626A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1035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7DB9-0B78-F14E-0FC8-32EA8299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78721-7F68-6AA0-D216-3C41C82AF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63F43-F4FF-6705-712D-E4B789A6C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1D2D9-D128-8A09-5B05-2791EC0BA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63162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3481-99F0-43B1-C290-9D981037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18B38-C54D-DA3E-E887-CB1340029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80EC1-9235-7D21-0DC7-56B3CE7B4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0CE63-31F0-69E5-71D6-B2E9AE050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8932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38B9-EA1B-3817-6EE9-3CBCDFC2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012C0-70E0-20D7-F3F0-800C6CF52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BBF44-C479-5D7F-8BAF-36268CE3E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C0278-4A86-1672-A908-3FC3E99F4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0366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FDF54-234A-17DE-5E9D-C8D04B64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3417C-04CF-C681-DAFE-FFB70EAB3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98535-6AA1-66E9-B003-2262D14E4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754C8-F81B-ECCC-2153-E151E2192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1117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9CA2-4843-13F4-A0F0-A6E3B69B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8A604-B34B-5A3F-8B5B-D43C42D17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FBCF4-BC77-DD0A-7C24-6D413847F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11CA8-755B-3D67-9014-1E6DE0B95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15801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EBFD-F1F5-A50A-3BA7-7B3E0C50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42591-EB35-DE24-D597-0CF44A0AE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17EC9-5F9F-FD9E-F7B0-245B13204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B4547-C3C9-8FE2-B1EF-73E7BCE9F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1611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BDA44-5069-06A7-9593-8F5019B0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FFA77-46E4-AB24-BDB5-8C6988823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FBB04-1E1C-22CA-463B-0959BB649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19198-AFA2-95A2-9A38-7E3241CEB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6858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3A756-EEA0-92DF-2FB5-0ED72645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23A57-C4B9-826F-765E-A5B601D2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AC0E4-ACBE-C391-2C60-282875554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06EAE-48E0-97A5-362A-5280A05FC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93461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7DE08-B360-FC7D-062D-48ADDE11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10032-5A75-2337-5A2D-708DBF48F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19B7D-AD1F-27E2-7C6B-89B218FC4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FA202-57B4-8004-374D-72E7D72B7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6299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455D2-BAA9-4754-61D3-457A10EB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11BD5-50CF-6EC0-C87F-10A1C00E8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5915D-F4CB-D904-E9F5-83715DB34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F3B75-14D0-31BA-136D-3B7C4381F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3814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53A3-8B27-0FCF-E154-A6AF1699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53C0E-7DE5-7856-E40E-A5C439A2C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7ADA9-BBD3-C073-6E34-2F9B27B6B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F635B-45FB-FC9B-A8E8-D1DEBE693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02197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E1B12-3003-E8B5-E80E-B0756EAC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F2CC8-250D-F453-0B1C-FBAA89585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14C8E-8D7C-C259-97B4-B0533BD89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4E1B4-8CFA-14C5-E27F-77ADC0D3B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32102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CCB8-16C2-2947-9518-1167822A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62BEA-D27F-C029-6183-2A840D771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01948-D81D-7A01-9396-084F2EECC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A4A18-3564-4301-2C64-4DAFE38B8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63758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9CB1-904A-E123-2296-D5E1A160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B8005-E0C0-CF30-8396-51E844C58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D797D-D1DA-7CF3-2D6C-97266ADDC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155F4-4B04-83C2-6EAA-F16828CC9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80633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5C5ED-1A0B-D806-0D07-A41EC7E2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B27EA-AFD3-CCC4-A97A-F4872F72B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B4D21-9792-B130-BA34-5929F6FF2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8625E-E2BF-4B8E-6824-FA24A1A4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960671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799F3-ECA5-CCD8-FB1E-582946E4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38CF9-E10E-75B4-DA35-7408CAC82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4EA30-25BD-DCCC-3B7D-4235C55A3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42356-1FCA-D310-FFFE-D5E155E4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5086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BE79-DD14-0B54-A2F7-19A554EF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925A9-6DE9-42A5-F2B1-9D43C96AB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1E42A-35BF-41C8-7869-5F278486D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05F9B-5623-E331-EE35-D663B103E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17738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5142-149D-C9E5-66AA-3C7BA08C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36139-2526-57CC-6756-145321F62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B7A07-2156-F866-E19A-D5DD686DB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98ACD-AAFD-93B7-2497-C4DB6CD7B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51008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8D6E-FCF6-7B3D-6AC9-959AEF41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5A5EE-5DC4-5585-41B3-DA026FF38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144EF-10F6-B33F-788A-85DFD2407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9F2E7-C479-3498-5E7B-9039A7A34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0417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6B80-34A1-70E9-7B0C-75C299A6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3A49D-C9E3-C9A8-CCB7-C9569A04C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92431-ED4B-A186-C0F7-11A437BF7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3D3F5-C1F8-EA52-17A7-0F5D8C34C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3399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067F-F6FB-0291-AD50-F3F84029B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C195A-DAAA-CC32-192C-C83E6DF54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844C9-E68E-AF4C-93B5-6F62BEB75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13B66-03B0-6416-F0CE-61040A2E6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80879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301D-9052-5B7D-E05A-EAF10C6D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B0275-C75A-8D85-348E-CA7D100E2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34117-A619-24E5-FCAA-056531BD8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12A37-6173-63E5-3D3C-CBD4F460A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03801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A26B-9BE8-9EF0-72CB-28C2DE96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FB62F-435F-9F85-6A71-1EE1861A4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EEF0C-9ECB-08CD-730A-1015F6CC7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ADAEE-2165-F5A3-8DD1-C15372243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39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27099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32B7-44B1-3D7A-6FA2-808AAE59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9932F-50A4-64F7-1828-1292E508E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49FA7-F91B-FA34-4F71-17BE9FB42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6B808-3FCD-FB95-E502-DA393E983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31917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4FBF-2346-3019-214A-5A621D0CC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A77F6-1566-6E92-70FA-F2E4EA5A3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6CC82-CFB4-9482-3818-47AB98D4C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C4AA-3147-BDCD-F1AE-6D518849D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256866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8662-0D9E-1BF1-00DA-E1BA71E7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39FC6-E1B0-9653-3B79-974DD1380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A14C6-C32C-BA74-35B8-D0078C081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985A1-3A8D-34BB-4561-9A7559058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16066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F21B-01DF-639F-5335-D5195AAA8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4C89E-A944-A4E3-7FE5-A62A6EB16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6550D-EB41-677C-262A-0E853D1B9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FC883-DC2A-7EA8-7CE9-3A4ED926A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67144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FC69-637A-ABB5-AFA1-042E66CC9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2F1DA-FB9F-4441-5A06-CB4635239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9F5BC-A5E3-5826-5A6D-54393346F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943EF-2987-416F-57B5-02E39768D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99260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52AF-F704-FFB7-3C23-FFA685C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D2B84-E127-C85A-6B8A-1D98415C8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311E5-83D2-011A-BD5F-AFB1B8198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41450-094E-A1F2-9674-95AB9E007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16723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A82B-BA3E-10E8-325A-2EE21D756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B5D63-CA19-53BC-0302-CD5AC5861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0ABCA-C289-F148-11E4-622958F8A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CC18D-395E-53F3-A933-A497C4AA8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31484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0C23-481E-72EB-4B9E-9C0F60EC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D9578-08CA-C35E-2571-38C39F56E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D96C9-2784-794F-E93F-7EE9E130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2127A-9EE5-91A9-1BBB-0B0EAEE22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75222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D29E-7F19-A898-68A5-8EE222EA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7D588-5F3C-3B6E-C0A4-827155C15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D4373-32EF-C0A2-A829-E15AA8F4C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BE2A-185A-6030-3C8E-2A4D4A0CC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203241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4C6D-4DDB-2B2E-92D3-7C215709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702CC-BB26-CF5A-47E2-87B189D26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7C9FA-CFD6-9FF3-137D-4E37BD511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AABAE-3D08-4C46-5E1A-4BAD5F17E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49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249588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2A83-6451-8343-9E30-7374F06E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70D9A-9CB0-C02F-A843-0F2D28683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4E966-D95B-9139-2F62-807C2C40B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4B234-8122-B666-9F57-15B7F25FB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513404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C6A45-B962-8627-7208-27540357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92F2-B9A8-DCC7-CE9F-FEAEFF4C5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971FF-AC69-194C-B3D3-DEBC72480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97C3B-FF7C-F1BC-C41A-554F178D4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49894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2668-0FCC-F224-D747-5133FB14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87490-0FAE-B8FB-0FB4-7938F1A34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8D346-7E91-DDE3-59FB-9ABB82443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F622B-9311-0EF7-34DD-44E8E9D79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93935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DDD4D-EA37-953F-3C15-A8B428F3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4237E-357C-7017-A763-0209BC973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8756B-88D3-8A8F-BB40-EAF87D6AD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6BEA4-D73F-4F0C-6EB4-25203ADFF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22242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19D2-6C31-8150-EEDE-F4CF8C3D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0F293-2D3A-B4B8-F002-E7D9F3D6E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79FDA-3CA1-9A9B-0F78-5C5234A6B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4DFDF-9F0A-906D-61DD-9D7DE8B5D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96332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5873-7C89-1508-B34D-A2483949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B5BC9-3815-C9A0-AA47-503E8F700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1C95F-7371-B771-DAE7-246AFA537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AD0B2-5DB0-B9A7-F37C-B2360E81E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20600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95C9-00D0-F1B9-F12A-E9143C7B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400B7-A068-AFB6-37A9-574B6AAB2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5B163-C2D9-080D-E36B-08AF84F49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A28A4-FABF-9B5D-3AB6-C2185A12D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47241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FD48-1D8B-61C1-FE24-2EF85B1D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DB68E-CD51-F5DD-8E0E-0CC7890AB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09262-0C02-F512-7C41-5630B886E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19842-7212-7A5A-1ED2-F10C872B7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430036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BF86D-8463-E596-A8FC-518BD60B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5F2DF-168F-C0FD-D2FF-E49494CEC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4CC89-D8B5-F45F-50B2-93B414F06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C36DE-FF66-BC64-E991-C1A39F24B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182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7B7C-C019-5CF4-3455-596F0D9B4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F9CF7-D7E8-6CF9-8543-95F3EF2CB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7354E-892B-157D-2920-BA37E8762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F8881-203D-0420-2129-3C27106E4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59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32911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77DB4-B099-E94C-98F9-9DC85F55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BCD9D-1907-1F42-5480-53ADAEB24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3FECF-49DC-3355-8C9A-20AE2341A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24FC6-502C-54AB-4950-A69395EFF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46580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C9B2-3866-BD23-8C64-94FD1911F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21CBA-933B-A99A-7B51-2A69BD79D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95F8D-FD81-3E7B-2CD0-9F6D3F385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8F9A7-C599-7692-BED3-E44E97751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679819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BCCBF-7042-1482-8735-4EC03AEA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59091-9C9C-5153-79B7-52AC61931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ED265-0C30-15F4-A7AA-D56B69616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58005-C734-DD72-5E12-EEFEAE0E9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11626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E613-29C5-51F6-6128-6371F2B4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A2795-9C95-F5C0-CA22-80D7963CF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8904C-E9C1-C763-3574-9673E8463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12D66-DA3A-11DB-7B54-8BF5B79CE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474033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6711-70D2-CF82-AF6E-DF64A180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29A44-30A1-1329-8DF9-5EB70E141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D1541-B78D-AA1D-9F96-7A6D51AFD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F95FB-3BDE-7D76-2D34-35058F5AE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201464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13A7-A426-A185-362A-515270D8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6A023-73BF-477C-2F1E-AB0AAB208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C9780-6BFD-2AC5-2083-51C576B92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487A3-7715-60F2-988A-22AAD9F09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49055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DFF46-78C5-A7F4-1554-C72D9F3F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29934-176A-532D-B340-90F747BCB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5C8E7-7125-32B8-269A-50D43082F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9F824-F311-D292-74F6-E3A2B1D9F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85612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D9BD6-029C-8BFD-CE6D-0D5BD7D6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C3969-85CB-E1B5-451E-206A060F3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36E00-2D47-9606-5668-B9C568272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4FCF9-43BC-BE94-9B6E-DEE66AF8E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663035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588D-332A-514F-EB01-6701602E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0EF04-BF29-1123-0D73-D77E03DEC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F92FB-539A-0300-D3CC-90FB9172B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6783B-722E-35B3-0049-446CDF0F6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782119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C437-4A7B-6044-DA8A-F453D619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9F758-F734-31CA-3FE4-22C1D0E31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52046-EADA-D3FF-7062-E69BDEA1A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AD7DE-E86F-3FAF-54C4-1E49757D9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69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431317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EC50-B143-E4D9-0FBA-285FE14F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7BF99-8FE9-0772-7089-391E7089B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A7BA3-3EA1-7DE4-5FC6-81A53FF8E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A8B64-8200-D616-C8F3-B8B6D6429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428250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39205-EE06-D32C-8F2A-D8385A7F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99FC1-8544-5BAA-7F43-18155F5F7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C8ACA-60C9-9F59-9CDC-F439064F7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049CF-1600-7EC9-93C6-9B233AD59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956380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66AE-8E3B-B3A2-8B5B-ED87D160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9A0C0-2B84-E989-52AA-7675CD63E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14228-56EC-9E2E-4677-3FBC8730D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6BD38-3AC2-D32B-3DC6-44FDEF3F7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0500890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885E-104D-26F1-8E8E-DF6A9EF6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830F8-2A60-4DAE-A441-A1AF323CC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1E0A9-B2A0-03E7-D299-85DAE6D12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4E7CF-6F1B-D6F1-2454-1082C4704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6151211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9120-9669-EE4A-F6DA-D56DA9E6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9E0A1-C807-DF2F-C2F3-FA9674161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F143F-C1B6-4A79-62E3-D9BB3DFD5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9BA4F-D1C9-81AF-6514-415A1F955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09804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A5B7-CCA6-9758-9769-297BB050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FEB2F-1D28-CA6D-6E61-86AA9D533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A89D8-6CDF-6E9C-80DF-F48DC5E29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22E7C-9CF6-C17C-136A-9E1C9117A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455968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065A-DECE-D856-DF27-D40454A5C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E2C4F-8AB5-5237-3FE6-B5B062F66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D7F75-6527-E94F-7D62-35A6CFD30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2860A-115F-6B06-4D51-483AAD14F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277342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82B5-F4B0-A5E3-C729-A6485C34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95BA8-8D97-E972-737F-D974EF054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5045B-2B47-87E0-E9F1-AC289CEB5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527CF-DCA0-3F11-8F88-14B36916A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130254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68FC-440E-FFAA-C4FA-5349437D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65065-A99B-3155-54D8-98D7D5DDD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E429E-A4E6-CC8C-1068-0337D3530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8EABB-7C33-136C-6D7F-025324CF6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968796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DE97-AAA3-D1E5-F59C-D937E70B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8642F-5F0A-93B1-4BF2-2A8AF10F6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7FE71-C0CC-5FF0-0FD1-3777BE97B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8AA4A-352C-85DC-20E6-FDF52035A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79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17352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921E-753B-C67E-3A32-AE2D67AE5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B9E28-79D6-DF84-8D11-52DDEC685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0FF03-DDE7-BF36-7C1B-83DEBF7C4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A3D6E-C899-275F-450D-8334DA09B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02793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1CD9-624B-BE68-78F0-5234828E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8DA1A-4CFA-274C-5CF7-B5B593376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FBD51-67DC-612E-47E1-7B3F0FB68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F732A-1628-A3AD-D3FB-CF7438906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171472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F025-D876-1B7D-C00A-A126A7AA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1AE6E-996E-B7F1-380F-672ACBEB7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41EDD-05CB-B528-BEFE-5C9BAC642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E01E8-442E-AB6F-A799-CF234AE0D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626616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3AB5-EE7E-55C7-ED55-F37BEAB3B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C13A9-57C8-05FD-B344-ACA2AA921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FF76B-A9DA-F4E2-AFEB-45200D557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721C7-5040-CE18-0C18-56AC5BC9B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46660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01E7-7885-7308-76F4-59C617F7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488F6-5FF5-517E-C394-F37E07BD1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1B053-FD59-86BE-089D-67959FDB9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D0910-FB18-5602-88CF-CA7843464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1543058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564D8-1E41-4864-BB0F-DB310AD6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6E215-D6DF-7762-B9F9-D3A533B56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AE3B4-F501-2981-4FF5-C124BD87B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93765-2EB9-87AA-91CA-189B9F222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517256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C609-6C43-724E-F576-74684A9B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6E59E-EFE4-7C9E-9966-5D22BA755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35A41-2A34-1982-2C1D-56FC16ADB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A3660-D54A-981A-8FC0-BACBCA465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47706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4D02-7B28-E605-49A7-A49A7A8B3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3E17D-77E5-6346-5F16-A1957F9E3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7FD35-9196-8FDF-DD59-3C827818D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7339-8A42-9659-5964-5638AFF4B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850532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DFA9-37A1-3400-E7B9-4791D13B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28B1E-7F27-1844-4CB7-9219C8E16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7587C-1FA0-0D92-DD22-C889EB28F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4B69F-7022-7B51-1211-0EF757173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006297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82181-4E63-5FCE-E078-A9682A5A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6B467-379C-928A-07AB-F8166F650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63D4F-583A-0374-EA00-8AF9CE77D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67D89-D724-C13D-A475-9893C46DC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89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931079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BA895-F31D-F4A5-8391-49051060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D4E62-61BC-AB66-4DDB-B4B753374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AE1A1-2DE4-7D45-40EC-1F3C85DE6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A7065-BA8D-56E3-6D45-23D12148E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865473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F46BF-4EF2-36EC-C6FA-8B056F20A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88F8F-6515-7796-DA12-06CF855D1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136C7-9F16-2ABC-BB65-1E7108BB8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9748C-A6B1-3AC1-FF76-0E4BAF740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104423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B92A0-8FC4-E981-CBA2-E504691D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65E74-21F2-B112-5E45-26B9EBCE6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065D3-90D4-92B8-2304-2D3F16B9B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E94CE-7B27-9269-8980-23E69536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2486978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1B7E-C0CF-BF9A-CEFE-85FD6C532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EFB31-5313-442E-08E3-53CA85CCD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1F178-6A22-8245-313F-768EE38E3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DCA04-4C19-BD1B-AC69-E83E3B634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630063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754B-E280-D4CB-D400-402120CA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4E5C7-2BD0-B06A-B4FD-7D20AD6A0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BB743-8595-E028-063D-D2D08DDB0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DD89D-6623-40D6-36C4-D57787F9E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633360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CAEC2-544E-9F6D-3621-1636B9C7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B1F2E-ED41-21D7-E93E-81C86273D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83626-39F3-7BC7-7AD7-DDC48CBE6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E77C7-25B0-43A8-B103-6AE24F7A2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759750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0EEF-2211-2222-5A96-4DD46013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6222B-ECCF-D284-71B0-FD707C84B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9BBFF-3730-2BF9-C29A-FC013AD9F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49391-D83D-9E57-A985-A4DC8A001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281568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D9EDE-20AB-BB9E-03FB-B3EFB1C8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E4BEE-4F83-871D-8068-34F145883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8523F-5E6C-C21B-289D-315D9F89E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3DD85-B20E-E7A6-5896-F6289B5EB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8647884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D8188-2587-B891-FD3D-D147127D6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5B989-2D1A-F1FC-87B6-EABC29F95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9B3BF-C1DB-4954-D7F4-61B0FAD01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8C180-9679-DEA4-CA08-6E9704B51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6556817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47A7-C5A4-F2EA-E407-9D1697B5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5E578-B33F-B49B-5640-34889ACC9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45FAD-8FFA-D081-73D2-EE8CC2BCF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3A8BB-DB80-1388-A7AD-931DE3BBF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99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790205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982C-4BC6-BC6B-4B6B-48F377BF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3BC23-0B87-830E-1827-DE5FDCE25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795FA-A356-06D5-E135-6E9B34B22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6E81B-586A-69C4-3577-D71B9CD71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012869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FE6C-7C8B-DFC9-E84B-09DEF364B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4C5C0-40FF-C3CB-6CB7-5375BB279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56725-3F72-4266-DB6C-17A61F09B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E2FE-3454-13CD-4996-B175689E6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746885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009A3-F05A-4DB8-3553-96635C39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C3CA6-C7F8-2AED-4A8E-F6A2CBD7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BB04F-7656-FD9A-5C2A-DE15DA277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F4A42-58D1-2226-5154-BA5CEAAED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147476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8F5D-1BE9-413C-41F1-D0AE4D91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6B712-0E01-778B-3CA5-110483F7F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EDC2D-CC13-1B42-C662-F5ADAD2D1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BF38B-0C64-F1C5-B255-C740ED8EE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994615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F8B84-BE5F-64CF-8F27-D0F4B2F2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FBB18-5933-47F0-5514-1EC9392A1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BE6BB-4388-67F6-9726-2A2377A40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E19FB-58B5-92B1-8E1B-DAE4C3CB5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223997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A442-F164-E2A5-B0B5-BB4D7602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20953-7368-D037-C76E-55FE4F965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BF240-5859-F75F-6B50-B0DFD5BDC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0E11-1D9C-C404-6D61-4B2393C9B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567351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FADB7-9602-5E21-4D6A-A8D18CC4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023C3-8693-9D46-9BF1-45D191343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F8AA9-6383-2CE8-D8A0-452A384B7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6E68D-D57C-20E1-ADB3-001DC677D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100405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759F4-A27B-9986-0698-53E99AA5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57601-E9ED-BF17-FB7A-89FEEDF39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C6071-96A8-B092-4CBD-CAB6938D0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8AC02-C260-A9B2-C104-F2FB35D14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542022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6C49-6BD0-5997-3449-0C6C8DEE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6EB81-E5AE-EE12-5FB1-1F3D27425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09C77-311E-CC75-9F04-4CD8A5712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A6849-1A34-7F97-CD71-128AE6887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109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975518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9C32-3B1F-4659-0D9A-39CE66AE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863D7-6486-9C36-CCED-2F7D7EC1A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10EB1-6105-3868-2E6B-4FAC449EC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DB5B0-1CB0-A507-5A50-A78C7CC60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6271602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41198-A8A8-3AB0-9D57-40BC4D61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38E8F-64EE-B4A6-A947-58C0543F5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9EB95-AD00-40FF-2896-E75964676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94E27-F90E-2C88-3A7B-14D6E9C44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924076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3FE1-F139-98B6-75A6-56412311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C2BDB-1C1E-EC45-A9B5-AFC4B523B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15B5B-9AB4-5E1F-4459-37C9B6464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D4B5C-B044-F2E5-6055-EDD4C9FCA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556337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2E0A-4F8B-4831-FC02-2520C948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A4C2A-0431-5684-5BF8-0B7FF7AA8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0B7C9-BF85-93ED-1148-3930E48BE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95C9E-B76C-1C59-395D-EB5409001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705569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A24D-E03F-3DB1-EDD1-90D0C70A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3E951-6214-6D93-BE5E-4EF6845D5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38D34-6528-980E-988D-C585A91FE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2FFBA-6DA7-6070-FDD2-EBA0CB007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158160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9310-674B-C5F0-9541-5ED29649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C5D83-EC7B-1311-9DDF-48A43F3B6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E606A-D80B-5E62-1B5F-39A109D5D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8C16B-80A8-17D8-856C-991098B7A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893047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8AC3-8A3C-F30D-32EF-E61FA9DF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EBA0F-45E3-10CC-F0FA-91C1EAB7A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DE53C-A02D-7895-36F3-02769A88D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that CRL is like RCTs but without doing </a:t>
            </a:r>
            <a:r>
              <a:rPr lang="en-GB"/>
              <a:t>an actual RCT</a:t>
            </a:r>
          </a:p>
          <a:p>
            <a:r>
              <a:rPr lang="en-GB" dirty="0"/>
              <a:t>C</a:t>
            </a:r>
            <a:r>
              <a:rPr lang="en-DE" dirty="0"/>
              <a:t>ausality: use the J to pinpoint 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85583-9A48-B095-4D6F-E55C19220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1886533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9963-4FB5-D5F2-231B-E618A1E8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FDEBF-45E3-84F7-5A69-78103C552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9E2D2-8246-0842-F23E-90161AD0C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A6FF0-1D0A-A05C-CEF8-E277BE51C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792963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FE21-1BBC-6BB1-83B7-3376FEEC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E7CBB-CBED-8714-7445-F485F36A8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61C12-13E1-996F-74D6-7E0E1D88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F91D2-CFFB-1734-2003-071C4B997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54132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FDB74-8FE4-EFCC-D981-63CB10B5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568AA-E34C-8BBC-11AF-D70D61458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87443-7E55-26B5-71D2-DFA987E3E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15D4B-CF84-A2B7-61FE-BD834879D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299170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D325-11E2-F2F3-7180-EEA7EE62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83891-8376-4210-5C59-705647D0F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1612D-BDAA-3F3E-E28C-00DF47790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0C5C8-5D14-60E9-45F9-1E7E7A5C6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325039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89EA-069C-D24C-7E57-0D42F284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33BB3-9332-7C7D-4643-E2586541D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802DC-1307-6E37-70F6-320024B80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AF345-2059-72E1-9F6B-A60BBAA35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791504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7BC7-C9D9-8E42-73D6-F77A3E7B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20F10-58B6-0BE3-9EF4-DBC025C3D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1D17E-911C-B667-A4F0-9E357B627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FFB43-286F-A647-98A9-D928D7F2F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233084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55D0-8D47-05C7-BC2B-6ABBFACB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91FC6-5C96-A92D-3423-9329B5809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6B8C2-D722-2F3B-03A3-6DD1C13EE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18B7C-2C10-27AB-EA10-F3AEF50CF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855197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5B4E-7BCC-E1C0-294A-AE2C62CD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0FB3F-5C98-32DA-AC31-083B74D1B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FE3BC-4CA0-9930-3C6B-7425E653D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0494A-297B-5872-5B26-956F6F159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252660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79BCC-C46D-004B-6F34-E5232718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FEE3B-6D8F-9ECF-33AF-39631F620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D62F4-4029-5B33-E41A-E865D3288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7C367-820F-F5EC-8F7B-60D725B25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552736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6760-4681-F443-B727-95CF5E69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FE4D1-9A11-635D-A295-1B45578B1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85FCD-0BB7-C374-F516-D4246BD5E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63EA1-CC0B-1DF9-8114-D192172B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86415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C5519-A26A-3919-DADA-BB035F43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09DE6-66F0-F6AD-1384-F99C73976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02D8E-1287-7524-5BB9-2E445824E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30868-A100-78EA-A715-E32C9B8B0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4686874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4E34-11D0-4225-90C5-54644736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131BB-6D2E-BD90-279C-71F8E6C22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61D6F-5BB3-6D08-AB9C-38BFC028B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8854E-9858-C3CB-BA2A-2058D49C0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1478402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48DD-C63F-C7BE-C3A3-89C542CD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8FEB-6686-9D44-B86A-667C0D1EC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35354-C284-5F62-F5A3-5AE43774A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980C4-1D8C-C4C2-469D-CA1AB6779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7282463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60D9-BE83-0043-DEE9-3303CD02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2AA15-593A-AE49-8758-05C018B18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42114-F15E-AAC7-E2F3-79C95C8E2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E310B-8C82-1DFA-41B5-C27275496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637133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D6C00-F084-4AB4-1405-EBA21ACB6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78F5B-30DE-588A-B5AA-35858574C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0F175-C6A8-6D30-1313-8BE3F8A35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1161A-A3B6-AD63-2D43-E44E32D87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467058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AF81-8447-2E2F-CD38-CBAEA865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3F7B3-9AEB-060A-4CF4-876CB5EF0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4133D-14AB-4A76-5CDC-51D6D1EF2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EF7FE-2508-F2D1-D15E-125C11F0F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348688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D0E5-1B11-F411-6403-437FE436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39115-9FC8-A017-D12D-A4BC8533B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CFE7D-6E47-7E86-BA04-215F769EA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D71BF-F3C0-AE56-B76D-30823BEA2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978018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8A192-8DB9-805E-60E0-939E77F4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EEC57-1CDD-37CB-5C76-9A774DC1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52F63-151A-0A26-4C8B-5D608F2CC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F2A4E-FFBD-A870-2964-B8D6528FB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92070-C317-ED49-991C-6BFB89C17E13}" type="slidenum">
              <a:rPr lang="en-DE" smtClean="0"/>
              <a:t>136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3405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938A-CDF0-F058-9675-B45D19A8F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1E69D-BC66-E108-B52C-87C8E59E6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3B71-4919-8170-2BA4-8B881AE8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65B1D-CEC8-5B4F-18D7-7D240354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4782A-A0D9-8982-DFD2-6B152891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4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C0F1-9FD0-8B0C-DA3A-DD318E73B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E698-E82F-BE26-45A0-164746C15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10659-66DA-DA5D-FD4A-FDFE1D95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76F3-A283-3678-B9A9-3CA96842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EA195-D84D-7FE5-3F34-4C224B40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8925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63AF-39E0-778D-92A5-9A18A342B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CD033-70B4-529E-529E-5491F989B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C84B5-0D76-655E-907B-D36CE3EC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F8200-3028-50EB-68BF-29978C48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650A0-7CB7-47C8-029C-F5648FF4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726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5D25-5CB7-B961-882B-0F255D1A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F7A6C-13A7-20E2-A7F4-EDC94FB6B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98508-271D-FEB6-39B4-B6FF091A1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30A28-FCBD-EEC1-DFBD-065B121D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E39E9-2818-A2DF-B12E-A38E7403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9E887-5323-4916-CA6F-7DEA37F6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6232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50B0-B80B-6AB4-FC3A-159E95FB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32250-7239-2715-EB1C-D2611DAD0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60E10-5D8F-D0A8-DC94-F468EF166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107FD-6BDD-9E99-73CD-9C5D7491C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165A3-BD35-279A-65DC-94CE399B3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1DAE1-1ADF-0735-A6F3-3D0ECC29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18943-A026-9410-8F2C-DC5F6B8E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7B12A-2B96-DABC-B820-A9089859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350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BA5D-9349-C1D3-D4CC-799B8B16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8A05F-D7EF-B622-6E0B-9C8525F5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0ABBA-79B3-3428-2CB8-6B54715F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C2DC8-2292-F155-A466-85252CA4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881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6F276-F564-5214-828C-23326BC2F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299BB-C6DF-3653-FAE7-0461BEBD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FECF4-A921-63CC-E1E9-F624B668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0073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EBB4-660D-0960-93FA-70AA204AD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C4AB7-B3B9-BD36-455F-B05D7DDAB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A9469-DF52-740F-6215-355A8B30F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7D8C9-B099-C873-CD06-01F1B657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90B7D-FE8A-66B4-9E12-270D0392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2C50A-105A-D9F5-D975-0B863910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156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8CC9-DAB8-EEF1-4E78-E272F80B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1D9D3-68CA-BA50-45E1-8D1B39691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69D59-6B37-7999-3687-5885CCDCA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8A253-A225-6AA9-B86C-901EFFB0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B7C6E-3415-614D-4EFF-51F8400F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16CE7-B019-AAB6-A85D-09EC659D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545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A862-2840-84B1-94EB-AE36E1F6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3560D-B467-6F08-5EB8-6DA13F949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4F8F1-0D4D-8360-65CF-8217FADB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ABD66-FE3F-C2A7-4B33-434B65EF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E29C3-DFBF-82B0-D5FF-DBB0439F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3804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46CA5-0BC5-D905-E315-FF9CA615F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91BBE-791A-F144-A03C-3BCEA5397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FD68E-E968-9925-A6EF-86EF807F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2E700-3D26-26DE-B0A8-FF3D29A6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D37B8-8B09-6E0E-6B4D-6BFE8BB9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520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192D0-7229-8A82-ADD0-7271F2D8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5A674-DE7B-24BD-0128-7895C3C9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94DAE-5675-7407-DA61-9ADBDBA82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046A4-3AB8-2249-BFB3-4BFC0529969F}" type="datetimeFigureOut">
              <a:rPr lang="en-DE" smtClean="0"/>
              <a:t>12.10.25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6B2BF-15CB-BCAF-777D-5D2ADA122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FA3D6-70C9-5623-A319-586924676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3F52D-6E68-7E45-9B66-9730563F52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643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7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8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7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8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7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80.png"/><Relationship Id="rId9" Type="http://schemas.openxmlformats.org/officeDocument/2006/relationships/image" Target="../media/image26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00.png"/><Relationship Id="rId9" Type="http://schemas.openxmlformats.org/officeDocument/2006/relationships/image" Target="../media/image15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7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80.png"/><Relationship Id="rId9" Type="http://schemas.openxmlformats.org/officeDocument/2006/relationships/image" Target="../media/image2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0.png"/><Relationship Id="rId4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0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.xml"/><Relationship Id="rId4" Type="http://schemas.openxmlformats.org/officeDocument/2006/relationships/image" Target="../media/image15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7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220.png"/><Relationship Id="rId5" Type="http://schemas.openxmlformats.org/officeDocument/2006/relationships/image" Target="../media/image54.png"/><Relationship Id="rId10" Type="http://schemas.openxmlformats.org/officeDocument/2006/relationships/image" Target="../media/image210.png"/><Relationship Id="rId4" Type="http://schemas.openxmlformats.org/officeDocument/2006/relationships/image" Target="../media/image160.png"/><Relationship Id="rId9" Type="http://schemas.openxmlformats.org/officeDocument/2006/relationships/image" Target="../media/image201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37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11" Type="http://schemas.openxmlformats.org/officeDocument/2006/relationships/image" Target="../media/image220.png"/><Relationship Id="rId5" Type="http://schemas.openxmlformats.org/officeDocument/2006/relationships/image" Target="../media/image54.png"/><Relationship Id="rId10" Type="http://schemas.openxmlformats.org/officeDocument/2006/relationships/image" Target="../media/image21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0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151.png"/><Relationship Id="rId7" Type="http://schemas.openxmlformats.org/officeDocument/2006/relationships/image" Target="../media/image33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0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151.png"/><Relationship Id="rId7" Type="http://schemas.openxmlformats.org/officeDocument/2006/relationships/image" Target="../media/image33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311.png"/><Relationship Id="rId4" Type="http://schemas.openxmlformats.org/officeDocument/2006/relationships/image" Target="../media/image300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71.png"/><Relationship Id="rId7" Type="http://schemas.openxmlformats.org/officeDocument/2006/relationships/image" Target="../media/image28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00.png"/><Relationship Id="rId9" Type="http://schemas.openxmlformats.org/officeDocument/2006/relationships/image" Target="../media/image151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71.png"/><Relationship Id="rId7" Type="http://schemas.openxmlformats.org/officeDocument/2006/relationships/image" Target="../media/image28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00.png"/><Relationship Id="rId9" Type="http://schemas.openxmlformats.org/officeDocument/2006/relationships/image" Target="../media/image151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F0CF0E-B798-4995-F1B8-F153B3809662}"/>
              </a:ext>
            </a:extLst>
          </p:cNvPr>
          <p:cNvSpPr/>
          <p:nvPr/>
        </p:nvSpPr>
        <p:spPr>
          <a:xfrm>
            <a:off x="0" y="6400913"/>
            <a:ext cx="12192000" cy="457085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8" name="Szövegdoboz 13">
            <a:extLst>
              <a:ext uri="{FF2B5EF4-FFF2-40B4-BE49-F238E27FC236}">
                <a16:creationId xmlns:a16="http://schemas.microsoft.com/office/drawing/2014/main" id="{A913BD8A-9298-5C0C-4ABE-FCE522032A3F}"/>
              </a:ext>
            </a:extLst>
          </p:cNvPr>
          <p:cNvSpPr txBox="1"/>
          <p:nvPr/>
        </p:nvSpPr>
        <p:spPr>
          <a:xfrm>
            <a:off x="178764" y="2582705"/>
            <a:ext cx="118344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Identifiable Exchangeable Mechanisms for Causal Structure and Representation Learning</a:t>
            </a:r>
            <a:endParaRPr lang="hu-HU" sz="40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" name="Szövegdoboz 23">
            <a:extLst>
              <a:ext uri="{FF2B5EF4-FFF2-40B4-BE49-F238E27FC236}">
                <a16:creationId xmlns:a16="http://schemas.microsoft.com/office/drawing/2014/main" id="{35FF9C03-6185-DC1F-6D35-82F06F6E4B1C}"/>
              </a:ext>
            </a:extLst>
          </p:cNvPr>
          <p:cNvSpPr txBox="1"/>
          <p:nvPr/>
        </p:nvSpPr>
        <p:spPr>
          <a:xfrm>
            <a:off x="11062335" y="6493246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16.10.2025</a:t>
            </a:r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90C0BB0E-DE2B-0EF0-A7E1-C2455531BF3A}"/>
              </a:ext>
            </a:extLst>
          </p:cNvPr>
          <p:cNvSpPr txBox="1"/>
          <p:nvPr/>
        </p:nvSpPr>
        <p:spPr>
          <a:xfrm>
            <a:off x="178764" y="4393295"/>
            <a:ext cx="1196271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Patrik Reizinger*,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Siyuan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*, Ferenc Huszár, Bernhard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Schölkopf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Wieland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Brendel</a:t>
            </a:r>
            <a:b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</a:br>
            <a:r>
              <a:rPr lang="hu-HU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patrik.reizinger@tuebingen.mpg.de</a:t>
            </a:r>
            <a:endParaRPr lang="hu-HU" sz="2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algn="ctr"/>
            <a:endParaRPr lang="hu-HU" sz="2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38F36-75D5-FDC7-B26E-BD20874D2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565765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0243D57C-C940-4595-02BD-DEA530185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574032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AB445945-42D9-8B4C-3898-94B07CAB2EE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574785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33FB7003-F849-B8FB-0EFA-7EF448CDDCD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570629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D10F2258-2A0E-C59C-FBF0-4179AC7414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965" y="5794217"/>
            <a:ext cx="2261067" cy="536279"/>
          </a:xfrm>
          <a:prstGeom prst="rect">
            <a:avLst/>
          </a:prstGeom>
        </p:spPr>
      </p:pic>
      <p:sp>
        <p:nvSpPr>
          <p:cNvPr id="2" name="Szövegdoboz 23">
            <a:extLst>
              <a:ext uri="{FF2B5EF4-FFF2-40B4-BE49-F238E27FC236}">
                <a16:creationId xmlns:a16="http://schemas.microsoft.com/office/drawing/2014/main" id="{6697FA55-DAF5-D9E8-5113-22AF252E599C}"/>
              </a:ext>
            </a:extLst>
          </p:cNvPr>
          <p:cNvSpPr txBox="1"/>
          <p:nvPr/>
        </p:nvSpPr>
        <p:spPr>
          <a:xfrm>
            <a:off x="46673" y="6493246"/>
            <a:ext cx="1415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MML Workshop</a:t>
            </a:r>
          </a:p>
        </p:txBody>
      </p:sp>
    </p:spTree>
    <p:extLst>
      <p:ext uri="{BB962C8B-B14F-4D97-AF65-F5344CB8AC3E}">
        <p14:creationId xmlns:p14="http://schemas.microsoft.com/office/powerpoint/2010/main" val="69844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E65C7-05E4-4937-7B09-8B27AEB15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4A2BFC5-66F9-303B-121F-07255538CF03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do we want to learn causal representations?</a:t>
            </a: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48B1040-49B4-40FB-E6A9-CD58A384DDE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zövegdoboz 23">
            <a:extLst>
              <a:ext uri="{FF2B5EF4-FFF2-40B4-BE49-F238E27FC236}">
                <a16:creationId xmlns:a16="http://schemas.microsoft.com/office/drawing/2014/main" id="{E9B4C72A-8F1C-1DEA-913A-DD238BCD37CC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95ACD-A44B-EF09-E3E0-724A7EF2E4F1}"/>
              </a:ext>
            </a:extLst>
          </p:cNvPr>
          <p:cNvSpPr/>
          <p:nvPr/>
        </p:nvSpPr>
        <p:spPr>
          <a:xfrm>
            <a:off x="2593645" y="1723623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83290D-2B8C-3226-0137-36B15E5BD9E2}"/>
              </a:ext>
            </a:extLst>
          </p:cNvPr>
          <p:cNvCxnSpPr>
            <a:cxnSpLocks/>
          </p:cNvCxnSpPr>
          <p:nvPr/>
        </p:nvCxnSpPr>
        <p:spPr>
          <a:xfrm>
            <a:off x="1776755" y="202231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3">
            <a:extLst>
              <a:ext uri="{FF2B5EF4-FFF2-40B4-BE49-F238E27FC236}">
                <a16:creationId xmlns:a16="http://schemas.microsoft.com/office/drawing/2014/main" id="{60739F64-243D-CF7A-496A-8E93060C4B8B}"/>
              </a:ext>
            </a:extLst>
          </p:cNvPr>
          <p:cNvSpPr txBox="1"/>
          <p:nvPr/>
        </p:nvSpPr>
        <p:spPr>
          <a:xfrm>
            <a:off x="531292" y="1802094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C40E6B0A-2AE2-57E8-DCD2-88BE0B79A096}"/>
              </a:ext>
            </a:extLst>
          </p:cNvPr>
          <p:cNvSpPr txBox="1"/>
          <p:nvPr/>
        </p:nvSpPr>
        <p:spPr>
          <a:xfrm>
            <a:off x="2454194" y="2416487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</p:spTree>
    <p:extLst>
      <p:ext uri="{BB962C8B-B14F-4D97-AF65-F5344CB8AC3E}">
        <p14:creationId xmlns:p14="http://schemas.microsoft.com/office/powerpoint/2010/main" val="114841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6EC96-D3DF-AB61-AEE6-AE47339C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1440B297-CE66-BD97-B97A-264CE13324D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do we want to learn causal representations?</a:t>
            </a: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99299F7-D364-D47F-F2C1-F0B3A22DAE2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zövegdoboz 23">
            <a:extLst>
              <a:ext uri="{FF2B5EF4-FFF2-40B4-BE49-F238E27FC236}">
                <a16:creationId xmlns:a16="http://schemas.microsoft.com/office/drawing/2014/main" id="{CF994C0A-A22D-3A9E-2E5B-945DB5CB69EA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6B7BA5-7290-70D1-6B85-E51EE611B214}"/>
              </a:ext>
            </a:extLst>
          </p:cNvPr>
          <p:cNvSpPr/>
          <p:nvPr/>
        </p:nvSpPr>
        <p:spPr>
          <a:xfrm>
            <a:off x="2593645" y="1723623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A6FD9B-1440-708B-E149-2C3FED1A55F0}"/>
              </a:ext>
            </a:extLst>
          </p:cNvPr>
          <p:cNvCxnSpPr>
            <a:cxnSpLocks/>
          </p:cNvCxnSpPr>
          <p:nvPr/>
        </p:nvCxnSpPr>
        <p:spPr>
          <a:xfrm>
            <a:off x="1776755" y="202231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5E3249-9ADE-2296-E130-7B5010963A30}"/>
              </a:ext>
            </a:extLst>
          </p:cNvPr>
          <p:cNvCxnSpPr>
            <a:cxnSpLocks/>
          </p:cNvCxnSpPr>
          <p:nvPr/>
        </p:nvCxnSpPr>
        <p:spPr>
          <a:xfrm>
            <a:off x="4789904" y="2022310"/>
            <a:ext cx="717720" cy="0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3">
            <a:extLst>
              <a:ext uri="{FF2B5EF4-FFF2-40B4-BE49-F238E27FC236}">
                <a16:creationId xmlns:a16="http://schemas.microsoft.com/office/drawing/2014/main" id="{8BC84815-CCDA-FDB9-7EFA-4D68845D2EF0}"/>
              </a:ext>
            </a:extLst>
          </p:cNvPr>
          <p:cNvSpPr txBox="1"/>
          <p:nvPr/>
        </p:nvSpPr>
        <p:spPr>
          <a:xfrm>
            <a:off x="531292" y="1802094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46A3614C-8867-9DA9-1C38-E09B79EBCBE6}"/>
              </a:ext>
            </a:extLst>
          </p:cNvPr>
          <p:cNvSpPr txBox="1"/>
          <p:nvPr/>
        </p:nvSpPr>
        <p:spPr>
          <a:xfrm>
            <a:off x="2454194" y="2416487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12" name="Szövegdoboz 3">
            <a:extLst>
              <a:ext uri="{FF2B5EF4-FFF2-40B4-BE49-F238E27FC236}">
                <a16:creationId xmlns:a16="http://schemas.microsoft.com/office/drawing/2014/main" id="{DD5740A5-FA3A-8257-48A1-A497636628BC}"/>
              </a:ext>
            </a:extLst>
          </p:cNvPr>
          <p:cNvSpPr txBox="1"/>
          <p:nvPr/>
        </p:nvSpPr>
        <p:spPr>
          <a:xfrm>
            <a:off x="5790885" y="1827476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</p:spTree>
    <p:extLst>
      <p:ext uri="{BB962C8B-B14F-4D97-AF65-F5344CB8AC3E}">
        <p14:creationId xmlns:p14="http://schemas.microsoft.com/office/powerpoint/2010/main" val="135987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E0CAE-D91F-3C05-3831-996DC698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B973A0E4-6FDE-A6A7-16BA-27E5E750C3D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do we want to learn causal representations?</a:t>
            </a: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F9AE762-FE22-4EC3-A82A-1D928C4B888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619FE55-1834-1DA7-3429-E36661B27437}"/>
              </a:ext>
            </a:extLst>
          </p:cNvPr>
          <p:cNvSpPr/>
          <p:nvPr/>
        </p:nvSpPr>
        <p:spPr>
          <a:xfrm>
            <a:off x="2593645" y="3576645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909ECA-35F0-91FB-B6BB-213E95169AAD}"/>
              </a:ext>
            </a:extLst>
          </p:cNvPr>
          <p:cNvCxnSpPr>
            <a:cxnSpLocks/>
          </p:cNvCxnSpPr>
          <p:nvPr/>
        </p:nvCxnSpPr>
        <p:spPr>
          <a:xfrm>
            <a:off x="1776755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E194A1-6FE3-EC36-620A-62BC8B84D70F}"/>
              </a:ext>
            </a:extLst>
          </p:cNvPr>
          <p:cNvCxnSpPr>
            <a:cxnSpLocks/>
          </p:cNvCxnSpPr>
          <p:nvPr/>
        </p:nvCxnSpPr>
        <p:spPr>
          <a:xfrm>
            <a:off x="4789904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zövegdoboz 3">
            <a:extLst>
              <a:ext uri="{FF2B5EF4-FFF2-40B4-BE49-F238E27FC236}">
                <a16:creationId xmlns:a16="http://schemas.microsoft.com/office/drawing/2014/main" id="{13B2E47E-C217-47B9-D075-3F5C4CA45FBA}"/>
              </a:ext>
            </a:extLst>
          </p:cNvPr>
          <p:cNvSpPr txBox="1"/>
          <p:nvPr/>
        </p:nvSpPr>
        <p:spPr>
          <a:xfrm>
            <a:off x="5640204" y="3641594"/>
            <a:ext cx="2608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Latent representation</a:t>
            </a:r>
          </a:p>
        </p:txBody>
      </p:sp>
      <p:sp>
        <p:nvSpPr>
          <p:cNvPr id="40" name="Szövegdoboz 23">
            <a:extLst>
              <a:ext uri="{FF2B5EF4-FFF2-40B4-BE49-F238E27FC236}">
                <a16:creationId xmlns:a16="http://schemas.microsoft.com/office/drawing/2014/main" id="{061F568C-FFBB-6533-49CB-2AFF638C0F76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Szövegdoboz 3">
            <a:extLst>
              <a:ext uri="{FF2B5EF4-FFF2-40B4-BE49-F238E27FC236}">
                <a16:creationId xmlns:a16="http://schemas.microsoft.com/office/drawing/2014/main" id="{D5BB4133-440F-CDC8-CE93-F86DA9DB7C65}"/>
              </a:ext>
            </a:extLst>
          </p:cNvPr>
          <p:cNvSpPr txBox="1"/>
          <p:nvPr/>
        </p:nvSpPr>
        <p:spPr>
          <a:xfrm>
            <a:off x="531292" y="3655116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0506B7ED-02EF-2184-3F83-7FC6487DAF78}"/>
              </a:ext>
            </a:extLst>
          </p:cNvPr>
          <p:cNvSpPr txBox="1"/>
          <p:nvPr/>
        </p:nvSpPr>
        <p:spPr>
          <a:xfrm>
            <a:off x="2454194" y="4269509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BE0651-5D1F-20B0-4098-278BB3935B4E}"/>
              </a:ext>
            </a:extLst>
          </p:cNvPr>
          <p:cNvSpPr/>
          <p:nvPr/>
        </p:nvSpPr>
        <p:spPr>
          <a:xfrm>
            <a:off x="2593645" y="1723623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AE2A54-5491-D0F6-F191-8A6E78CDBCAC}"/>
              </a:ext>
            </a:extLst>
          </p:cNvPr>
          <p:cNvCxnSpPr>
            <a:cxnSpLocks/>
          </p:cNvCxnSpPr>
          <p:nvPr/>
        </p:nvCxnSpPr>
        <p:spPr>
          <a:xfrm>
            <a:off x="1776755" y="202231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27DF9C-AA4E-E314-F6CD-AAF1E33721BB}"/>
              </a:ext>
            </a:extLst>
          </p:cNvPr>
          <p:cNvCxnSpPr>
            <a:cxnSpLocks/>
          </p:cNvCxnSpPr>
          <p:nvPr/>
        </p:nvCxnSpPr>
        <p:spPr>
          <a:xfrm>
            <a:off x="4789904" y="2022310"/>
            <a:ext cx="717720" cy="0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3">
            <a:extLst>
              <a:ext uri="{FF2B5EF4-FFF2-40B4-BE49-F238E27FC236}">
                <a16:creationId xmlns:a16="http://schemas.microsoft.com/office/drawing/2014/main" id="{E6DFB834-29EE-77BD-6863-7A6B817F2E89}"/>
              </a:ext>
            </a:extLst>
          </p:cNvPr>
          <p:cNvSpPr txBox="1"/>
          <p:nvPr/>
        </p:nvSpPr>
        <p:spPr>
          <a:xfrm>
            <a:off x="531292" y="1802094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E2978497-75DC-8A00-CB37-7DD8BD0F7D8A}"/>
              </a:ext>
            </a:extLst>
          </p:cNvPr>
          <p:cNvSpPr txBox="1"/>
          <p:nvPr/>
        </p:nvSpPr>
        <p:spPr>
          <a:xfrm>
            <a:off x="2454194" y="2416487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12" name="Szövegdoboz 3">
            <a:extLst>
              <a:ext uri="{FF2B5EF4-FFF2-40B4-BE49-F238E27FC236}">
                <a16:creationId xmlns:a16="http://schemas.microsoft.com/office/drawing/2014/main" id="{FBEBD3F4-E17B-C0B3-956B-D124D36FCDB9}"/>
              </a:ext>
            </a:extLst>
          </p:cNvPr>
          <p:cNvSpPr txBox="1"/>
          <p:nvPr/>
        </p:nvSpPr>
        <p:spPr>
          <a:xfrm>
            <a:off x="5790885" y="1827476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</p:spTree>
    <p:extLst>
      <p:ext uri="{BB962C8B-B14F-4D97-AF65-F5344CB8AC3E}">
        <p14:creationId xmlns:p14="http://schemas.microsoft.com/office/powerpoint/2010/main" val="129042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1077C-2353-438E-C281-90377482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E920FF8-0649-6184-7933-E2AB18490EF9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do we want to learn causal representations?</a:t>
            </a: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6942C90-986C-C5EC-19C2-3C33992A7BFA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7B572C2-5146-8208-1FDE-E295F5D7AFB1}"/>
              </a:ext>
            </a:extLst>
          </p:cNvPr>
          <p:cNvSpPr/>
          <p:nvPr/>
        </p:nvSpPr>
        <p:spPr>
          <a:xfrm>
            <a:off x="2593645" y="3576645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401640-14E6-DE87-AABB-E6D2930B8017}"/>
              </a:ext>
            </a:extLst>
          </p:cNvPr>
          <p:cNvCxnSpPr>
            <a:cxnSpLocks/>
          </p:cNvCxnSpPr>
          <p:nvPr/>
        </p:nvCxnSpPr>
        <p:spPr>
          <a:xfrm>
            <a:off x="1776755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070747-3AA0-286E-0E8C-E926DF13F846}"/>
              </a:ext>
            </a:extLst>
          </p:cNvPr>
          <p:cNvCxnSpPr>
            <a:cxnSpLocks/>
          </p:cNvCxnSpPr>
          <p:nvPr/>
        </p:nvCxnSpPr>
        <p:spPr>
          <a:xfrm>
            <a:off x="4789904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zövegdoboz 3">
            <a:extLst>
              <a:ext uri="{FF2B5EF4-FFF2-40B4-BE49-F238E27FC236}">
                <a16:creationId xmlns:a16="http://schemas.microsoft.com/office/drawing/2014/main" id="{8BAEAE2A-7DB3-8343-E634-DCB32787ABF1}"/>
              </a:ext>
            </a:extLst>
          </p:cNvPr>
          <p:cNvSpPr txBox="1"/>
          <p:nvPr/>
        </p:nvSpPr>
        <p:spPr>
          <a:xfrm>
            <a:off x="5640204" y="3641594"/>
            <a:ext cx="2608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Latent representation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48EB73-8601-571C-3F8B-8B328A63E741}"/>
              </a:ext>
            </a:extLst>
          </p:cNvPr>
          <p:cNvCxnSpPr>
            <a:cxnSpLocks/>
          </p:cNvCxnSpPr>
          <p:nvPr/>
        </p:nvCxnSpPr>
        <p:spPr>
          <a:xfrm flipV="1">
            <a:off x="8134988" y="3413995"/>
            <a:ext cx="834166" cy="461337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zövegdoboz 3">
            <a:extLst>
              <a:ext uri="{FF2B5EF4-FFF2-40B4-BE49-F238E27FC236}">
                <a16:creationId xmlns:a16="http://schemas.microsoft.com/office/drawing/2014/main" id="{8306906D-D099-9D5E-4D92-9844781DC3D0}"/>
              </a:ext>
            </a:extLst>
          </p:cNvPr>
          <p:cNvSpPr txBox="1"/>
          <p:nvPr/>
        </p:nvSpPr>
        <p:spPr>
          <a:xfrm>
            <a:off x="9115426" y="3158152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  <p:sp>
        <p:nvSpPr>
          <p:cNvPr id="40" name="Szövegdoboz 23">
            <a:extLst>
              <a:ext uri="{FF2B5EF4-FFF2-40B4-BE49-F238E27FC236}">
                <a16:creationId xmlns:a16="http://schemas.microsoft.com/office/drawing/2014/main" id="{EB957CB4-863C-3D90-863F-D669963947FE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Szövegdoboz 3">
            <a:extLst>
              <a:ext uri="{FF2B5EF4-FFF2-40B4-BE49-F238E27FC236}">
                <a16:creationId xmlns:a16="http://schemas.microsoft.com/office/drawing/2014/main" id="{10FE0600-3943-E5C5-47F0-8265D0361A0A}"/>
              </a:ext>
            </a:extLst>
          </p:cNvPr>
          <p:cNvSpPr txBox="1"/>
          <p:nvPr/>
        </p:nvSpPr>
        <p:spPr>
          <a:xfrm>
            <a:off x="531292" y="3655116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6B57DA3E-5E9B-09E8-B672-C1A1F81F48A4}"/>
              </a:ext>
            </a:extLst>
          </p:cNvPr>
          <p:cNvSpPr txBox="1"/>
          <p:nvPr/>
        </p:nvSpPr>
        <p:spPr>
          <a:xfrm>
            <a:off x="2454194" y="4269509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331FA-B64F-3069-EBF7-894EEF54C864}"/>
              </a:ext>
            </a:extLst>
          </p:cNvPr>
          <p:cNvSpPr/>
          <p:nvPr/>
        </p:nvSpPr>
        <p:spPr>
          <a:xfrm>
            <a:off x="2593645" y="1723623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96569-5FF5-FD93-F52F-B38584D34391}"/>
              </a:ext>
            </a:extLst>
          </p:cNvPr>
          <p:cNvCxnSpPr>
            <a:cxnSpLocks/>
          </p:cNvCxnSpPr>
          <p:nvPr/>
        </p:nvCxnSpPr>
        <p:spPr>
          <a:xfrm>
            <a:off x="1776755" y="202231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55F6DE-FD9E-EBCE-9C8E-A5B333DFB2A5}"/>
              </a:ext>
            </a:extLst>
          </p:cNvPr>
          <p:cNvCxnSpPr>
            <a:cxnSpLocks/>
          </p:cNvCxnSpPr>
          <p:nvPr/>
        </p:nvCxnSpPr>
        <p:spPr>
          <a:xfrm>
            <a:off x="4789904" y="2022310"/>
            <a:ext cx="717720" cy="0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3">
            <a:extLst>
              <a:ext uri="{FF2B5EF4-FFF2-40B4-BE49-F238E27FC236}">
                <a16:creationId xmlns:a16="http://schemas.microsoft.com/office/drawing/2014/main" id="{15F315E8-1F8B-2F2A-DAA8-823C2630E79E}"/>
              </a:ext>
            </a:extLst>
          </p:cNvPr>
          <p:cNvSpPr txBox="1"/>
          <p:nvPr/>
        </p:nvSpPr>
        <p:spPr>
          <a:xfrm>
            <a:off x="531292" y="1802094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D7B8DD7D-0518-9388-76A3-3F6FA029D5AB}"/>
              </a:ext>
            </a:extLst>
          </p:cNvPr>
          <p:cNvSpPr txBox="1"/>
          <p:nvPr/>
        </p:nvSpPr>
        <p:spPr>
          <a:xfrm>
            <a:off x="2454194" y="2416487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12" name="Szövegdoboz 3">
            <a:extLst>
              <a:ext uri="{FF2B5EF4-FFF2-40B4-BE49-F238E27FC236}">
                <a16:creationId xmlns:a16="http://schemas.microsoft.com/office/drawing/2014/main" id="{41A2B861-3F59-09D6-D230-D367FEA86F6E}"/>
              </a:ext>
            </a:extLst>
          </p:cNvPr>
          <p:cNvSpPr txBox="1"/>
          <p:nvPr/>
        </p:nvSpPr>
        <p:spPr>
          <a:xfrm>
            <a:off x="5790885" y="1827476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</p:spTree>
    <p:extLst>
      <p:ext uri="{BB962C8B-B14F-4D97-AF65-F5344CB8AC3E}">
        <p14:creationId xmlns:p14="http://schemas.microsoft.com/office/powerpoint/2010/main" val="70302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075B4-5F7D-A1DD-9FBB-B683F037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504409BB-B9AB-9B57-B3FC-BDDD1069090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do we want to learn causal representations?</a:t>
            </a: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B7D5580D-4C77-0574-9236-AA68A2B7249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6F978BF-03F3-B192-75EF-0DD7018E7BA8}"/>
              </a:ext>
            </a:extLst>
          </p:cNvPr>
          <p:cNvSpPr/>
          <p:nvPr/>
        </p:nvSpPr>
        <p:spPr>
          <a:xfrm>
            <a:off x="2593645" y="3576645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0DE297-17C3-FBC9-B626-1E031A1BAAC1}"/>
              </a:ext>
            </a:extLst>
          </p:cNvPr>
          <p:cNvCxnSpPr>
            <a:cxnSpLocks/>
          </p:cNvCxnSpPr>
          <p:nvPr/>
        </p:nvCxnSpPr>
        <p:spPr>
          <a:xfrm>
            <a:off x="1776755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2F7074-A822-5329-2A6F-3905FCEC1892}"/>
              </a:ext>
            </a:extLst>
          </p:cNvPr>
          <p:cNvCxnSpPr>
            <a:cxnSpLocks/>
          </p:cNvCxnSpPr>
          <p:nvPr/>
        </p:nvCxnSpPr>
        <p:spPr>
          <a:xfrm>
            <a:off x="4789904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zövegdoboz 3">
            <a:extLst>
              <a:ext uri="{FF2B5EF4-FFF2-40B4-BE49-F238E27FC236}">
                <a16:creationId xmlns:a16="http://schemas.microsoft.com/office/drawing/2014/main" id="{BDBBEB45-58E3-F6EF-D50F-EDBEA5FBF3BE}"/>
              </a:ext>
            </a:extLst>
          </p:cNvPr>
          <p:cNvSpPr txBox="1"/>
          <p:nvPr/>
        </p:nvSpPr>
        <p:spPr>
          <a:xfrm>
            <a:off x="5640204" y="3641594"/>
            <a:ext cx="2608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Latent representation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BB3F458-D2F7-712A-561D-FBD70E919961}"/>
              </a:ext>
            </a:extLst>
          </p:cNvPr>
          <p:cNvCxnSpPr>
            <a:cxnSpLocks/>
          </p:cNvCxnSpPr>
          <p:nvPr/>
        </p:nvCxnSpPr>
        <p:spPr>
          <a:xfrm flipV="1">
            <a:off x="8134988" y="3413995"/>
            <a:ext cx="834166" cy="461337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zövegdoboz 3">
            <a:extLst>
              <a:ext uri="{FF2B5EF4-FFF2-40B4-BE49-F238E27FC236}">
                <a16:creationId xmlns:a16="http://schemas.microsoft.com/office/drawing/2014/main" id="{81B5FD5A-4644-E962-8853-C09F58DD2ACA}"/>
              </a:ext>
            </a:extLst>
          </p:cNvPr>
          <p:cNvSpPr txBox="1"/>
          <p:nvPr/>
        </p:nvSpPr>
        <p:spPr>
          <a:xfrm>
            <a:off x="9115426" y="3158152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  <p:sp>
        <p:nvSpPr>
          <p:cNvPr id="40" name="Szövegdoboz 23">
            <a:extLst>
              <a:ext uri="{FF2B5EF4-FFF2-40B4-BE49-F238E27FC236}">
                <a16:creationId xmlns:a16="http://schemas.microsoft.com/office/drawing/2014/main" id="{BF496711-372C-4DDF-8458-C322B02CD281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Szövegdoboz 3">
            <a:extLst>
              <a:ext uri="{FF2B5EF4-FFF2-40B4-BE49-F238E27FC236}">
                <a16:creationId xmlns:a16="http://schemas.microsoft.com/office/drawing/2014/main" id="{F40275E7-E392-2F43-D17A-896FB17B6DB2}"/>
              </a:ext>
            </a:extLst>
          </p:cNvPr>
          <p:cNvSpPr txBox="1"/>
          <p:nvPr/>
        </p:nvSpPr>
        <p:spPr>
          <a:xfrm>
            <a:off x="531292" y="3655116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259FB80B-CF50-2C4E-5393-71CD019EF5F0}"/>
              </a:ext>
            </a:extLst>
          </p:cNvPr>
          <p:cNvSpPr txBox="1"/>
          <p:nvPr/>
        </p:nvSpPr>
        <p:spPr>
          <a:xfrm>
            <a:off x="2454194" y="4269509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45F897-77DF-F660-D483-6C9A9A21C62B}"/>
              </a:ext>
            </a:extLst>
          </p:cNvPr>
          <p:cNvSpPr/>
          <p:nvPr/>
        </p:nvSpPr>
        <p:spPr>
          <a:xfrm>
            <a:off x="2593645" y="1723623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915A6C-7FCA-2E80-DAA2-D18614A493A7}"/>
              </a:ext>
            </a:extLst>
          </p:cNvPr>
          <p:cNvCxnSpPr>
            <a:cxnSpLocks/>
          </p:cNvCxnSpPr>
          <p:nvPr/>
        </p:nvCxnSpPr>
        <p:spPr>
          <a:xfrm>
            <a:off x="1776755" y="202231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8791A4-27D4-291A-6DB2-C1E2C30FC555}"/>
              </a:ext>
            </a:extLst>
          </p:cNvPr>
          <p:cNvCxnSpPr>
            <a:cxnSpLocks/>
          </p:cNvCxnSpPr>
          <p:nvPr/>
        </p:nvCxnSpPr>
        <p:spPr>
          <a:xfrm>
            <a:off x="4789904" y="2022310"/>
            <a:ext cx="717720" cy="0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3">
            <a:extLst>
              <a:ext uri="{FF2B5EF4-FFF2-40B4-BE49-F238E27FC236}">
                <a16:creationId xmlns:a16="http://schemas.microsoft.com/office/drawing/2014/main" id="{7CD1B3A1-FD43-7545-D6C6-AC1007BD8F55}"/>
              </a:ext>
            </a:extLst>
          </p:cNvPr>
          <p:cNvSpPr txBox="1"/>
          <p:nvPr/>
        </p:nvSpPr>
        <p:spPr>
          <a:xfrm>
            <a:off x="531292" y="1802094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DA4237DA-863B-BFB9-6EF5-0DE110C48B97}"/>
              </a:ext>
            </a:extLst>
          </p:cNvPr>
          <p:cNvSpPr txBox="1"/>
          <p:nvPr/>
        </p:nvSpPr>
        <p:spPr>
          <a:xfrm>
            <a:off x="2454194" y="2416487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12" name="Szövegdoboz 3">
            <a:extLst>
              <a:ext uri="{FF2B5EF4-FFF2-40B4-BE49-F238E27FC236}">
                <a16:creationId xmlns:a16="http://schemas.microsoft.com/office/drawing/2014/main" id="{2DDEDAFB-8A0E-DCC0-EC09-CBF8A0CD3D1E}"/>
              </a:ext>
            </a:extLst>
          </p:cNvPr>
          <p:cNvSpPr txBox="1"/>
          <p:nvPr/>
        </p:nvSpPr>
        <p:spPr>
          <a:xfrm>
            <a:off x="5790885" y="1827476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1A23FC-0933-EE79-9087-5DFD20D4B251}"/>
              </a:ext>
            </a:extLst>
          </p:cNvPr>
          <p:cNvCxnSpPr>
            <a:cxnSpLocks/>
          </p:cNvCxnSpPr>
          <p:nvPr/>
        </p:nvCxnSpPr>
        <p:spPr>
          <a:xfrm>
            <a:off x="8251561" y="4030766"/>
            <a:ext cx="717720" cy="0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3">
            <a:extLst>
              <a:ext uri="{FF2B5EF4-FFF2-40B4-BE49-F238E27FC236}">
                <a16:creationId xmlns:a16="http://schemas.microsoft.com/office/drawing/2014/main" id="{935B258E-1912-6332-4800-70F488BB2BD3}"/>
              </a:ext>
            </a:extLst>
          </p:cNvPr>
          <p:cNvSpPr txBox="1"/>
          <p:nvPr/>
        </p:nvSpPr>
        <p:spPr>
          <a:xfrm>
            <a:off x="9138432" y="3755936"/>
            <a:ext cx="2939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 and disentanglement</a:t>
            </a:r>
          </a:p>
        </p:txBody>
      </p:sp>
    </p:spTree>
    <p:extLst>
      <p:ext uri="{BB962C8B-B14F-4D97-AF65-F5344CB8AC3E}">
        <p14:creationId xmlns:p14="http://schemas.microsoft.com/office/powerpoint/2010/main" val="203097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3CD5E-4E23-B843-608C-62DEFDAD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E0318EB-6A07-A4C7-F326-97FBECC5B925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do we want to learn causal representations?</a:t>
            </a: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5B8AC30C-F717-F978-9C14-6EF2183E6BE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FF95403-6B12-7EC7-579B-02403637EDAB}"/>
              </a:ext>
            </a:extLst>
          </p:cNvPr>
          <p:cNvSpPr/>
          <p:nvPr/>
        </p:nvSpPr>
        <p:spPr>
          <a:xfrm>
            <a:off x="2593645" y="3576645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5D67BE-6CA2-9067-1580-60F8D7CD8037}"/>
              </a:ext>
            </a:extLst>
          </p:cNvPr>
          <p:cNvCxnSpPr>
            <a:cxnSpLocks/>
          </p:cNvCxnSpPr>
          <p:nvPr/>
        </p:nvCxnSpPr>
        <p:spPr>
          <a:xfrm>
            <a:off x="1776755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388B83-1921-A6AA-EEAA-436B9A460BB7}"/>
              </a:ext>
            </a:extLst>
          </p:cNvPr>
          <p:cNvCxnSpPr>
            <a:cxnSpLocks/>
          </p:cNvCxnSpPr>
          <p:nvPr/>
        </p:nvCxnSpPr>
        <p:spPr>
          <a:xfrm>
            <a:off x="4789904" y="387533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zövegdoboz 3">
            <a:extLst>
              <a:ext uri="{FF2B5EF4-FFF2-40B4-BE49-F238E27FC236}">
                <a16:creationId xmlns:a16="http://schemas.microsoft.com/office/drawing/2014/main" id="{6C38C265-1665-74BC-3BEC-1AA71F2B6E36}"/>
              </a:ext>
            </a:extLst>
          </p:cNvPr>
          <p:cNvSpPr txBox="1"/>
          <p:nvPr/>
        </p:nvSpPr>
        <p:spPr>
          <a:xfrm>
            <a:off x="5640204" y="3641594"/>
            <a:ext cx="2608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Latent representation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44594F0-88F1-C650-D91F-9B91EB80036D}"/>
              </a:ext>
            </a:extLst>
          </p:cNvPr>
          <p:cNvCxnSpPr>
            <a:cxnSpLocks/>
          </p:cNvCxnSpPr>
          <p:nvPr/>
        </p:nvCxnSpPr>
        <p:spPr>
          <a:xfrm flipV="1">
            <a:off x="8134988" y="3413995"/>
            <a:ext cx="834166" cy="461337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09A060-913D-7E04-FA06-20CD2DCD2F93}"/>
              </a:ext>
            </a:extLst>
          </p:cNvPr>
          <p:cNvCxnSpPr>
            <a:cxnSpLocks/>
          </p:cNvCxnSpPr>
          <p:nvPr/>
        </p:nvCxnSpPr>
        <p:spPr>
          <a:xfrm>
            <a:off x="8134988" y="4229079"/>
            <a:ext cx="811160" cy="407465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zövegdoboz 3">
            <a:extLst>
              <a:ext uri="{FF2B5EF4-FFF2-40B4-BE49-F238E27FC236}">
                <a16:creationId xmlns:a16="http://schemas.microsoft.com/office/drawing/2014/main" id="{FF72B46C-151E-DEF6-4AAC-EF932350FEDA}"/>
              </a:ext>
            </a:extLst>
          </p:cNvPr>
          <p:cNvSpPr txBox="1"/>
          <p:nvPr/>
        </p:nvSpPr>
        <p:spPr>
          <a:xfrm>
            <a:off x="9115426" y="3158152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  <p:sp>
        <p:nvSpPr>
          <p:cNvPr id="37" name="Szövegdoboz 3">
            <a:extLst>
              <a:ext uri="{FF2B5EF4-FFF2-40B4-BE49-F238E27FC236}">
                <a16:creationId xmlns:a16="http://schemas.microsoft.com/office/drawing/2014/main" id="{B8763A32-7022-0D75-3E1F-A3708A7FB571}"/>
              </a:ext>
            </a:extLst>
          </p:cNvPr>
          <p:cNvSpPr txBox="1"/>
          <p:nvPr/>
        </p:nvSpPr>
        <p:spPr>
          <a:xfrm>
            <a:off x="9115426" y="4463822"/>
            <a:ext cx="2939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Discovering cause-effect relationships</a:t>
            </a:r>
          </a:p>
        </p:txBody>
      </p:sp>
      <p:sp>
        <p:nvSpPr>
          <p:cNvPr id="40" name="Szövegdoboz 23">
            <a:extLst>
              <a:ext uri="{FF2B5EF4-FFF2-40B4-BE49-F238E27FC236}">
                <a16:creationId xmlns:a16="http://schemas.microsoft.com/office/drawing/2014/main" id="{1FA5C586-A8A1-2073-7743-79D281225E2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" name="Szövegdoboz 3">
            <a:extLst>
              <a:ext uri="{FF2B5EF4-FFF2-40B4-BE49-F238E27FC236}">
                <a16:creationId xmlns:a16="http://schemas.microsoft.com/office/drawing/2014/main" id="{ED3CFA57-75DE-8BBF-9F53-1675FC11839B}"/>
              </a:ext>
            </a:extLst>
          </p:cNvPr>
          <p:cNvSpPr txBox="1"/>
          <p:nvPr/>
        </p:nvSpPr>
        <p:spPr>
          <a:xfrm>
            <a:off x="531292" y="3655116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0CA60AED-5D5A-65B7-7201-58A0344C05DB}"/>
              </a:ext>
            </a:extLst>
          </p:cNvPr>
          <p:cNvSpPr txBox="1"/>
          <p:nvPr/>
        </p:nvSpPr>
        <p:spPr>
          <a:xfrm>
            <a:off x="2454194" y="4269509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217345-EBC3-A6BA-9DFB-2BBCE8604E71}"/>
              </a:ext>
            </a:extLst>
          </p:cNvPr>
          <p:cNvSpPr/>
          <p:nvPr/>
        </p:nvSpPr>
        <p:spPr>
          <a:xfrm>
            <a:off x="2593645" y="1723623"/>
            <a:ext cx="205680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Neural Network</a:t>
            </a:r>
            <a:endParaRPr lang="en-DE" sz="2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E26DF2-7A8A-B079-C78B-0BCB55C51270}"/>
              </a:ext>
            </a:extLst>
          </p:cNvPr>
          <p:cNvCxnSpPr>
            <a:cxnSpLocks/>
          </p:cNvCxnSpPr>
          <p:nvPr/>
        </p:nvCxnSpPr>
        <p:spPr>
          <a:xfrm>
            <a:off x="1776755" y="202231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B4D1E1-4C8F-AD82-444B-512F81BF28A0}"/>
              </a:ext>
            </a:extLst>
          </p:cNvPr>
          <p:cNvCxnSpPr>
            <a:cxnSpLocks/>
          </p:cNvCxnSpPr>
          <p:nvPr/>
        </p:nvCxnSpPr>
        <p:spPr>
          <a:xfrm>
            <a:off x="4789904" y="2022310"/>
            <a:ext cx="717720" cy="0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3">
            <a:extLst>
              <a:ext uri="{FF2B5EF4-FFF2-40B4-BE49-F238E27FC236}">
                <a16:creationId xmlns:a16="http://schemas.microsoft.com/office/drawing/2014/main" id="{70B548E6-3E28-7F98-49B4-F6FF80E6FCDC}"/>
              </a:ext>
            </a:extLst>
          </p:cNvPr>
          <p:cNvSpPr txBox="1"/>
          <p:nvPr/>
        </p:nvSpPr>
        <p:spPr>
          <a:xfrm>
            <a:off x="531292" y="1802094"/>
            <a:ext cx="1922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Data set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C878AAF8-8696-CD69-EB69-6F8FB5657DFD}"/>
              </a:ext>
            </a:extLst>
          </p:cNvPr>
          <p:cNvSpPr txBox="1"/>
          <p:nvPr/>
        </p:nvSpPr>
        <p:spPr>
          <a:xfrm>
            <a:off x="2454194" y="2416487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12" name="Szövegdoboz 3">
            <a:extLst>
              <a:ext uri="{FF2B5EF4-FFF2-40B4-BE49-F238E27FC236}">
                <a16:creationId xmlns:a16="http://schemas.microsoft.com/office/drawing/2014/main" id="{DC83E547-C21E-ED08-C3AB-9F710F915070}"/>
              </a:ext>
            </a:extLst>
          </p:cNvPr>
          <p:cNvSpPr txBox="1"/>
          <p:nvPr/>
        </p:nvSpPr>
        <p:spPr>
          <a:xfrm>
            <a:off x="5790885" y="1827476"/>
            <a:ext cx="2939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Solving downstream task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E89A8D-B91F-2B35-2085-BBFA93A9DABF}"/>
              </a:ext>
            </a:extLst>
          </p:cNvPr>
          <p:cNvCxnSpPr>
            <a:cxnSpLocks/>
          </p:cNvCxnSpPr>
          <p:nvPr/>
        </p:nvCxnSpPr>
        <p:spPr>
          <a:xfrm>
            <a:off x="8251561" y="4030766"/>
            <a:ext cx="717720" cy="0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3">
            <a:extLst>
              <a:ext uri="{FF2B5EF4-FFF2-40B4-BE49-F238E27FC236}">
                <a16:creationId xmlns:a16="http://schemas.microsoft.com/office/drawing/2014/main" id="{8FB44A9C-F6A5-738B-C460-6CE307F8416B}"/>
              </a:ext>
            </a:extLst>
          </p:cNvPr>
          <p:cNvSpPr txBox="1"/>
          <p:nvPr/>
        </p:nvSpPr>
        <p:spPr>
          <a:xfrm>
            <a:off x="9138432" y="3755936"/>
            <a:ext cx="2939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 and disentanglement</a:t>
            </a:r>
          </a:p>
        </p:txBody>
      </p:sp>
    </p:spTree>
    <p:extLst>
      <p:ext uri="{BB962C8B-B14F-4D97-AF65-F5344CB8AC3E}">
        <p14:creationId xmlns:p14="http://schemas.microsoft.com/office/powerpoint/2010/main" val="350606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11F9-1CAA-BA08-53DA-B6E9D7FE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B2797F-5FA6-A177-6605-5892D44F316F}"/>
              </a:ext>
            </a:extLst>
          </p:cNvPr>
          <p:cNvSpPr/>
          <p:nvPr/>
        </p:nvSpPr>
        <p:spPr>
          <a:xfrm>
            <a:off x="0" y="4281715"/>
            <a:ext cx="12192000" cy="2576284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669ABBE0-CBF5-7BB4-74F5-7C64ACAAD09E}"/>
              </a:ext>
            </a:extLst>
          </p:cNvPr>
          <p:cNvSpPr txBox="1"/>
          <p:nvPr/>
        </p:nvSpPr>
        <p:spPr>
          <a:xfrm>
            <a:off x="2253343" y="4644091"/>
            <a:ext cx="7685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Identifiable</a:t>
            </a:r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</a:t>
            </a:r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</a:t>
            </a:r>
            <a:endParaRPr lang="hu-HU" sz="3200" dirty="0">
              <a:solidFill>
                <a:schemeClr val="bg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5D5447-A523-82B4-BDFC-09C6AD2A5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342900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CA53E538-59C5-4D71-C4AB-6B60F93B2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351167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B845E9F7-40A8-FBCD-165B-15FDF5970DC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351920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E8030C21-2590-25F3-C60A-13E3FD5259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347764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994CB0B6-5282-DAEB-BF61-29F3705E0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65" y="3565567"/>
            <a:ext cx="2261067" cy="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4BEE0-091A-5D01-A567-18DCD99A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741B1B5-E0E5-57BC-71FD-0961EC2D9745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Pearl’s Causal Ladder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7831221-D856-1721-B0A2-9E616D3CF90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F80400DC-489C-D038-CDDE-756513870AE0}"/>
              </a:ext>
            </a:extLst>
          </p:cNvPr>
          <p:cNvSpPr txBox="1"/>
          <p:nvPr/>
        </p:nvSpPr>
        <p:spPr>
          <a:xfrm>
            <a:off x="298807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rungs of the ladder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0A630075-C786-A0F5-074B-49D12B877DC9}"/>
              </a:ext>
            </a:extLst>
          </p:cNvPr>
          <p:cNvCxnSpPr>
            <a:cxnSpLocks/>
          </p:cNvCxnSpPr>
          <p:nvPr/>
        </p:nvCxnSpPr>
        <p:spPr>
          <a:xfrm flipV="1">
            <a:off x="354770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DE48BDA-443F-F050-6489-E98B57BDE3CE}"/>
              </a:ext>
            </a:extLst>
          </p:cNvPr>
          <p:cNvSpPr txBox="1"/>
          <p:nvPr/>
        </p:nvSpPr>
        <p:spPr>
          <a:xfrm>
            <a:off x="112475" y="6164247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B12DE546-460B-34AE-D094-C98B119C9AA2}"/>
                  </a:ext>
                </a:extLst>
              </p:cNvPr>
              <p:cNvSpPr txBox="1"/>
              <p:nvPr/>
            </p:nvSpPr>
            <p:spPr>
              <a:xfrm>
                <a:off x="354770" y="2701720"/>
                <a:ext cx="5339546" cy="108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(observations)</a:t>
                </a: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B12DE546-460B-34AE-D094-C98B119C9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70" y="2701720"/>
                <a:ext cx="5339546" cy="1081899"/>
              </a:xfrm>
              <a:prstGeom prst="rect">
                <a:avLst/>
              </a:prstGeom>
              <a:blipFill>
                <a:blip r:embed="rId3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zövegdoboz 23">
            <a:extLst>
              <a:ext uri="{FF2B5EF4-FFF2-40B4-BE49-F238E27FC236}">
                <a16:creationId xmlns:a16="http://schemas.microsoft.com/office/drawing/2014/main" id="{CC396BD0-0E3C-18FF-4010-EF951550BEB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Szövegdoboz 6">
            <a:extLst>
              <a:ext uri="{FF2B5EF4-FFF2-40B4-BE49-F238E27FC236}">
                <a16:creationId xmlns:a16="http://schemas.microsoft.com/office/drawing/2014/main" id="{A8240789-3472-D83E-F0DC-01D71C406355}"/>
              </a:ext>
            </a:extLst>
          </p:cNvPr>
          <p:cNvSpPr txBox="1"/>
          <p:nvPr/>
        </p:nvSpPr>
        <p:spPr>
          <a:xfrm>
            <a:off x="6734776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Examples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33792FF1-A973-0FAB-06A7-B66360622685}"/>
              </a:ext>
            </a:extLst>
          </p:cNvPr>
          <p:cNvCxnSpPr>
            <a:cxnSpLocks/>
          </p:cNvCxnSpPr>
          <p:nvPr/>
        </p:nvCxnSpPr>
        <p:spPr>
          <a:xfrm flipV="1">
            <a:off x="6790739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0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62258-7DF3-6E6D-A42F-712C1866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18C0E810-ED13-DDF8-2F39-313D07DF231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Pearl’s Causal Ladder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CEDF940-E558-6A9D-8FF0-CBC9065CAEDC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CD62CB29-B3D7-7ECB-9945-B9A388868B4A}"/>
              </a:ext>
            </a:extLst>
          </p:cNvPr>
          <p:cNvSpPr txBox="1"/>
          <p:nvPr/>
        </p:nvSpPr>
        <p:spPr>
          <a:xfrm>
            <a:off x="298807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rungs of the ladder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8A7F43BD-153C-9684-F2EB-A7097C3C0004}"/>
              </a:ext>
            </a:extLst>
          </p:cNvPr>
          <p:cNvCxnSpPr>
            <a:cxnSpLocks/>
          </p:cNvCxnSpPr>
          <p:nvPr/>
        </p:nvCxnSpPr>
        <p:spPr>
          <a:xfrm flipV="1">
            <a:off x="354770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C230506-5071-6C26-DF22-A26E92F30C9A}"/>
              </a:ext>
            </a:extLst>
          </p:cNvPr>
          <p:cNvSpPr txBox="1"/>
          <p:nvPr/>
        </p:nvSpPr>
        <p:spPr>
          <a:xfrm>
            <a:off x="112475" y="6164247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8B969A36-1E53-4182-F982-194AFB04204A}"/>
                  </a:ext>
                </a:extLst>
              </p:cNvPr>
              <p:cNvSpPr txBox="1"/>
              <p:nvPr/>
            </p:nvSpPr>
            <p:spPr>
              <a:xfrm>
                <a:off x="354770" y="2701720"/>
                <a:ext cx="5339546" cy="108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(observations)</a:t>
                </a: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8B969A36-1E53-4182-F982-194AFB042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70" y="2701720"/>
                <a:ext cx="5339546" cy="1081899"/>
              </a:xfrm>
              <a:prstGeom prst="rect">
                <a:avLst/>
              </a:prstGeom>
              <a:blipFill>
                <a:blip r:embed="rId3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Szövegdoboz 3">
            <a:extLst>
              <a:ext uri="{FF2B5EF4-FFF2-40B4-BE49-F238E27FC236}">
                <a16:creationId xmlns:a16="http://schemas.microsoft.com/office/drawing/2014/main" id="{D19FFA81-8723-4DA5-7FDA-23FD7D7360B3}"/>
              </a:ext>
            </a:extLst>
          </p:cNvPr>
          <p:cNvSpPr txBox="1"/>
          <p:nvPr/>
        </p:nvSpPr>
        <p:spPr>
          <a:xfrm>
            <a:off x="6749432" y="2831433"/>
            <a:ext cx="5339546" cy="4941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Rung 1: modeling chest X-Rays</a:t>
            </a: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05657C63-95EF-70A2-3A9C-C7EF0C24292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Szövegdoboz 6">
            <a:extLst>
              <a:ext uri="{FF2B5EF4-FFF2-40B4-BE49-F238E27FC236}">
                <a16:creationId xmlns:a16="http://schemas.microsoft.com/office/drawing/2014/main" id="{B24C1C95-E88D-1F85-9F76-E4DE54CA2B00}"/>
              </a:ext>
            </a:extLst>
          </p:cNvPr>
          <p:cNvSpPr txBox="1"/>
          <p:nvPr/>
        </p:nvSpPr>
        <p:spPr>
          <a:xfrm>
            <a:off x="6734776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Examples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ADC3EABF-64B3-5518-F0E5-8D5715557F2F}"/>
              </a:ext>
            </a:extLst>
          </p:cNvPr>
          <p:cNvCxnSpPr>
            <a:cxnSpLocks/>
          </p:cNvCxnSpPr>
          <p:nvPr/>
        </p:nvCxnSpPr>
        <p:spPr>
          <a:xfrm flipV="1">
            <a:off x="6790739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55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760A3-4CF6-AF3F-CF30-6478BD66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B0159E1-1CA4-EFEA-115A-162D504C80B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Pearl’s Causal Ladder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40E70A75-59D1-E74D-62A2-BA1476B517C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D2BC2140-8F09-33F3-B61E-7E6FB2C9ABF1}"/>
              </a:ext>
            </a:extLst>
          </p:cNvPr>
          <p:cNvSpPr txBox="1"/>
          <p:nvPr/>
        </p:nvSpPr>
        <p:spPr>
          <a:xfrm>
            <a:off x="298807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rungs of the ladder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D8E357A2-6076-3003-CD49-7A3297821E1D}"/>
              </a:ext>
            </a:extLst>
          </p:cNvPr>
          <p:cNvCxnSpPr>
            <a:cxnSpLocks/>
          </p:cNvCxnSpPr>
          <p:nvPr/>
        </p:nvCxnSpPr>
        <p:spPr>
          <a:xfrm flipV="1">
            <a:off x="354770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10A0FD-E604-14A5-B6F4-B556A814B39C}"/>
              </a:ext>
            </a:extLst>
          </p:cNvPr>
          <p:cNvSpPr txBox="1"/>
          <p:nvPr/>
        </p:nvSpPr>
        <p:spPr>
          <a:xfrm>
            <a:off x="112475" y="6164247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AFB560F7-CAAE-C13C-D474-EB5436AEEF59}"/>
                  </a:ext>
                </a:extLst>
              </p:cNvPr>
              <p:cNvSpPr txBox="1"/>
              <p:nvPr/>
            </p:nvSpPr>
            <p:spPr>
              <a:xfrm>
                <a:off x="354770" y="2701720"/>
                <a:ext cx="5339546" cy="1669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(observations)</a:t>
                </a: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+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(interventions)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AFB560F7-CAAE-C13C-D474-EB5436AEE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70" y="2701720"/>
                <a:ext cx="5339546" cy="1669688"/>
              </a:xfrm>
              <a:prstGeom prst="rect">
                <a:avLst/>
              </a:prstGeom>
              <a:blipFill>
                <a:blip r:embed="rId3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Graphic 46" descr="Network outline">
            <a:extLst>
              <a:ext uri="{FF2B5EF4-FFF2-40B4-BE49-F238E27FC236}">
                <a16:creationId xmlns:a16="http://schemas.microsoft.com/office/drawing/2014/main" id="{4DACC021-441C-D890-70B7-65CDB6F85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3686" y="3098699"/>
            <a:ext cx="914400" cy="914400"/>
          </a:xfrm>
          <a:prstGeom prst="rect">
            <a:avLst/>
          </a:prstGeom>
        </p:spPr>
      </p:pic>
      <p:sp>
        <p:nvSpPr>
          <p:cNvPr id="54" name="Szövegdoboz 3">
            <a:extLst>
              <a:ext uri="{FF2B5EF4-FFF2-40B4-BE49-F238E27FC236}">
                <a16:creationId xmlns:a16="http://schemas.microsoft.com/office/drawing/2014/main" id="{C7D4E2B4-C6D2-A83F-E166-F7E05DEB3996}"/>
              </a:ext>
            </a:extLst>
          </p:cNvPr>
          <p:cNvSpPr txBox="1"/>
          <p:nvPr/>
        </p:nvSpPr>
        <p:spPr>
          <a:xfrm>
            <a:off x="6749432" y="2831433"/>
            <a:ext cx="5339546" cy="4941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Rung 1: modeling chest X-Rays</a:t>
            </a: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62845FE8-E9DF-E069-CCF2-8BE1729D915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Szövegdoboz 6">
            <a:extLst>
              <a:ext uri="{FF2B5EF4-FFF2-40B4-BE49-F238E27FC236}">
                <a16:creationId xmlns:a16="http://schemas.microsoft.com/office/drawing/2014/main" id="{E6D25C69-7F94-BF34-2FD2-9885B8B2F2EE}"/>
              </a:ext>
            </a:extLst>
          </p:cNvPr>
          <p:cNvSpPr txBox="1"/>
          <p:nvPr/>
        </p:nvSpPr>
        <p:spPr>
          <a:xfrm>
            <a:off x="6734776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Examples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F27125CE-F560-83C0-3F2B-B7ADF4C0971B}"/>
              </a:ext>
            </a:extLst>
          </p:cNvPr>
          <p:cNvCxnSpPr>
            <a:cxnSpLocks/>
          </p:cNvCxnSpPr>
          <p:nvPr/>
        </p:nvCxnSpPr>
        <p:spPr>
          <a:xfrm flipV="1">
            <a:off x="6790739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381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8B1A1-AD22-317A-AEF1-F49381F5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F5C16FE-09A6-0B29-171D-ECE4D2AB14B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Pearl’s Causal Ladder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B43631F4-2D63-77AD-8CA1-C368D0746F7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4B9F3787-66B0-BCBC-DDEC-8E713674DA09}"/>
              </a:ext>
            </a:extLst>
          </p:cNvPr>
          <p:cNvSpPr txBox="1"/>
          <p:nvPr/>
        </p:nvSpPr>
        <p:spPr>
          <a:xfrm>
            <a:off x="298807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rungs of the ladder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C243B0CA-2B33-5BDF-2C23-AD7155D8D004}"/>
              </a:ext>
            </a:extLst>
          </p:cNvPr>
          <p:cNvCxnSpPr>
            <a:cxnSpLocks/>
          </p:cNvCxnSpPr>
          <p:nvPr/>
        </p:nvCxnSpPr>
        <p:spPr>
          <a:xfrm flipV="1">
            <a:off x="354770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F4822E6-7D4A-112C-2809-3FFCE9498EF0}"/>
              </a:ext>
            </a:extLst>
          </p:cNvPr>
          <p:cNvSpPr txBox="1"/>
          <p:nvPr/>
        </p:nvSpPr>
        <p:spPr>
          <a:xfrm>
            <a:off x="112475" y="6164247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1855524D-01B0-CE45-BDFD-2639169CFC8C}"/>
                  </a:ext>
                </a:extLst>
              </p:cNvPr>
              <p:cNvSpPr txBox="1"/>
              <p:nvPr/>
            </p:nvSpPr>
            <p:spPr>
              <a:xfrm>
                <a:off x="354770" y="2701720"/>
                <a:ext cx="5339546" cy="1669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(observations)</a:t>
                </a: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+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(interventions)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1855524D-01B0-CE45-BDFD-2639169CF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70" y="2701720"/>
                <a:ext cx="5339546" cy="1669688"/>
              </a:xfrm>
              <a:prstGeom prst="rect">
                <a:avLst/>
              </a:prstGeom>
              <a:blipFill>
                <a:blip r:embed="rId3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Graphic 46" descr="Network outline">
            <a:extLst>
              <a:ext uri="{FF2B5EF4-FFF2-40B4-BE49-F238E27FC236}">
                <a16:creationId xmlns:a16="http://schemas.microsoft.com/office/drawing/2014/main" id="{5E0CD0B4-943D-501C-1548-0DD8CC1B5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3686" y="3098699"/>
            <a:ext cx="914400" cy="914400"/>
          </a:xfrm>
          <a:prstGeom prst="rect">
            <a:avLst/>
          </a:prstGeom>
        </p:spPr>
      </p:pic>
      <p:sp>
        <p:nvSpPr>
          <p:cNvPr id="54" name="Szövegdoboz 3">
            <a:extLst>
              <a:ext uri="{FF2B5EF4-FFF2-40B4-BE49-F238E27FC236}">
                <a16:creationId xmlns:a16="http://schemas.microsoft.com/office/drawing/2014/main" id="{7AE3FD27-19EE-6353-4A8F-1BACAF5ABE8F}"/>
              </a:ext>
            </a:extLst>
          </p:cNvPr>
          <p:cNvSpPr txBox="1"/>
          <p:nvPr/>
        </p:nvSpPr>
        <p:spPr>
          <a:xfrm>
            <a:off x="6749432" y="2831433"/>
            <a:ext cx="5339546" cy="9557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Rung 1: modeling chest X-Rays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Rung 2: </a:t>
            </a:r>
          </a:p>
        </p:txBody>
      </p:sp>
      <p:sp>
        <p:nvSpPr>
          <p:cNvPr id="55" name="Szövegdoboz 3">
            <a:extLst>
              <a:ext uri="{FF2B5EF4-FFF2-40B4-BE49-F238E27FC236}">
                <a16:creationId xmlns:a16="http://schemas.microsoft.com/office/drawing/2014/main" id="{A4E5E4D2-0FBD-FA75-14F8-CBCB0B1B8766}"/>
              </a:ext>
            </a:extLst>
          </p:cNvPr>
          <p:cNvSpPr txBox="1"/>
          <p:nvPr/>
        </p:nvSpPr>
        <p:spPr>
          <a:xfrm>
            <a:off x="8367596" y="3446248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56" name="Szövegdoboz 3">
            <a:extLst>
              <a:ext uri="{FF2B5EF4-FFF2-40B4-BE49-F238E27FC236}">
                <a16:creationId xmlns:a16="http://schemas.microsoft.com/office/drawing/2014/main" id="{29AAE329-3E90-B3D7-3B08-FB5A5EE5FDD7}"/>
              </a:ext>
            </a:extLst>
          </p:cNvPr>
          <p:cNvSpPr txBox="1"/>
          <p:nvPr/>
        </p:nvSpPr>
        <p:spPr>
          <a:xfrm>
            <a:off x="9936004" y="3446248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147773A-EDAC-38DF-B64A-5DDE49F8F8F5}"/>
              </a:ext>
            </a:extLst>
          </p:cNvPr>
          <p:cNvCxnSpPr>
            <a:cxnSpLocks/>
          </p:cNvCxnSpPr>
          <p:nvPr/>
        </p:nvCxnSpPr>
        <p:spPr>
          <a:xfrm>
            <a:off x="9225493" y="3611958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94D62848-8708-2FE6-51C4-20B6B77C8D3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Szövegdoboz 6">
            <a:extLst>
              <a:ext uri="{FF2B5EF4-FFF2-40B4-BE49-F238E27FC236}">
                <a16:creationId xmlns:a16="http://schemas.microsoft.com/office/drawing/2014/main" id="{19B69AB5-3F44-EAEB-6F8F-378D31BFE527}"/>
              </a:ext>
            </a:extLst>
          </p:cNvPr>
          <p:cNvSpPr txBox="1"/>
          <p:nvPr/>
        </p:nvSpPr>
        <p:spPr>
          <a:xfrm>
            <a:off x="6734776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Examples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DEB2C685-E5FC-1661-1DF4-F4ECEFFA9412}"/>
              </a:ext>
            </a:extLst>
          </p:cNvPr>
          <p:cNvCxnSpPr>
            <a:cxnSpLocks/>
          </p:cNvCxnSpPr>
          <p:nvPr/>
        </p:nvCxnSpPr>
        <p:spPr>
          <a:xfrm flipV="1">
            <a:off x="6790739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924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DA6D1-2D53-EAAD-C29F-72FAA3716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4E0F3FE-A89D-C876-42B8-D2EDE0AB615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Pearl’s Causal Ladder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FE71DF0E-BC95-DAC4-3780-3C080618FD06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4A2416F2-161D-53DF-7991-64FD1A6C64D7}"/>
              </a:ext>
            </a:extLst>
          </p:cNvPr>
          <p:cNvSpPr txBox="1"/>
          <p:nvPr/>
        </p:nvSpPr>
        <p:spPr>
          <a:xfrm>
            <a:off x="298807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rungs of the ladder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CC3A147D-2F0E-7B88-BD4A-E144D06B9DBF}"/>
              </a:ext>
            </a:extLst>
          </p:cNvPr>
          <p:cNvCxnSpPr>
            <a:cxnSpLocks/>
          </p:cNvCxnSpPr>
          <p:nvPr/>
        </p:nvCxnSpPr>
        <p:spPr>
          <a:xfrm flipV="1">
            <a:off x="354770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A172AA4-CFEE-EADA-EC07-CE790321C081}"/>
              </a:ext>
            </a:extLst>
          </p:cNvPr>
          <p:cNvSpPr txBox="1"/>
          <p:nvPr/>
        </p:nvSpPr>
        <p:spPr>
          <a:xfrm>
            <a:off x="112475" y="6164247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9FDDC7CD-72A8-8FEC-09C0-C670D5D9A368}"/>
                  </a:ext>
                </a:extLst>
              </p:cNvPr>
              <p:cNvSpPr txBox="1"/>
              <p:nvPr/>
            </p:nvSpPr>
            <p:spPr>
              <a:xfrm>
                <a:off x="354770" y="2701720"/>
                <a:ext cx="5339546" cy="2257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(observations)</a:t>
                </a: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+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(interventions)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3: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+	       + SEM    </a:t>
                </a:r>
                <a:r>
                  <a:rPr lang="en-US" sz="1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(counterfactuals)</a:t>
                </a:r>
                <a:endParaRPr lang="en-US" sz="14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9FDDC7CD-72A8-8FEC-09C0-C670D5D9A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70" y="2701720"/>
                <a:ext cx="5339546" cy="2257477"/>
              </a:xfrm>
              <a:prstGeom prst="rect">
                <a:avLst/>
              </a:prstGeom>
              <a:blipFill>
                <a:blip r:embed="rId3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Graphic 46" descr="Network outline">
            <a:extLst>
              <a:ext uri="{FF2B5EF4-FFF2-40B4-BE49-F238E27FC236}">
                <a16:creationId xmlns:a16="http://schemas.microsoft.com/office/drawing/2014/main" id="{AA64601B-39E0-15A5-9BF2-D36E5BBFB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3686" y="3098699"/>
            <a:ext cx="914400" cy="914400"/>
          </a:xfrm>
          <a:prstGeom prst="rect">
            <a:avLst/>
          </a:prstGeom>
        </p:spPr>
      </p:pic>
      <p:pic>
        <p:nvPicPr>
          <p:cNvPr id="48" name="Graphic 47" descr="Network outline">
            <a:extLst>
              <a:ext uri="{FF2B5EF4-FFF2-40B4-BE49-F238E27FC236}">
                <a16:creationId xmlns:a16="http://schemas.microsoft.com/office/drawing/2014/main" id="{85E53C6B-035C-D691-86DD-43B29901B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9741" y="3861708"/>
            <a:ext cx="914400" cy="914400"/>
          </a:xfrm>
          <a:prstGeom prst="rect">
            <a:avLst/>
          </a:prstGeom>
        </p:spPr>
      </p:pic>
      <p:sp>
        <p:nvSpPr>
          <p:cNvPr id="54" name="Szövegdoboz 3">
            <a:extLst>
              <a:ext uri="{FF2B5EF4-FFF2-40B4-BE49-F238E27FC236}">
                <a16:creationId xmlns:a16="http://schemas.microsoft.com/office/drawing/2014/main" id="{C359151C-7D21-AEF7-3253-6215771045A8}"/>
              </a:ext>
            </a:extLst>
          </p:cNvPr>
          <p:cNvSpPr txBox="1"/>
          <p:nvPr/>
        </p:nvSpPr>
        <p:spPr>
          <a:xfrm>
            <a:off x="6749432" y="2831433"/>
            <a:ext cx="5339546" cy="9557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Rung 1: modeling chest X-Rays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Rung 2: </a:t>
            </a:r>
          </a:p>
        </p:txBody>
      </p:sp>
      <p:sp>
        <p:nvSpPr>
          <p:cNvPr id="55" name="Szövegdoboz 3">
            <a:extLst>
              <a:ext uri="{FF2B5EF4-FFF2-40B4-BE49-F238E27FC236}">
                <a16:creationId xmlns:a16="http://schemas.microsoft.com/office/drawing/2014/main" id="{FC47B578-7C19-BE96-B1BA-13D6334D64F2}"/>
              </a:ext>
            </a:extLst>
          </p:cNvPr>
          <p:cNvSpPr txBox="1"/>
          <p:nvPr/>
        </p:nvSpPr>
        <p:spPr>
          <a:xfrm>
            <a:off x="8367596" y="3446248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56" name="Szövegdoboz 3">
            <a:extLst>
              <a:ext uri="{FF2B5EF4-FFF2-40B4-BE49-F238E27FC236}">
                <a16:creationId xmlns:a16="http://schemas.microsoft.com/office/drawing/2014/main" id="{766F6D5A-973A-F339-DBD2-361C039E06BF}"/>
              </a:ext>
            </a:extLst>
          </p:cNvPr>
          <p:cNvSpPr txBox="1"/>
          <p:nvPr/>
        </p:nvSpPr>
        <p:spPr>
          <a:xfrm>
            <a:off x="9936004" y="3446248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C549828-17CC-19F9-4A90-89E32BFD353D}"/>
              </a:ext>
            </a:extLst>
          </p:cNvPr>
          <p:cNvCxnSpPr>
            <a:cxnSpLocks/>
          </p:cNvCxnSpPr>
          <p:nvPr/>
        </p:nvCxnSpPr>
        <p:spPr>
          <a:xfrm>
            <a:off x="9225493" y="3611958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704A41C3-5441-2BC9-BFA9-31311FED7C26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Szövegdoboz 6">
            <a:extLst>
              <a:ext uri="{FF2B5EF4-FFF2-40B4-BE49-F238E27FC236}">
                <a16:creationId xmlns:a16="http://schemas.microsoft.com/office/drawing/2014/main" id="{EE76D98C-C03B-682F-6BE1-B56972B64A74}"/>
              </a:ext>
            </a:extLst>
          </p:cNvPr>
          <p:cNvSpPr txBox="1"/>
          <p:nvPr/>
        </p:nvSpPr>
        <p:spPr>
          <a:xfrm>
            <a:off x="6734776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Examples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6E5C966D-20C5-B9DB-FDCC-EACA7C2457B0}"/>
              </a:ext>
            </a:extLst>
          </p:cNvPr>
          <p:cNvCxnSpPr>
            <a:cxnSpLocks/>
          </p:cNvCxnSpPr>
          <p:nvPr/>
        </p:nvCxnSpPr>
        <p:spPr>
          <a:xfrm flipV="1">
            <a:off x="6790739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017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9F341-51D6-BCFB-723F-8B226DB0A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1D6B5F7-339B-EC0F-2109-CBE32F6F516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Pearl’s Causal Ladder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B105A29-3AFF-70DB-4D8E-5FBC12DCB05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05D5EC59-2FBE-B9C6-7B9F-C8B2CD4C8E8D}"/>
              </a:ext>
            </a:extLst>
          </p:cNvPr>
          <p:cNvSpPr txBox="1"/>
          <p:nvPr/>
        </p:nvSpPr>
        <p:spPr>
          <a:xfrm>
            <a:off x="298807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rungs of the ladder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98888017-6722-411B-E8F6-158A24139D3E}"/>
              </a:ext>
            </a:extLst>
          </p:cNvPr>
          <p:cNvCxnSpPr>
            <a:cxnSpLocks/>
          </p:cNvCxnSpPr>
          <p:nvPr/>
        </p:nvCxnSpPr>
        <p:spPr>
          <a:xfrm flipV="1">
            <a:off x="354770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6BB37D-A36B-615B-BCE5-4B03F28408F3}"/>
              </a:ext>
            </a:extLst>
          </p:cNvPr>
          <p:cNvSpPr txBox="1"/>
          <p:nvPr/>
        </p:nvSpPr>
        <p:spPr>
          <a:xfrm>
            <a:off x="112475" y="6164247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207128A3-761A-1082-3360-80C215B912C9}"/>
                  </a:ext>
                </a:extLst>
              </p:cNvPr>
              <p:cNvSpPr txBox="1"/>
              <p:nvPr/>
            </p:nvSpPr>
            <p:spPr>
              <a:xfrm>
                <a:off x="354770" y="2701720"/>
                <a:ext cx="5339546" cy="2257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(observations)</a:t>
                </a: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+	         	         </a:t>
                </a:r>
                <a:r>
                  <a:rPr lang="en-US" sz="11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(interventions)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3: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</m:sSubSup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+	       + SEM    </a:t>
                </a:r>
                <a:r>
                  <a:rPr lang="en-US" sz="1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(counterfactuals)</a:t>
                </a:r>
                <a:endParaRPr lang="en-US" sz="14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>
          <p:sp>
            <p:nvSpPr>
              <p:cNvPr id="46" name="Szövegdoboz 3">
                <a:extLst>
                  <a:ext uri="{FF2B5EF4-FFF2-40B4-BE49-F238E27FC236}">
                    <a16:creationId xmlns:a16="http://schemas.microsoft.com/office/drawing/2014/main" id="{207128A3-761A-1082-3360-80C215B91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70" y="2701720"/>
                <a:ext cx="5339546" cy="2257477"/>
              </a:xfrm>
              <a:prstGeom prst="rect">
                <a:avLst/>
              </a:prstGeom>
              <a:blipFill>
                <a:blip r:embed="rId3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Graphic 46" descr="Network outline">
            <a:extLst>
              <a:ext uri="{FF2B5EF4-FFF2-40B4-BE49-F238E27FC236}">
                <a16:creationId xmlns:a16="http://schemas.microsoft.com/office/drawing/2014/main" id="{A20BF6B4-CF0B-915E-4028-47C8911F2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3686" y="3098699"/>
            <a:ext cx="914400" cy="914400"/>
          </a:xfrm>
          <a:prstGeom prst="rect">
            <a:avLst/>
          </a:prstGeom>
        </p:spPr>
      </p:pic>
      <p:pic>
        <p:nvPicPr>
          <p:cNvPr id="48" name="Graphic 47" descr="Network outline">
            <a:extLst>
              <a:ext uri="{FF2B5EF4-FFF2-40B4-BE49-F238E27FC236}">
                <a16:creationId xmlns:a16="http://schemas.microsoft.com/office/drawing/2014/main" id="{2ABAAB48-250A-D3B8-6B75-D01A0B4DF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9741" y="386170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4" name="Szövegdoboz 3">
                <a:extLst>
                  <a:ext uri="{FF2B5EF4-FFF2-40B4-BE49-F238E27FC236}">
                    <a16:creationId xmlns:a16="http://schemas.microsoft.com/office/drawing/2014/main" id="{E41F7C58-47E2-E9DB-7E76-EF4D5DEE7E5D}"/>
                  </a:ext>
                </a:extLst>
              </p:cNvPr>
              <p:cNvSpPr txBox="1"/>
              <p:nvPr/>
            </p:nvSpPr>
            <p:spPr>
              <a:xfrm>
                <a:off x="6749432" y="2831433"/>
                <a:ext cx="5339546" cy="234076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1: modeling chest X-Rays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2: 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Rung 3: How does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2000" i="1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4A8FE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𝑐𝑎𝑛𝑐𝑒𝑟</m:t>
                        </m:r>
                      </m:e>
                    </m:d>
                    <m:r>
                      <a:rPr lang="en-US" sz="2000" i="1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change when someone smokes 3 cigarettes less each day?</a:t>
                </a:r>
              </a:p>
            </p:txBody>
          </p:sp>
        </mc:Choice>
        <mc:Fallback>
          <p:sp>
            <p:nvSpPr>
              <p:cNvPr id="54" name="Szövegdoboz 3">
                <a:extLst>
                  <a:ext uri="{FF2B5EF4-FFF2-40B4-BE49-F238E27FC236}">
                    <a16:creationId xmlns:a16="http://schemas.microsoft.com/office/drawing/2014/main" id="{E41F7C58-47E2-E9DB-7E76-EF4D5DEE7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432" y="2831433"/>
                <a:ext cx="5339546" cy="2340769"/>
              </a:xfrm>
              <a:prstGeom prst="rect">
                <a:avLst/>
              </a:prstGeom>
              <a:blipFill>
                <a:blip r:embed="rId6"/>
                <a:stretch>
                  <a:fillRect l="-1188" r="-2138" b="-322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Szövegdoboz 3">
            <a:extLst>
              <a:ext uri="{FF2B5EF4-FFF2-40B4-BE49-F238E27FC236}">
                <a16:creationId xmlns:a16="http://schemas.microsoft.com/office/drawing/2014/main" id="{AA66EE1F-438D-CBE0-2CF9-688926308368}"/>
              </a:ext>
            </a:extLst>
          </p:cNvPr>
          <p:cNvSpPr txBox="1"/>
          <p:nvPr/>
        </p:nvSpPr>
        <p:spPr>
          <a:xfrm>
            <a:off x="8367596" y="3446248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56" name="Szövegdoboz 3">
            <a:extLst>
              <a:ext uri="{FF2B5EF4-FFF2-40B4-BE49-F238E27FC236}">
                <a16:creationId xmlns:a16="http://schemas.microsoft.com/office/drawing/2014/main" id="{D70FA0C8-A66F-6B7C-D1D2-932C9E7B1416}"/>
              </a:ext>
            </a:extLst>
          </p:cNvPr>
          <p:cNvSpPr txBox="1"/>
          <p:nvPr/>
        </p:nvSpPr>
        <p:spPr>
          <a:xfrm>
            <a:off x="9936004" y="3446248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6FFC83C-0AEB-405F-A98A-6B8E64501D74}"/>
              </a:ext>
            </a:extLst>
          </p:cNvPr>
          <p:cNvCxnSpPr>
            <a:cxnSpLocks/>
          </p:cNvCxnSpPr>
          <p:nvPr/>
        </p:nvCxnSpPr>
        <p:spPr>
          <a:xfrm>
            <a:off x="9225493" y="3611958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E05F8F17-E812-1126-347A-DAE5C35D81C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3" name="Szövegdoboz 6">
            <a:extLst>
              <a:ext uri="{FF2B5EF4-FFF2-40B4-BE49-F238E27FC236}">
                <a16:creationId xmlns:a16="http://schemas.microsoft.com/office/drawing/2014/main" id="{2737EAC3-55A0-2EA9-1351-B57E6122489A}"/>
              </a:ext>
            </a:extLst>
          </p:cNvPr>
          <p:cNvSpPr txBox="1"/>
          <p:nvPr/>
        </p:nvSpPr>
        <p:spPr>
          <a:xfrm>
            <a:off x="6734776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Examples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F6250EF6-F9E8-2665-EEB1-11F26670EA99}"/>
              </a:ext>
            </a:extLst>
          </p:cNvPr>
          <p:cNvCxnSpPr>
            <a:cxnSpLocks/>
          </p:cNvCxnSpPr>
          <p:nvPr/>
        </p:nvCxnSpPr>
        <p:spPr>
          <a:xfrm flipV="1">
            <a:off x="6790739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979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AACBD-4988-8B06-197B-9182CC9A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16F3F44-4F5D-44F4-088B-84EF85D8426B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9FC6E9F-0B70-EA95-F97D-9C48581D9EC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586125B0-D9A6-35C2-7557-D581F02769CE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32CFD78E-5000-5E93-A27B-4324ED827717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AC163C31-57DA-51CB-E041-A72DC09A43C7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…and its problems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7365A787-BBD3-0A43-9B22-974CAF7B8B6B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D3A135-B872-4ACF-4B5F-ED5365378ADA}"/>
              </a:ext>
            </a:extLst>
          </p:cNvPr>
          <p:cNvSpPr txBox="1"/>
          <p:nvPr/>
        </p:nvSpPr>
        <p:spPr>
          <a:xfrm>
            <a:off x="112475" y="6164247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Independent Component Analysis.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Xi and Bloem-Reddy: Indeterminacy and Strong Identifiability in Generative Models. AISTATS, 2023.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2009918-8189-7777-F8C9-07A2FDFBDD0A}"/>
              </a:ext>
            </a:extLst>
          </p:cNvPr>
          <p:cNvSpPr/>
          <p:nvPr/>
        </p:nvSpPr>
        <p:spPr>
          <a:xfrm>
            <a:off x="273337" y="3148809"/>
            <a:ext cx="1940663" cy="1681896"/>
          </a:xfrm>
          <a:custGeom>
            <a:avLst/>
            <a:gdLst>
              <a:gd name="connsiteX0" fmla="*/ 882620 w 2427066"/>
              <a:gd name="connsiteY0" fmla="*/ 145 h 1681896"/>
              <a:gd name="connsiteX1" fmla="*/ 117 w 2427066"/>
              <a:gd name="connsiteY1" fmla="*/ 638098 h 1681896"/>
              <a:gd name="connsiteX2" fmla="*/ 935782 w 2427066"/>
              <a:gd name="connsiteY2" fmla="*/ 1669457 h 1681896"/>
              <a:gd name="connsiteX3" fmla="*/ 1956508 w 2427066"/>
              <a:gd name="connsiteY3" fmla="*/ 1169726 h 1681896"/>
              <a:gd name="connsiteX4" fmla="*/ 2381810 w 2427066"/>
              <a:gd name="connsiteY4" fmla="*/ 584936 h 1681896"/>
              <a:gd name="connsiteX5" fmla="*/ 882620 w 2427066"/>
              <a:gd name="connsiteY5" fmla="*/ 145 h 16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7066" h="1681896">
                <a:moveTo>
                  <a:pt x="882620" y="145"/>
                </a:moveTo>
                <a:cubicBezTo>
                  <a:pt x="485671" y="9005"/>
                  <a:pt x="-8743" y="359879"/>
                  <a:pt x="117" y="638098"/>
                </a:cubicBezTo>
                <a:cubicBezTo>
                  <a:pt x="8977" y="916317"/>
                  <a:pt x="609717" y="1580852"/>
                  <a:pt x="935782" y="1669457"/>
                </a:cubicBezTo>
                <a:cubicBezTo>
                  <a:pt x="1261847" y="1758062"/>
                  <a:pt x="1715503" y="1350479"/>
                  <a:pt x="1956508" y="1169726"/>
                </a:cubicBezTo>
                <a:cubicBezTo>
                  <a:pt x="2197513" y="988973"/>
                  <a:pt x="2553703" y="779866"/>
                  <a:pt x="2381810" y="584936"/>
                </a:cubicBezTo>
                <a:cubicBezTo>
                  <a:pt x="2209917" y="390006"/>
                  <a:pt x="1279569" y="-8715"/>
                  <a:pt x="882620" y="145"/>
                </a:cubicBezTo>
                <a:close/>
              </a:path>
            </a:pathLst>
          </a:cu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007C6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39C018-38F6-9150-5D3E-DFE6D3730D18}"/>
                  </a:ext>
                </a:extLst>
              </p:cNvPr>
              <p:cNvSpPr txBox="1"/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39C018-38F6-9150-5D3E-DFE6D3730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blipFill>
                <a:blip r:embed="rId3"/>
                <a:stretch>
                  <a:fillRect l="-40000" r="-12000" b="-2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zövegdoboz 3">
            <a:extLst>
              <a:ext uri="{FF2B5EF4-FFF2-40B4-BE49-F238E27FC236}">
                <a16:creationId xmlns:a16="http://schemas.microsoft.com/office/drawing/2014/main" id="{FB2B1723-732E-1184-1CE5-4FF3A2F31B6C}"/>
              </a:ext>
            </a:extLst>
          </p:cNvPr>
          <p:cNvSpPr txBox="1"/>
          <p:nvPr/>
        </p:nvSpPr>
        <p:spPr>
          <a:xfrm>
            <a:off x="-46152" y="2682140"/>
            <a:ext cx="244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Equivalence class</a:t>
            </a:r>
            <a:endParaRPr lang="en-US" sz="2000" b="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C4DA3381-DB9A-07BE-5E6A-76CED353D0A3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854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D27E6-18BC-F3D8-4CBA-0119396B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57DD48A-DB90-7F15-1D0F-C91592E82A29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3E60A33-DFF4-14B1-1E00-FD506A5B6925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81C859F0-012F-1D10-509D-B884015A1D6F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092EF1E0-633E-42EA-CA3B-674CE0C0F1F8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3A0477F7-F1F7-65D1-AF76-4823C058DF09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…and its problems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2E2637BC-753C-8D1E-8325-CD08069F5D88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538642-9B2A-2FB6-2E27-50217859836A}"/>
              </a:ext>
            </a:extLst>
          </p:cNvPr>
          <p:cNvSpPr txBox="1"/>
          <p:nvPr/>
        </p:nvSpPr>
        <p:spPr>
          <a:xfrm>
            <a:off x="112475" y="6164247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Independent Component Analysis.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Xi and Bloem-Reddy: Indeterminacy and Strong Identifiability in Generative Models. AISTATS, 2023.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E184998-B08B-B6E5-8D1E-30A7C05E55F4}"/>
              </a:ext>
            </a:extLst>
          </p:cNvPr>
          <p:cNvSpPr/>
          <p:nvPr/>
        </p:nvSpPr>
        <p:spPr>
          <a:xfrm>
            <a:off x="273337" y="3148809"/>
            <a:ext cx="1940663" cy="1681896"/>
          </a:xfrm>
          <a:custGeom>
            <a:avLst/>
            <a:gdLst>
              <a:gd name="connsiteX0" fmla="*/ 882620 w 2427066"/>
              <a:gd name="connsiteY0" fmla="*/ 145 h 1681896"/>
              <a:gd name="connsiteX1" fmla="*/ 117 w 2427066"/>
              <a:gd name="connsiteY1" fmla="*/ 638098 h 1681896"/>
              <a:gd name="connsiteX2" fmla="*/ 935782 w 2427066"/>
              <a:gd name="connsiteY2" fmla="*/ 1669457 h 1681896"/>
              <a:gd name="connsiteX3" fmla="*/ 1956508 w 2427066"/>
              <a:gd name="connsiteY3" fmla="*/ 1169726 h 1681896"/>
              <a:gd name="connsiteX4" fmla="*/ 2381810 w 2427066"/>
              <a:gd name="connsiteY4" fmla="*/ 584936 h 1681896"/>
              <a:gd name="connsiteX5" fmla="*/ 882620 w 2427066"/>
              <a:gd name="connsiteY5" fmla="*/ 145 h 16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7066" h="1681896">
                <a:moveTo>
                  <a:pt x="882620" y="145"/>
                </a:moveTo>
                <a:cubicBezTo>
                  <a:pt x="485671" y="9005"/>
                  <a:pt x="-8743" y="359879"/>
                  <a:pt x="117" y="638098"/>
                </a:cubicBezTo>
                <a:cubicBezTo>
                  <a:pt x="8977" y="916317"/>
                  <a:pt x="609717" y="1580852"/>
                  <a:pt x="935782" y="1669457"/>
                </a:cubicBezTo>
                <a:cubicBezTo>
                  <a:pt x="1261847" y="1758062"/>
                  <a:pt x="1715503" y="1350479"/>
                  <a:pt x="1956508" y="1169726"/>
                </a:cubicBezTo>
                <a:cubicBezTo>
                  <a:pt x="2197513" y="988973"/>
                  <a:pt x="2553703" y="779866"/>
                  <a:pt x="2381810" y="584936"/>
                </a:cubicBezTo>
                <a:cubicBezTo>
                  <a:pt x="2209917" y="390006"/>
                  <a:pt x="1279569" y="-8715"/>
                  <a:pt x="882620" y="145"/>
                </a:cubicBezTo>
                <a:close/>
              </a:path>
            </a:pathLst>
          </a:cu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007C6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0598D5-B789-A297-1560-5647545E7408}"/>
                  </a:ext>
                </a:extLst>
              </p:cNvPr>
              <p:cNvSpPr txBox="1"/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0598D5-B789-A297-1560-5647545E7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blipFill>
                <a:blip r:embed="rId3"/>
                <a:stretch>
                  <a:fillRect l="-40000" r="-12000" b="-2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DAF0BC0-477B-B108-9DF3-E844318E8A54}"/>
              </a:ext>
            </a:extLst>
          </p:cNvPr>
          <p:cNvGrpSpPr/>
          <p:nvPr/>
        </p:nvGrpSpPr>
        <p:grpSpPr>
          <a:xfrm>
            <a:off x="1371770" y="3547232"/>
            <a:ext cx="310359" cy="424735"/>
            <a:chOff x="2247013" y="3121223"/>
            <a:chExt cx="310359" cy="424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3CEE3B6-D73D-D6BA-A5C1-7C4C54C3F241}"/>
                    </a:ext>
                  </a:extLst>
                </p:cNvPr>
                <p:cNvSpPr txBox="1"/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8FE3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3CEE3B6-D73D-D6BA-A5C1-7C4C54C3F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32000" b="-16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7F877F3-C309-33EC-EDFD-8398DB8EB2B9}"/>
                </a:ext>
              </a:extLst>
            </p:cNvPr>
            <p:cNvSpPr/>
            <p:nvPr/>
          </p:nvSpPr>
          <p:spPr>
            <a:xfrm>
              <a:off x="2343714" y="3429000"/>
              <a:ext cx="116958" cy="116958"/>
            </a:xfrm>
            <a:prstGeom prst="ellipse">
              <a:avLst/>
            </a:prstGeom>
            <a:solidFill>
              <a:srgbClr val="4A8FE3"/>
            </a:solidFill>
            <a:ln>
              <a:solidFill>
                <a:srgbClr val="4A8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rgbClr val="007C6B"/>
                </a:solidFill>
              </a:endParaRPr>
            </a:p>
          </p:txBody>
        </p:sp>
      </p:grpSp>
      <p:sp>
        <p:nvSpPr>
          <p:cNvPr id="45" name="Szövegdoboz 3">
            <a:extLst>
              <a:ext uri="{FF2B5EF4-FFF2-40B4-BE49-F238E27FC236}">
                <a16:creationId xmlns:a16="http://schemas.microsoft.com/office/drawing/2014/main" id="{CFA58110-08D5-6076-55DC-5E03C9D51167}"/>
              </a:ext>
            </a:extLst>
          </p:cNvPr>
          <p:cNvSpPr txBox="1"/>
          <p:nvPr/>
        </p:nvSpPr>
        <p:spPr>
          <a:xfrm>
            <a:off x="-46152" y="2682140"/>
            <a:ext cx="244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Equivalence class</a:t>
            </a:r>
            <a:endParaRPr lang="en-US" sz="2000" b="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495974BF-F4E9-2055-0182-9C43AC3351D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319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1F057-6EF3-1139-D84D-D369360A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62AF389-0932-AA8E-980E-6EAEA3945E8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A2EC99E-823D-86F2-3A61-90495229CA0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0E43CA7D-2DF3-88FA-2B10-C58FC1F8F250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93992B8E-D3F7-47B2-066D-665BC4290A5D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7794760D-18AF-6CF4-3E45-8B8F32A6F9BA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…and its problems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B5172549-27C3-E28A-52A3-B11505A67915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CE3F82F-D671-5D44-3677-74A4F469F605}"/>
              </a:ext>
            </a:extLst>
          </p:cNvPr>
          <p:cNvSpPr txBox="1"/>
          <p:nvPr/>
        </p:nvSpPr>
        <p:spPr>
          <a:xfrm>
            <a:off x="112475" y="6164247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Independent Component Analysis.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Xi and Bloem-Reddy: Indeterminacy and Strong Identifiability in Generative Models. AISTATS, 2023.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7DD13F8-2207-98FA-8583-4E83BEA8DF8D}"/>
              </a:ext>
            </a:extLst>
          </p:cNvPr>
          <p:cNvSpPr/>
          <p:nvPr/>
        </p:nvSpPr>
        <p:spPr>
          <a:xfrm>
            <a:off x="273337" y="3148809"/>
            <a:ext cx="1940663" cy="1681896"/>
          </a:xfrm>
          <a:custGeom>
            <a:avLst/>
            <a:gdLst>
              <a:gd name="connsiteX0" fmla="*/ 882620 w 2427066"/>
              <a:gd name="connsiteY0" fmla="*/ 145 h 1681896"/>
              <a:gd name="connsiteX1" fmla="*/ 117 w 2427066"/>
              <a:gd name="connsiteY1" fmla="*/ 638098 h 1681896"/>
              <a:gd name="connsiteX2" fmla="*/ 935782 w 2427066"/>
              <a:gd name="connsiteY2" fmla="*/ 1669457 h 1681896"/>
              <a:gd name="connsiteX3" fmla="*/ 1956508 w 2427066"/>
              <a:gd name="connsiteY3" fmla="*/ 1169726 h 1681896"/>
              <a:gd name="connsiteX4" fmla="*/ 2381810 w 2427066"/>
              <a:gd name="connsiteY4" fmla="*/ 584936 h 1681896"/>
              <a:gd name="connsiteX5" fmla="*/ 882620 w 2427066"/>
              <a:gd name="connsiteY5" fmla="*/ 145 h 16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7066" h="1681896">
                <a:moveTo>
                  <a:pt x="882620" y="145"/>
                </a:moveTo>
                <a:cubicBezTo>
                  <a:pt x="485671" y="9005"/>
                  <a:pt x="-8743" y="359879"/>
                  <a:pt x="117" y="638098"/>
                </a:cubicBezTo>
                <a:cubicBezTo>
                  <a:pt x="8977" y="916317"/>
                  <a:pt x="609717" y="1580852"/>
                  <a:pt x="935782" y="1669457"/>
                </a:cubicBezTo>
                <a:cubicBezTo>
                  <a:pt x="1261847" y="1758062"/>
                  <a:pt x="1715503" y="1350479"/>
                  <a:pt x="1956508" y="1169726"/>
                </a:cubicBezTo>
                <a:cubicBezTo>
                  <a:pt x="2197513" y="988973"/>
                  <a:pt x="2553703" y="779866"/>
                  <a:pt x="2381810" y="584936"/>
                </a:cubicBezTo>
                <a:cubicBezTo>
                  <a:pt x="2209917" y="390006"/>
                  <a:pt x="1279569" y="-8715"/>
                  <a:pt x="882620" y="145"/>
                </a:cubicBezTo>
                <a:close/>
              </a:path>
            </a:pathLst>
          </a:cu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007C6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A61061-2422-71E5-F0D9-F9B321406148}"/>
                  </a:ext>
                </a:extLst>
              </p:cNvPr>
              <p:cNvSpPr txBox="1"/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A61061-2422-71E5-F0D9-F9B32140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blipFill>
                <a:blip r:embed="rId3"/>
                <a:stretch>
                  <a:fillRect l="-40000" r="-12000" b="-2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EFCFD32-14B8-5858-E082-C120A6C18BCC}"/>
              </a:ext>
            </a:extLst>
          </p:cNvPr>
          <p:cNvGrpSpPr/>
          <p:nvPr/>
        </p:nvGrpSpPr>
        <p:grpSpPr>
          <a:xfrm>
            <a:off x="786810" y="4196325"/>
            <a:ext cx="310359" cy="431401"/>
            <a:chOff x="1463683" y="3619604"/>
            <a:chExt cx="310359" cy="431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D7418E1-BA8F-8DB8-9CE2-1E2E514E64FD}"/>
                    </a:ext>
                  </a:extLst>
                </p:cNvPr>
                <p:cNvSpPr txBox="1"/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D1011B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D7418E1-BA8F-8DB8-9CE2-1E2E514E6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6923" b="-16000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9612D24-AFFC-DAAB-7EF6-B4CA01B59D7E}"/>
                </a:ext>
              </a:extLst>
            </p:cNvPr>
            <p:cNvSpPr/>
            <p:nvPr/>
          </p:nvSpPr>
          <p:spPr>
            <a:xfrm>
              <a:off x="1543736" y="3934047"/>
              <a:ext cx="116958" cy="116958"/>
            </a:xfrm>
            <a:prstGeom prst="ellipse">
              <a:avLst/>
            </a:prstGeom>
            <a:solidFill>
              <a:srgbClr val="D1011B"/>
            </a:solidFill>
            <a:ln>
              <a:solidFill>
                <a:srgbClr val="D1011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428FB66-E22E-AFF7-EDB8-9B2C543EC4C0}"/>
              </a:ext>
            </a:extLst>
          </p:cNvPr>
          <p:cNvGrpSpPr/>
          <p:nvPr/>
        </p:nvGrpSpPr>
        <p:grpSpPr>
          <a:xfrm>
            <a:off x="1371770" y="3547232"/>
            <a:ext cx="310359" cy="424735"/>
            <a:chOff x="2247013" y="3121223"/>
            <a:chExt cx="310359" cy="424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7DE7611-189E-A563-08EB-6ECE1F3B6886}"/>
                    </a:ext>
                  </a:extLst>
                </p:cNvPr>
                <p:cNvSpPr txBox="1"/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8FE3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7DE7611-189E-A563-08EB-6ECE1F3B6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2000" b="-16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24F0AFD-84B7-F1BF-5C85-20EC15CD010F}"/>
                </a:ext>
              </a:extLst>
            </p:cNvPr>
            <p:cNvSpPr/>
            <p:nvPr/>
          </p:nvSpPr>
          <p:spPr>
            <a:xfrm>
              <a:off x="2343714" y="3429000"/>
              <a:ext cx="116958" cy="116958"/>
            </a:xfrm>
            <a:prstGeom prst="ellipse">
              <a:avLst/>
            </a:prstGeom>
            <a:solidFill>
              <a:srgbClr val="4A8FE3"/>
            </a:solidFill>
            <a:ln>
              <a:solidFill>
                <a:srgbClr val="4A8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rgbClr val="007C6B"/>
                </a:solidFill>
              </a:endParaRPr>
            </a:p>
          </p:txBody>
        </p:sp>
      </p:grpSp>
      <p:sp>
        <p:nvSpPr>
          <p:cNvPr id="45" name="Szövegdoboz 3">
            <a:extLst>
              <a:ext uri="{FF2B5EF4-FFF2-40B4-BE49-F238E27FC236}">
                <a16:creationId xmlns:a16="http://schemas.microsoft.com/office/drawing/2014/main" id="{553CEED8-DB36-21CB-10A1-CC097BEBB83E}"/>
              </a:ext>
            </a:extLst>
          </p:cNvPr>
          <p:cNvSpPr txBox="1"/>
          <p:nvPr/>
        </p:nvSpPr>
        <p:spPr>
          <a:xfrm>
            <a:off x="-46152" y="2682140"/>
            <a:ext cx="244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Equivalence class</a:t>
            </a:r>
            <a:endParaRPr lang="en-US" sz="2000" b="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F9CF1113-B06B-053A-7AB6-1D2046E7AD7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030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2961E-207C-D5A0-4697-B317184D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ABE6955E-D594-087A-FBA5-77A6B787A5A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038E63B-9E2A-58E9-8A47-3FDB38FA5676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A40F6D0F-80DD-1C69-840D-DEB4ED279E32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B6229D57-A9CD-3334-B086-937531F08CA7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3478F8A3-0D87-8635-10B1-B18426A9B788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…and its problems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9767BB5B-F918-D563-781B-DC60FC7634B9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897764-49BA-9E76-4002-648A5A88A44D}"/>
              </a:ext>
            </a:extLst>
          </p:cNvPr>
          <p:cNvSpPr txBox="1"/>
          <p:nvPr/>
        </p:nvSpPr>
        <p:spPr>
          <a:xfrm>
            <a:off x="112475" y="6164247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Independent Component Analysis.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Xi and Bloem-Reddy: Indeterminacy and Strong Identifiability in Generative Models. AISTATS, 2023.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EBADD28-29FE-C7BE-5C69-177B654FB623}"/>
              </a:ext>
            </a:extLst>
          </p:cNvPr>
          <p:cNvSpPr/>
          <p:nvPr/>
        </p:nvSpPr>
        <p:spPr>
          <a:xfrm>
            <a:off x="273337" y="3148809"/>
            <a:ext cx="1940663" cy="1681896"/>
          </a:xfrm>
          <a:custGeom>
            <a:avLst/>
            <a:gdLst>
              <a:gd name="connsiteX0" fmla="*/ 882620 w 2427066"/>
              <a:gd name="connsiteY0" fmla="*/ 145 h 1681896"/>
              <a:gd name="connsiteX1" fmla="*/ 117 w 2427066"/>
              <a:gd name="connsiteY1" fmla="*/ 638098 h 1681896"/>
              <a:gd name="connsiteX2" fmla="*/ 935782 w 2427066"/>
              <a:gd name="connsiteY2" fmla="*/ 1669457 h 1681896"/>
              <a:gd name="connsiteX3" fmla="*/ 1956508 w 2427066"/>
              <a:gd name="connsiteY3" fmla="*/ 1169726 h 1681896"/>
              <a:gd name="connsiteX4" fmla="*/ 2381810 w 2427066"/>
              <a:gd name="connsiteY4" fmla="*/ 584936 h 1681896"/>
              <a:gd name="connsiteX5" fmla="*/ 882620 w 2427066"/>
              <a:gd name="connsiteY5" fmla="*/ 145 h 16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7066" h="1681896">
                <a:moveTo>
                  <a:pt x="882620" y="145"/>
                </a:moveTo>
                <a:cubicBezTo>
                  <a:pt x="485671" y="9005"/>
                  <a:pt x="-8743" y="359879"/>
                  <a:pt x="117" y="638098"/>
                </a:cubicBezTo>
                <a:cubicBezTo>
                  <a:pt x="8977" y="916317"/>
                  <a:pt x="609717" y="1580852"/>
                  <a:pt x="935782" y="1669457"/>
                </a:cubicBezTo>
                <a:cubicBezTo>
                  <a:pt x="1261847" y="1758062"/>
                  <a:pt x="1715503" y="1350479"/>
                  <a:pt x="1956508" y="1169726"/>
                </a:cubicBezTo>
                <a:cubicBezTo>
                  <a:pt x="2197513" y="988973"/>
                  <a:pt x="2553703" y="779866"/>
                  <a:pt x="2381810" y="584936"/>
                </a:cubicBezTo>
                <a:cubicBezTo>
                  <a:pt x="2209917" y="390006"/>
                  <a:pt x="1279569" y="-8715"/>
                  <a:pt x="882620" y="145"/>
                </a:cubicBezTo>
                <a:close/>
              </a:path>
            </a:pathLst>
          </a:cu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007C6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51087A-8842-5C86-8AE2-D536ED9886D9}"/>
                  </a:ext>
                </a:extLst>
              </p:cNvPr>
              <p:cNvSpPr txBox="1"/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51087A-8842-5C86-8AE2-D536ED988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blipFill>
                <a:blip r:embed="rId3"/>
                <a:stretch>
                  <a:fillRect l="-40000" r="-12000" b="-2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F4E0A72-3279-9214-D1F9-F313F36369ED}"/>
              </a:ext>
            </a:extLst>
          </p:cNvPr>
          <p:cNvGrpSpPr/>
          <p:nvPr/>
        </p:nvGrpSpPr>
        <p:grpSpPr>
          <a:xfrm>
            <a:off x="786810" y="4196325"/>
            <a:ext cx="310359" cy="431401"/>
            <a:chOff x="1463683" y="3619604"/>
            <a:chExt cx="310359" cy="431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A9F526E-5D23-CC95-9CC4-903A6F15ECF6}"/>
                    </a:ext>
                  </a:extLst>
                </p:cNvPr>
                <p:cNvSpPr txBox="1"/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D1011B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A9F526E-5D23-CC95-9CC4-903A6F15EC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6923" b="-16000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638DD1F-4900-7151-E465-DC6224095AA4}"/>
                </a:ext>
              </a:extLst>
            </p:cNvPr>
            <p:cNvSpPr/>
            <p:nvPr/>
          </p:nvSpPr>
          <p:spPr>
            <a:xfrm>
              <a:off x="1543736" y="3934047"/>
              <a:ext cx="116958" cy="116958"/>
            </a:xfrm>
            <a:prstGeom prst="ellipse">
              <a:avLst/>
            </a:prstGeom>
            <a:solidFill>
              <a:srgbClr val="D1011B"/>
            </a:solidFill>
            <a:ln>
              <a:solidFill>
                <a:srgbClr val="D1011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D6C925-F42F-B25E-0A36-D55E22369999}"/>
              </a:ext>
            </a:extLst>
          </p:cNvPr>
          <p:cNvGrpSpPr/>
          <p:nvPr/>
        </p:nvGrpSpPr>
        <p:grpSpPr>
          <a:xfrm>
            <a:off x="1371770" y="3547232"/>
            <a:ext cx="310359" cy="424735"/>
            <a:chOff x="2247013" y="3121223"/>
            <a:chExt cx="310359" cy="424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1FC776A-AF98-DB35-F891-BF093CA5DD56}"/>
                    </a:ext>
                  </a:extLst>
                </p:cNvPr>
                <p:cNvSpPr txBox="1"/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8FE3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1FC776A-AF98-DB35-F891-BF093CA5DD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2000" b="-16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011CCAB-55B1-4BE0-27BE-9120F9FBDA17}"/>
                </a:ext>
              </a:extLst>
            </p:cNvPr>
            <p:cNvSpPr/>
            <p:nvPr/>
          </p:nvSpPr>
          <p:spPr>
            <a:xfrm>
              <a:off x="2343714" y="3429000"/>
              <a:ext cx="116958" cy="116958"/>
            </a:xfrm>
            <a:prstGeom prst="ellipse">
              <a:avLst/>
            </a:prstGeom>
            <a:solidFill>
              <a:srgbClr val="4A8FE3"/>
            </a:solidFill>
            <a:ln>
              <a:solidFill>
                <a:srgbClr val="4A8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rgbClr val="007C6B"/>
                </a:solidFill>
              </a:endParaRP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8DBB79-2650-310C-44D1-5FD6CE12A8C6}"/>
              </a:ext>
            </a:extLst>
          </p:cNvPr>
          <p:cNvCxnSpPr>
            <a:cxnSpLocks/>
          </p:cNvCxnSpPr>
          <p:nvPr/>
        </p:nvCxnSpPr>
        <p:spPr>
          <a:xfrm>
            <a:off x="1682129" y="3916018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835F379-A33F-7738-F9E8-0A3F16A4C371}"/>
              </a:ext>
            </a:extLst>
          </p:cNvPr>
          <p:cNvCxnSpPr>
            <a:cxnSpLocks/>
          </p:cNvCxnSpPr>
          <p:nvPr/>
        </p:nvCxnSpPr>
        <p:spPr>
          <a:xfrm flipV="1">
            <a:off x="1097169" y="4181793"/>
            <a:ext cx="2947991" cy="328975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A1F39E-7E95-F97C-A5C2-B0FDEE65D7F5}"/>
                  </a:ext>
                </a:extLst>
              </p:cNvPr>
              <p:cNvSpPr txBox="1"/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i="1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7C6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A1F39E-7E95-F97C-A5C2-B0FDEE65D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blipFill>
                <a:blip r:embed="rId6"/>
                <a:stretch>
                  <a:fillRect l="-3460" b="-1363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zövegdoboz 3">
            <a:extLst>
              <a:ext uri="{FF2B5EF4-FFF2-40B4-BE49-F238E27FC236}">
                <a16:creationId xmlns:a16="http://schemas.microsoft.com/office/drawing/2014/main" id="{0DBA8786-4762-1D6B-DC5D-51D35C87E844}"/>
              </a:ext>
            </a:extLst>
          </p:cNvPr>
          <p:cNvSpPr txBox="1"/>
          <p:nvPr/>
        </p:nvSpPr>
        <p:spPr>
          <a:xfrm>
            <a:off x="-46152" y="2682140"/>
            <a:ext cx="244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Equivalence class</a:t>
            </a:r>
            <a:endParaRPr lang="en-US" sz="2000" b="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CDE4ADCA-AE93-69C0-A507-355B806F71C1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933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FA088-3BB4-7634-87EE-FE8FDA7E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DDA2659-DB84-D612-DCAB-355F92004B4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F140329C-3D91-2B9B-21A9-B513B009910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F843818E-6594-050D-F233-E4BF7DCB9BF7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EAFFD80A-22D4-41C2-0332-A4E6789DEA0D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E6CF9649-1445-378A-DC6D-8DFB34FF24E9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…and its problems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91C982FF-B41F-4CF1-7FBC-A6B2EAB1C468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6236B8C-0777-2968-03EC-1D37198844ED}"/>
              </a:ext>
            </a:extLst>
          </p:cNvPr>
          <p:cNvSpPr/>
          <p:nvPr/>
        </p:nvSpPr>
        <p:spPr>
          <a:xfrm>
            <a:off x="553043" y="5168516"/>
            <a:ext cx="481123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Identifiability = Data + Model constraints</a:t>
            </a:r>
            <a:endParaRPr lang="en-DE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EA8789-D6D2-FC71-3DBF-F1B37567A904}"/>
              </a:ext>
            </a:extLst>
          </p:cNvPr>
          <p:cNvSpPr txBox="1"/>
          <p:nvPr/>
        </p:nvSpPr>
        <p:spPr>
          <a:xfrm>
            <a:off x="112475" y="6164247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Independent Component Analysis.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Xi and Bloem-Reddy: Indeterminacy and Strong Identifiability in Generative Models. AISTATS, 2023.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3608367-F6A2-9EB7-E9CF-496C2D2F5AB8}"/>
              </a:ext>
            </a:extLst>
          </p:cNvPr>
          <p:cNvSpPr/>
          <p:nvPr/>
        </p:nvSpPr>
        <p:spPr>
          <a:xfrm>
            <a:off x="273337" y="3148809"/>
            <a:ext cx="1940663" cy="1681896"/>
          </a:xfrm>
          <a:custGeom>
            <a:avLst/>
            <a:gdLst>
              <a:gd name="connsiteX0" fmla="*/ 882620 w 2427066"/>
              <a:gd name="connsiteY0" fmla="*/ 145 h 1681896"/>
              <a:gd name="connsiteX1" fmla="*/ 117 w 2427066"/>
              <a:gd name="connsiteY1" fmla="*/ 638098 h 1681896"/>
              <a:gd name="connsiteX2" fmla="*/ 935782 w 2427066"/>
              <a:gd name="connsiteY2" fmla="*/ 1669457 h 1681896"/>
              <a:gd name="connsiteX3" fmla="*/ 1956508 w 2427066"/>
              <a:gd name="connsiteY3" fmla="*/ 1169726 h 1681896"/>
              <a:gd name="connsiteX4" fmla="*/ 2381810 w 2427066"/>
              <a:gd name="connsiteY4" fmla="*/ 584936 h 1681896"/>
              <a:gd name="connsiteX5" fmla="*/ 882620 w 2427066"/>
              <a:gd name="connsiteY5" fmla="*/ 145 h 16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7066" h="1681896">
                <a:moveTo>
                  <a:pt x="882620" y="145"/>
                </a:moveTo>
                <a:cubicBezTo>
                  <a:pt x="485671" y="9005"/>
                  <a:pt x="-8743" y="359879"/>
                  <a:pt x="117" y="638098"/>
                </a:cubicBezTo>
                <a:cubicBezTo>
                  <a:pt x="8977" y="916317"/>
                  <a:pt x="609717" y="1580852"/>
                  <a:pt x="935782" y="1669457"/>
                </a:cubicBezTo>
                <a:cubicBezTo>
                  <a:pt x="1261847" y="1758062"/>
                  <a:pt x="1715503" y="1350479"/>
                  <a:pt x="1956508" y="1169726"/>
                </a:cubicBezTo>
                <a:cubicBezTo>
                  <a:pt x="2197513" y="988973"/>
                  <a:pt x="2553703" y="779866"/>
                  <a:pt x="2381810" y="584936"/>
                </a:cubicBezTo>
                <a:cubicBezTo>
                  <a:pt x="2209917" y="390006"/>
                  <a:pt x="1279569" y="-8715"/>
                  <a:pt x="882620" y="145"/>
                </a:cubicBezTo>
                <a:close/>
              </a:path>
            </a:pathLst>
          </a:cu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007C6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FE2935-EAE2-5443-505A-A29F2B909EFD}"/>
                  </a:ext>
                </a:extLst>
              </p:cNvPr>
              <p:cNvSpPr txBox="1"/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FE2935-EAE2-5443-505A-A29F2B909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blipFill>
                <a:blip r:embed="rId3"/>
                <a:stretch>
                  <a:fillRect l="-40000" r="-12000" b="-2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7048106-A69E-77BD-DAFF-56C781277E6C}"/>
              </a:ext>
            </a:extLst>
          </p:cNvPr>
          <p:cNvGrpSpPr/>
          <p:nvPr/>
        </p:nvGrpSpPr>
        <p:grpSpPr>
          <a:xfrm>
            <a:off x="786810" y="4196325"/>
            <a:ext cx="310359" cy="431401"/>
            <a:chOff x="1463683" y="3619604"/>
            <a:chExt cx="310359" cy="431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D7211E1-6D6D-2DFD-79BA-F7AE12420F23}"/>
                    </a:ext>
                  </a:extLst>
                </p:cNvPr>
                <p:cNvSpPr txBox="1"/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D1011B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D7211E1-6D6D-2DFD-79BA-F7AE12420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6923" b="-16000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6D20678-F0BE-42D9-9DEB-F8534B952C88}"/>
                </a:ext>
              </a:extLst>
            </p:cNvPr>
            <p:cNvSpPr/>
            <p:nvPr/>
          </p:nvSpPr>
          <p:spPr>
            <a:xfrm>
              <a:off x="1543736" y="3934047"/>
              <a:ext cx="116958" cy="116958"/>
            </a:xfrm>
            <a:prstGeom prst="ellipse">
              <a:avLst/>
            </a:prstGeom>
            <a:solidFill>
              <a:srgbClr val="D1011B"/>
            </a:solidFill>
            <a:ln>
              <a:solidFill>
                <a:srgbClr val="D1011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7FF0B81-9205-6830-C0BD-A648FAF738BE}"/>
              </a:ext>
            </a:extLst>
          </p:cNvPr>
          <p:cNvGrpSpPr/>
          <p:nvPr/>
        </p:nvGrpSpPr>
        <p:grpSpPr>
          <a:xfrm>
            <a:off x="1371770" y="3547232"/>
            <a:ext cx="310359" cy="424735"/>
            <a:chOff x="2247013" y="3121223"/>
            <a:chExt cx="310359" cy="424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ED222A7-1686-A3FE-0DB6-DD84B1607734}"/>
                    </a:ext>
                  </a:extLst>
                </p:cNvPr>
                <p:cNvSpPr txBox="1"/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8FE3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ED222A7-1686-A3FE-0DB6-DD84B1607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2000" b="-16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EA17ED5-A2DB-1E61-2FEE-D67DA94741FF}"/>
                </a:ext>
              </a:extLst>
            </p:cNvPr>
            <p:cNvSpPr/>
            <p:nvPr/>
          </p:nvSpPr>
          <p:spPr>
            <a:xfrm>
              <a:off x="2343714" y="3429000"/>
              <a:ext cx="116958" cy="116958"/>
            </a:xfrm>
            <a:prstGeom prst="ellipse">
              <a:avLst/>
            </a:prstGeom>
            <a:solidFill>
              <a:srgbClr val="4A8FE3"/>
            </a:solidFill>
            <a:ln>
              <a:solidFill>
                <a:srgbClr val="4A8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rgbClr val="007C6B"/>
                </a:solidFill>
              </a:endParaRP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D93CC7-5851-E39E-065F-4C5477B52CB5}"/>
              </a:ext>
            </a:extLst>
          </p:cNvPr>
          <p:cNvCxnSpPr>
            <a:cxnSpLocks/>
          </p:cNvCxnSpPr>
          <p:nvPr/>
        </p:nvCxnSpPr>
        <p:spPr>
          <a:xfrm>
            <a:off x="1682129" y="3916018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A15DDEF-2150-24D8-F039-9E2F1613D754}"/>
              </a:ext>
            </a:extLst>
          </p:cNvPr>
          <p:cNvCxnSpPr>
            <a:cxnSpLocks/>
          </p:cNvCxnSpPr>
          <p:nvPr/>
        </p:nvCxnSpPr>
        <p:spPr>
          <a:xfrm flipV="1">
            <a:off x="1097169" y="4181793"/>
            <a:ext cx="2947991" cy="328975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DA63D1-EC05-7E27-B5D7-BA9707D07B85}"/>
                  </a:ext>
                </a:extLst>
              </p:cNvPr>
              <p:cNvSpPr txBox="1"/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i="1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7C6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DA63D1-EC05-7E27-B5D7-BA9707D07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blipFill>
                <a:blip r:embed="rId6"/>
                <a:stretch>
                  <a:fillRect l="-3460" b="-1363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zövegdoboz 3">
            <a:extLst>
              <a:ext uri="{FF2B5EF4-FFF2-40B4-BE49-F238E27FC236}">
                <a16:creationId xmlns:a16="http://schemas.microsoft.com/office/drawing/2014/main" id="{3296C0E7-D63B-6B4D-962A-647CDC45DF1B}"/>
              </a:ext>
            </a:extLst>
          </p:cNvPr>
          <p:cNvSpPr txBox="1"/>
          <p:nvPr/>
        </p:nvSpPr>
        <p:spPr>
          <a:xfrm>
            <a:off x="-46152" y="2682140"/>
            <a:ext cx="244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Equivalence class</a:t>
            </a:r>
            <a:endParaRPr lang="en-US" sz="2000" b="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5FB712FF-42EA-FF4A-0AB0-B975973B8193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588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E254C-6C74-FEE3-439A-F0248BF3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3E4D462-E3F8-8E6B-CE26-F9E4A122088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BA20BB1-7799-2BAF-BBB4-60ECEF0B739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7C5AF54F-C1A7-7803-9AFA-5D48E03D854F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4D67AF90-DE4D-A43A-3218-D75FC5D0D067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DB659447-7EF9-053F-1859-2D6D8BB80FCF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…and its problems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2ADE006F-C55C-DDD9-8927-F1ADF5A51CD6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8D2A2BD-5236-92F8-DE24-910975DE03ED}"/>
              </a:ext>
            </a:extLst>
          </p:cNvPr>
          <p:cNvSpPr/>
          <p:nvPr/>
        </p:nvSpPr>
        <p:spPr>
          <a:xfrm>
            <a:off x="553043" y="5168516"/>
            <a:ext cx="481123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Identifiability = Data + Model constraints</a:t>
            </a:r>
            <a:endParaRPr lang="en-DE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1AA6E-32F0-5101-5202-85249223424D}"/>
              </a:ext>
            </a:extLst>
          </p:cNvPr>
          <p:cNvSpPr txBox="1"/>
          <p:nvPr/>
        </p:nvSpPr>
        <p:spPr>
          <a:xfrm>
            <a:off x="112475" y="6164247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Independent Component Analysis.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Xi and Bloem-Reddy: Indeterminacy and Strong Identifiability in Generative Models. AISTATS, 2023.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F430943-878D-9A17-E077-6A437E329BCE}"/>
              </a:ext>
            </a:extLst>
          </p:cNvPr>
          <p:cNvSpPr/>
          <p:nvPr/>
        </p:nvSpPr>
        <p:spPr>
          <a:xfrm>
            <a:off x="273337" y="3148809"/>
            <a:ext cx="1940663" cy="1681896"/>
          </a:xfrm>
          <a:custGeom>
            <a:avLst/>
            <a:gdLst>
              <a:gd name="connsiteX0" fmla="*/ 882620 w 2427066"/>
              <a:gd name="connsiteY0" fmla="*/ 145 h 1681896"/>
              <a:gd name="connsiteX1" fmla="*/ 117 w 2427066"/>
              <a:gd name="connsiteY1" fmla="*/ 638098 h 1681896"/>
              <a:gd name="connsiteX2" fmla="*/ 935782 w 2427066"/>
              <a:gd name="connsiteY2" fmla="*/ 1669457 h 1681896"/>
              <a:gd name="connsiteX3" fmla="*/ 1956508 w 2427066"/>
              <a:gd name="connsiteY3" fmla="*/ 1169726 h 1681896"/>
              <a:gd name="connsiteX4" fmla="*/ 2381810 w 2427066"/>
              <a:gd name="connsiteY4" fmla="*/ 584936 h 1681896"/>
              <a:gd name="connsiteX5" fmla="*/ 882620 w 2427066"/>
              <a:gd name="connsiteY5" fmla="*/ 145 h 16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7066" h="1681896">
                <a:moveTo>
                  <a:pt x="882620" y="145"/>
                </a:moveTo>
                <a:cubicBezTo>
                  <a:pt x="485671" y="9005"/>
                  <a:pt x="-8743" y="359879"/>
                  <a:pt x="117" y="638098"/>
                </a:cubicBezTo>
                <a:cubicBezTo>
                  <a:pt x="8977" y="916317"/>
                  <a:pt x="609717" y="1580852"/>
                  <a:pt x="935782" y="1669457"/>
                </a:cubicBezTo>
                <a:cubicBezTo>
                  <a:pt x="1261847" y="1758062"/>
                  <a:pt x="1715503" y="1350479"/>
                  <a:pt x="1956508" y="1169726"/>
                </a:cubicBezTo>
                <a:cubicBezTo>
                  <a:pt x="2197513" y="988973"/>
                  <a:pt x="2553703" y="779866"/>
                  <a:pt x="2381810" y="584936"/>
                </a:cubicBezTo>
                <a:cubicBezTo>
                  <a:pt x="2209917" y="390006"/>
                  <a:pt x="1279569" y="-8715"/>
                  <a:pt x="882620" y="145"/>
                </a:cubicBezTo>
                <a:close/>
              </a:path>
            </a:pathLst>
          </a:cu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007C6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846B679-3BC0-DD62-2E77-43E9AA6D1BC3}"/>
                  </a:ext>
                </a:extLst>
              </p:cNvPr>
              <p:cNvSpPr txBox="1"/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846B679-3BC0-DD62-2E77-43E9AA6D1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blipFill>
                <a:blip r:embed="rId3"/>
                <a:stretch>
                  <a:fillRect l="-40000" r="-12000" b="-2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6BAEC41-A90B-84E6-71A9-4A6F7848DCC1}"/>
              </a:ext>
            </a:extLst>
          </p:cNvPr>
          <p:cNvGrpSpPr/>
          <p:nvPr/>
        </p:nvGrpSpPr>
        <p:grpSpPr>
          <a:xfrm>
            <a:off x="786810" y="4196325"/>
            <a:ext cx="310359" cy="431401"/>
            <a:chOff x="1463683" y="3619604"/>
            <a:chExt cx="310359" cy="431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BD21780-D6E2-82C6-1224-AFA12AE90F5D}"/>
                    </a:ext>
                  </a:extLst>
                </p:cNvPr>
                <p:cNvSpPr txBox="1"/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D1011B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BD21780-D6E2-82C6-1224-AFA12AE90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6923" b="-16000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2F34B55-F09F-58F5-EEE7-680A443CDFAD}"/>
                </a:ext>
              </a:extLst>
            </p:cNvPr>
            <p:cNvSpPr/>
            <p:nvPr/>
          </p:nvSpPr>
          <p:spPr>
            <a:xfrm>
              <a:off x="1543736" y="3934047"/>
              <a:ext cx="116958" cy="116958"/>
            </a:xfrm>
            <a:prstGeom prst="ellipse">
              <a:avLst/>
            </a:prstGeom>
            <a:solidFill>
              <a:srgbClr val="D1011B"/>
            </a:solidFill>
            <a:ln>
              <a:solidFill>
                <a:srgbClr val="D1011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78F3B32-538C-EC46-74F3-50260900B432}"/>
              </a:ext>
            </a:extLst>
          </p:cNvPr>
          <p:cNvGrpSpPr/>
          <p:nvPr/>
        </p:nvGrpSpPr>
        <p:grpSpPr>
          <a:xfrm>
            <a:off x="1371770" y="3547232"/>
            <a:ext cx="310359" cy="424735"/>
            <a:chOff x="2247013" y="3121223"/>
            <a:chExt cx="310359" cy="424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3F89DC4-8BB0-83AF-4385-A401BF3ECEA5}"/>
                    </a:ext>
                  </a:extLst>
                </p:cNvPr>
                <p:cNvSpPr txBox="1"/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8FE3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3F89DC4-8BB0-83AF-4385-A401BF3EC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2000" b="-16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71B8B0A-6D99-4D99-0559-E7BB87A26B4D}"/>
                </a:ext>
              </a:extLst>
            </p:cNvPr>
            <p:cNvSpPr/>
            <p:nvPr/>
          </p:nvSpPr>
          <p:spPr>
            <a:xfrm>
              <a:off x="2343714" y="3429000"/>
              <a:ext cx="116958" cy="116958"/>
            </a:xfrm>
            <a:prstGeom prst="ellipse">
              <a:avLst/>
            </a:prstGeom>
            <a:solidFill>
              <a:srgbClr val="4A8FE3"/>
            </a:solidFill>
            <a:ln>
              <a:solidFill>
                <a:srgbClr val="4A8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rgbClr val="007C6B"/>
                </a:solidFill>
              </a:endParaRP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EB3818D-CAEF-AC8C-C85D-1ED99A21DA6B}"/>
              </a:ext>
            </a:extLst>
          </p:cNvPr>
          <p:cNvCxnSpPr>
            <a:cxnSpLocks/>
          </p:cNvCxnSpPr>
          <p:nvPr/>
        </p:nvCxnSpPr>
        <p:spPr>
          <a:xfrm>
            <a:off x="1682129" y="3916018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96F341-43C0-53BC-EDF8-9D2E504D3CDD}"/>
              </a:ext>
            </a:extLst>
          </p:cNvPr>
          <p:cNvCxnSpPr>
            <a:cxnSpLocks/>
          </p:cNvCxnSpPr>
          <p:nvPr/>
        </p:nvCxnSpPr>
        <p:spPr>
          <a:xfrm flipV="1">
            <a:off x="1097169" y="4181793"/>
            <a:ext cx="2947991" cy="328975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8FBBF3-5E49-930D-5B06-EC8B001F4C6F}"/>
                  </a:ext>
                </a:extLst>
              </p:cNvPr>
              <p:cNvSpPr txBox="1"/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i="1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7C6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8FBBF3-5E49-930D-5B06-EC8B001F4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blipFill>
                <a:blip r:embed="rId6"/>
                <a:stretch>
                  <a:fillRect l="-3460" b="-1363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zövegdoboz 3">
            <a:extLst>
              <a:ext uri="{FF2B5EF4-FFF2-40B4-BE49-F238E27FC236}">
                <a16:creationId xmlns:a16="http://schemas.microsoft.com/office/drawing/2014/main" id="{8254C656-6D02-8B69-1262-DBDFF8B42FFC}"/>
              </a:ext>
            </a:extLst>
          </p:cNvPr>
          <p:cNvSpPr txBox="1"/>
          <p:nvPr/>
        </p:nvSpPr>
        <p:spPr>
          <a:xfrm>
            <a:off x="-46152" y="2682140"/>
            <a:ext cx="244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Equivalence class</a:t>
            </a:r>
            <a:endParaRPr lang="en-US" sz="2000" b="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4A254481-11C4-D32D-98FC-8844F2426C8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2EB64C-BA8A-5E8E-D7CC-54FCC27044B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36" t="-1486" r="12318"/>
          <a:stretch/>
        </p:blipFill>
        <p:spPr>
          <a:xfrm>
            <a:off x="10093650" y="4800677"/>
            <a:ext cx="726580" cy="773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7E849E-19F1-A825-F820-2ADFD3039CB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" t="-3370" r="80495" b="-1"/>
          <a:stretch/>
        </p:blipFill>
        <p:spPr>
          <a:xfrm>
            <a:off x="7270988" y="4615545"/>
            <a:ext cx="594514" cy="788366"/>
          </a:xfrm>
          <a:prstGeom prst="rect">
            <a:avLst/>
          </a:prstGeom>
        </p:spPr>
      </p:pic>
      <p:sp>
        <p:nvSpPr>
          <p:cNvPr id="5" name="Left-up Arrow 4">
            <a:extLst>
              <a:ext uri="{FF2B5EF4-FFF2-40B4-BE49-F238E27FC236}">
                <a16:creationId xmlns:a16="http://schemas.microsoft.com/office/drawing/2014/main" id="{C2847783-AB12-A95F-1C07-7D7D255117A5}"/>
              </a:ext>
            </a:extLst>
          </p:cNvPr>
          <p:cNvSpPr/>
          <p:nvPr/>
        </p:nvSpPr>
        <p:spPr>
          <a:xfrm rot="5400000">
            <a:off x="7263561" y="5541086"/>
            <a:ext cx="609367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21366D"/>
          </a:solidFill>
          <a:ln>
            <a:solidFill>
              <a:srgbClr val="2136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Left-up Arrow 5">
            <a:extLst>
              <a:ext uri="{FF2B5EF4-FFF2-40B4-BE49-F238E27FC236}">
                <a16:creationId xmlns:a16="http://schemas.microsoft.com/office/drawing/2014/main" id="{9342E870-6673-FB01-1746-C3E11966B857}"/>
              </a:ext>
            </a:extLst>
          </p:cNvPr>
          <p:cNvSpPr/>
          <p:nvPr/>
        </p:nvSpPr>
        <p:spPr>
          <a:xfrm rot="8100000">
            <a:off x="10968175" y="5630325"/>
            <a:ext cx="430888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Left-up Arrow 6">
            <a:extLst>
              <a:ext uri="{FF2B5EF4-FFF2-40B4-BE49-F238E27FC236}">
                <a16:creationId xmlns:a16="http://schemas.microsoft.com/office/drawing/2014/main" id="{8157BF8E-CEA0-3E33-9AC6-6F53C3A8FA3A}"/>
              </a:ext>
            </a:extLst>
          </p:cNvPr>
          <p:cNvSpPr/>
          <p:nvPr/>
        </p:nvSpPr>
        <p:spPr>
          <a:xfrm rot="5400000">
            <a:off x="10026052" y="5630325"/>
            <a:ext cx="430888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Left-up Arrow 8">
            <a:extLst>
              <a:ext uri="{FF2B5EF4-FFF2-40B4-BE49-F238E27FC236}">
                <a16:creationId xmlns:a16="http://schemas.microsoft.com/office/drawing/2014/main" id="{0EC47134-75B6-DEEE-A1BB-9018942199C8}"/>
              </a:ext>
            </a:extLst>
          </p:cNvPr>
          <p:cNvSpPr/>
          <p:nvPr/>
        </p:nvSpPr>
        <p:spPr>
          <a:xfrm rot="8100000">
            <a:off x="8284130" y="5630325"/>
            <a:ext cx="430888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21366D"/>
          </a:solidFill>
          <a:ln>
            <a:solidFill>
              <a:srgbClr val="2136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CB0454-704F-D703-FFBA-2C537C62885B}"/>
                  </a:ext>
                </a:extLst>
              </p:cNvPr>
              <p:cNvSpPr txBox="1"/>
              <p:nvPr/>
            </p:nvSpPr>
            <p:spPr>
              <a:xfrm>
                <a:off x="7564035" y="5514026"/>
                <a:ext cx="775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21366D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2800" b="0" dirty="0">
                  <a:solidFill>
                    <a:srgbClr val="21366D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CB0454-704F-D703-FFBA-2C537C628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035" y="5514026"/>
                <a:ext cx="77553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5A02FF-5815-C88D-ED02-B7D0F56CA062}"/>
                  </a:ext>
                </a:extLst>
              </p:cNvPr>
              <p:cNvSpPr txBox="1"/>
              <p:nvPr/>
            </p:nvSpPr>
            <p:spPr>
              <a:xfrm>
                <a:off x="10270299" y="5547846"/>
                <a:ext cx="775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0" dirty="0">
                  <a:solidFill>
                    <a:srgbClr val="21366D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5A02FF-5815-C88D-ED02-B7D0F56CA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299" y="5547846"/>
                <a:ext cx="77553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468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A7ECB-1E2E-93F3-B2B4-14D8839B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B8337CA9-836B-51FD-32D5-3AA93312FF75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7F3B365-0811-D306-CE4F-A068C2003374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06A39549-C4CE-2AFD-4980-B5ECB98FAA0D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FC852D5A-5ED9-F514-1C59-0CA0C12C7230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B0AEF125-8A13-E4E5-80B5-7BAB60746C52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…and its problems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E13157A9-326F-899E-926A-89DC1F55163F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2BB1376-EF32-B5CE-AF8F-C400F41D2046}"/>
              </a:ext>
            </a:extLst>
          </p:cNvPr>
          <p:cNvSpPr/>
          <p:nvPr/>
        </p:nvSpPr>
        <p:spPr>
          <a:xfrm>
            <a:off x="553043" y="5168516"/>
            <a:ext cx="4811237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Identifiability = Data + Model constraints</a:t>
            </a:r>
            <a:endParaRPr lang="en-DE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FF2D5D-2E3C-A3C5-8451-906645EEAFED}"/>
              </a:ext>
            </a:extLst>
          </p:cNvPr>
          <p:cNvSpPr txBox="1"/>
          <p:nvPr/>
        </p:nvSpPr>
        <p:spPr>
          <a:xfrm>
            <a:off x="112475" y="6164247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Independent Component Analysis.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Pearl: Causality. 2000.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Xi and Bloem-Reddy: Indeterminacy and Strong Identifiability in Generative Models. AISTATS, 2023.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A410D29-D549-81DD-C763-25A93F808E4A}"/>
              </a:ext>
            </a:extLst>
          </p:cNvPr>
          <p:cNvSpPr/>
          <p:nvPr/>
        </p:nvSpPr>
        <p:spPr>
          <a:xfrm>
            <a:off x="273337" y="3148809"/>
            <a:ext cx="1940663" cy="1681896"/>
          </a:xfrm>
          <a:custGeom>
            <a:avLst/>
            <a:gdLst>
              <a:gd name="connsiteX0" fmla="*/ 882620 w 2427066"/>
              <a:gd name="connsiteY0" fmla="*/ 145 h 1681896"/>
              <a:gd name="connsiteX1" fmla="*/ 117 w 2427066"/>
              <a:gd name="connsiteY1" fmla="*/ 638098 h 1681896"/>
              <a:gd name="connsiteX2" fmla="*/ 935782 w 2427066"/>
              <a:gd name="connsiteY2" fmla="*/ 1669457 h 1681896"/>
              <a:gd name="connsiteX3" fmla="*/ 1956508 w 2427066"/>
              <a:gd name="connsiteY3" fmla="*/ 1169726 h 1681896"/>
              <a:gd name="connsiteX4" fmla="*/ 2381810 w 2427066"/>
              <a:gd name="connsiteY4" fmla="*/ 584936 h 1681896"/>
              <a:gd name="connsiteX5" fmla="*/ 882620 w 2427066"/>
              <a:gd name="connsiteY5" fmla="*/ 145 h 16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7066" h="1681896">
                <a:moveTo>
                  <a:pt x="882620" y="145"/>
                </a:moveTo>
                <a:cubicBezTo>
                  <a:pt x="485671" y="9005"/>
                  <a:pt x="-8743" y="359879"/>
                  <a:pt x="117" y="638098"/>
                </a:cubicBezTo>
                <a:cubicBezTo>
                  <a:pt x="8977" y="916317"/>
                  <a:pt x="609717" y="1580852"/>
                  <a:pt x="935782" y="1669457"/>
                </a:cubicBezTo>
                <a:cubicBezTo>
                  <a:pt x="1261847" y="1758062"/>
                  <a:pt x="1715503" y="1350479"/>
                  <a:pt x="1956508" y="1169726"/>
                </a:cubicBezTo>
                <a:cubicBezTo>
                  <a:pt x="2197513" y="988973"/>
                  <a:pt x="2553703" y="779866"/>
                  <a:pt x="2381810" y="584936"/>
                </a:cubicBezTo>
                <a:cubicBezTo>
                  <a:pt x="2209917" y="390006"/>
                  <a:pt x="1279569" y="-8715"/>
                  <a:pt x="882620" y="145"/>
                </a:cubicBezTo>
                <a:close/>
              </a:path>
            </a:pathLst>
          </a:cu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007C6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E18DC3-1EB4-25F9-1454-EF1C09CC2D7F}"/>
                  </a:ext>
                </a:extLst>
              </p:cNvPr>
              <p:cNvSpPr txBox="1"/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E18DC3-1EB4-25F9-1454-EF1C09CC2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6" y="3366210"/>
                <a:ext cx="310359" cy="430887"/>
              </a:xfrm>
              <a:prstGeom prst="rect">
                <a:avLst/>
              </a:prstGeom>
              <a:blipFill>
                <a:blip r:embed="rId3"/>
                <a:stretch>
                  <a:fillRect l="-40000" r="-12000" b="-27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8943A07C-5B95-79CC-9152-33D6C2A6C2B5}"/>
              </a:ext>
            </a:extLst>
          </p:cNvPr>
          <p:cNvGrpSpPr/>
          <p:nvPr/>
        </p:nvGrpSpPr>
        <p:grpSpPr>
          <a:xfrm>
            <a:off x="786810" y="4196325"/>
            <a:ext cx="310359" cy="431401"/>
            <a:chOff x="1463683" y="3619604"/>
            <a:chExt cx="310359" cy="431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30F9298-2418-2E6C-EE56-6A70897D1C63}"/>
                    </a:ext>
                  </a:extLst>
                </p:cNvPr>
                <p:cNvSpPr txBox="1"/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D1011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D1011B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30F9298-2418-2E6C-EE56-6A70897D1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683" y="3619604"/>
                  <a:ext cx="31035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6923" b="-16000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765AEE3-CADD-193F-9350-A7E6F744671C}"/>
                </a:ext>
              </a:extLst>
            </p:cNvPr>
            <p:cNvSpPr/>
            <p:nvPr/>
          </p:nvSpPr>
          <p:spPr>
            <a:xfrm>
              <a:off x="1543736" y="3934047"/>
              <a:ext cx="116958" cy="116958"/>
            </a:xfrm>
            <a:prstGeom prst="ellipse">
              <a:avLst/>
            </a:prstGeom>
            <a:solidFill>
              <a:srgbClr val="D1011B"/>
            </a:solidFill>
            <a:ln>
              <a:solidFill>
                <a:srgbClr val="D1011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31FE78-D028-EEEB-1EA9-B1FC3D2A6177}"/>
              </a:ext>
            </a:extLst>
          </p:cNvPr>
          <p:cNvGrpSpPr/>
          <p:nvPr/>
        </p:nvGrpSpPr>
        <p:grpSpPr>
          <a:xfrm>
            <a:off x="1371770" y="3547232"/>
            <a:ext cx="310359" cy="424735"/>
            <a:chOff x="2247013" y="3121223"/>
            <a:chExt cx="310359" cy="4247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7F1256-90D5-6A81-7888-E0C650B6B8A6}"/>
                    </a:ext>
                  </a:extLst>
                </p:cNvPr>
                <p:cNvSpPr txBox="1"/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4A8FE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8FE3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7F1256-90D5-6A81-7888-E0C650B6B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013" y="3121223"/>
                  <a:ext cx="31035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2000" b="-16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FCE0A68-A486-7109-E348-C77D1DD80593}"/>
                </a:ext>
              </a:extLst>
            </p:cNvPr>
            <p:cNvSpPr/>
            <p:nvPr/>
          </p:nvSpPr>
          <p:spPr>
            <a:xfrm>
              <a:off x="2343714" y="3429000"/>
              <a:ext cx="116958" cy="116958"/>
            </a:xfrm>
            <a:prstGeom prst="ellipse">
              <a:avLst/>
            </a:prstGeom>
            <a:solidFill>
              <a:srgbClr val="4A8FE3"/>
            </a:solidFill>
            <a:ln>
              <a:solidFill>
                <a:srgbClr val="4A8F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>
                <a:solidFill>
                  <a:srgbClr val="007C6B"/>
                </a:solidFill>
              </a:endParaRP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A5CDD99-6885-DC85-0835-AE05398A0951}"/>
              </a:ext>
            </a:extLst>
          </p:cNvPr>
          <p:cNvCxnSpPr>
            <a:cxnSpLocks/>
          </p:cNvCxnSpPr>
          <p:nvPr/>
        </p:nvCxnSpPr>
        <p:spPr>
          <a:xfrm>
            <a:off x="1682129" y="3916018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3C1573F-A39F-F1D2-952D-A437743DE229}"/>
              </a:ext>
            </a:extLst>
          </p:cNvPr>
          <p:cNvCxnSpPr>
            <a:cxnSpLocks/>
          </p:cNvCxnSpPr>
          <p:nvPr/>
        </p:nvCxnSpPr>
        <p:spPr>
          <a:xfrm flipV="1">
            <a:off x="1097169" y="4181793"/>
            <a:ext cx="2947991" cy="328975"/>
          </a:xfrm>
          <a:prstGeom prst="straightConnector1">
            <a:avLst/>
          </a:prstGeom>
          <a:ln w="28575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9AD3EC8-C565-6C5A-337D-C0947EF7AAF6}"/>
                  </a:ext>
                </a:extLst>
              </p:cNvPr>
              <p:cNvSpPr txBox="1"/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4A8FE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i="1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7C6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D1011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</m:sSubSup>
                      <m:d>
                        <m:dPr>
                          <m:ctrlPr>
                            <a:rPr lang="en-GB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4A8FE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9AD3EC8-C565-6C5A-337D-C0947EF7A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44" y="3592781"/>
                <a:ext cx="3654856" cy="548420"/>
              </a:xfrm>
              <a:prstGeom prst="rect">
                <a:avLst/>
              </a:prstGeom>
              <a:blipFill>
                <a:blip r:embed="rId6"/>
                <a:stretch>
                  <a:fillRect l="-3460" b="-1363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zövegdoboz 3">
            <a:extLst>
              <a:ext uri="{FF2B5EF4-FFF2-40B4-BE49-F238E27FC236}">
                <a16:creationId xmlns:a16="http://schemas.microsoft.com/office/drawing/2014/main" id="{4EDC8291-C4F3-E948-DAFF-B7E09224B8CD}"/>
              </a:ext>
            </a:extLst>
          </p:cNvPr>
          <p:cNvSpPr txBox="1"/>
          <p:nvPr/>
        </p:nvSpPr>
        <p:spPr>
          <a:xfrm>
            <a:off x="-46152" y="2682140"/>
            <a:ext cx="244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Equivalence class</a:t>
            </a:r>
            <a:endParaRPr lang="en-US" sz="2000" b="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8" name="Szövegdoboz 23">
            <a:extLst>
              <a:ext uri="{FF2B5EF4-FFF2-40B4-BE49-F238E27FC236}">
                <a16:creationId xmlns:a16="http://schemas.microsoft.com/office/drawing/2014/main" id="{E2ADFCD2-477F-0A63-7747-F937C8A5AFA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F0FF2E-8029-4E63-4540-C568D958EB5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36" t="-1486" r="12318"/>
          <a:stretch/>
        </p:blipFill>
        <p:spPr>
          <a:xfrm>
            <a:off x="10093650" y="4800677"/>
            <a:ext cx="726580" cy="773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F6F57C-B41D-F10B-4E20-76F61986509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" t="-3370" r="80495" b="-1"/>
          <a:stretch/>
        </p:blipFill>
        <p:spPr>
          <a:xfrm>
            <a:off x="7270988" y="4615545"/>
            <a:ext cx="594514" cy="788366"/>
          </a:xfrm>
          <a:prstGeom prst="rect">
            <a:avLst/>
          </a:prstGeom>
        </p:spPr>
      </p:pic>
      <p:sp>
        <p:nvSpPr>
          <p:cNvPr id="5" name="Left-up Arrow 4">
            <a:extLst>
              <a:ext uri="{FF2B5EF4-FFF2-40B4-BE49-F238E27FC236}">
                <a16:creationId xmlns:a16="http://schemas.microsoft.com/office/drawing/2014/main" id="{C5B83A6C-9099-7CC8-C366-E41F67B106D6}"/>
              </a:ext>
            </a:extLst>
          </p:cNvPr>
          <p:cNvSpPr/>
          <p:nvPr/>
        </p:nvSpPr>
        <p:spPr>
          <a:xfrm rot="5400000">
            <a:off x="7263561" y="5541086"/>
            <a:ext cx="609367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21366D"/>
          </a:solidFill>
          <a:ln>
            <a:solidFill>
              <a:srgbClr val="2136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Left-up Arrow 5">
            <a:extLst>
              <a:ext uri="{FF2B5EF4-FFF2-40B4-BE49-F238E27FC236}">
                <a16:creationId xmlns:a16="http://schemas.microsoft.com/office/drawing/2014/main" id="{F6940E99-45BF-BEC4-5A5D-75B5342E2FC8}"/>
              </a:ext>
            </a:extLst>
          </p:cNvPr>
          <p:cNvSpPr/>
          <p:nvPr/>
        </p:nvSpPr>
        <p:spPr>
          <a:xfrm rot="8100000">
            <a:off x="10968175" y="5630325"/>
            <a:ext cx="430888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Left-up Arrow 6">
            <a:extLst>
              <a:ext uri="{FF2B5EF4-FFF2-40B4-BE49-F238E27FC236}">
                <a16:creationId xmlns:a16="http://schemas.microsoft.com/office/drawing/2014/main" id="{DB8D85B2-5F8D-4426-800A-65481FC75040}"/>
              </a:ext>
            </a:extLst>
          </p:cNvPr>
          <p:cNvSpPr/>
          <p:nvPr/>
        </p:nvSpPr>
        <p:spPr>
          <a:xfrm rot="5400000">
            <a:off x="10026052" y="5630325"/>
            <a:ext cx="430888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Left-up Arrow 8">
            <a:extLst>
              <a:ext uri="{FF2B5EF4-FFF2-40B4-BE49-F238E27FC236}">
                <a16:creationId xmlns:a16="http://schemas.microsoft.com/office/drawing/2014/main" id="{99F59D62-C289-7ACB-95B8-0689FD337660}"/>
              </a:ext>
            </a:extLst>
          </p:cNvPr>
          <p:cNvSpPr/>
          <p:nvPr/>
        </p:nvSpPr>
        <p:spPr>
          <a:xfrm rot="8100000">
            <a:off x="8284130" y="5630325"/>
            <a:ext cx="430888" cy="430888"/>
          </a:xfrm>
          <a:prstGeom prst="leftUpArrow">
            <a:avLst>
              <a:gd name="adj1" fmla="val 2447"/>
              <a:gd name="adj2" fmla="val 6205"/>
              <a:gd name="adj3" fmla="val 12220"/>
            </a:avLst>
          </a:prstGeom>
          <a:solidFill>
            <a:srgbClr val="21366D"/>
          </a:solidFill>
          <a:ln>
            <a:solidFill>
              <a:srgbClr val="2136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5251D6-F355-23FF-03CF-AC86781A6E0C}"/>
                  </a:ext>
                </a:extLst>
              </p:cNvPr>
              <p:cNvSpPr txBox="1"/>
              <p:nvPr/>
            </p:nvSpPr>
            <p:spPr>
              <a:xfrm>
                <a:off x="7564035" y="5514026"/>
                <a:ext cx="775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21366D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2800" b="0" dirty="0">
                  <a:solidFill>
                    <a:srgbClr val="21366D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5251D6-F355-23FF-03CF-AC86781A6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035" y="5514026"/>
                <a:ext cx="77553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48C7CE-F912-F832-3F84-C5462FC9B37A}"/>
                  </a:ext>
                </a:extLst>
              </p:cNvPr>
              <p:cNvSpPr txBox="1"/>
              <p:nvPr/>
            </p:nvSpPr>
            <p:spPr>
              <a:xfrm>
                <a:off x="10270299" y="5547846"/>
                <a:ext cx="775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0" dirty="0">
                  <a:solidFill>
                    <a:srgbClr val="21366D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48C7CE-F912-F832-3F84-C5462FC9B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299" y="5547846"/>
                <a:ext cx="77553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zövegdoboz 3">
            <a:extLst>
              <a:ext uri="{FF2B5EF4-FFF2-40B4-BE49-F238E27FC236}">
                <a16:creationId xmlns:a16="http://schemas.microsoft.com/office/drawing/2014/main" id="{A1D3AA05-3132-1CB4-4B6B-F9B44EDFD991}"/>
              </a:ext>
            </a:extLst>
          </p:cNvPr>
          <p:cNvSpPr txBox="1"/>
          <p:nvPr/>
        </p:nvSpPr>
        <p:spPr>
          <a:xfrm>
            <a:off x="6779016" y="2701720"/>
            <a:ext cx="5339546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What are the invariances/symmetries of the distribution?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Are the latent factors disentangled?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Which coordinate encodes position/shape?</a:t>
            </a:r>
          </a:p>
        </p:txBody>
      </p:sp>
    </p:spTree>
    <p:extLst>
      <p:ext uri="{BB962C8B-B14F-4D97-AF65-F5344CB8AC3E}">
        <p14:creationId xmlns:p14="http://schemas.microsoft.com/office/powerpoint/2010/main" val="1423217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AEA93-8FE6-FEF4-8C51-14F231E7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CA23FA5-C645-B883-B673-ABEC717BFD2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active vs passive view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71F6FFF-2E10-2E38-6C67-31BEE596662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font, line, diagram&#10;&#10;Description automatically generated">
            <a:extLst>
              <a:ext uri="{FF2B5EF4-FFF2-40B4-BE49-F238E27FC236}">
                <a16:creationId xmlns:a16="http://schemas.microsoft.com/office/drawing/2014/main" id="{28329B14-3683-B006-5E03-9E90F05C90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28" b="5459"/>
          <a:stretch/>
        </p:blipFill>
        <p:spPr>
          <a:xfrm>
            <a:off x="4394199" y="2430644"/>
            <a:ext cx="7423391" cy="14467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556A4D-F9B9-CED2-2578-05B3D26049B5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3" name="Szövegdoboz 23">
            <a:extLst>
              <a:ext uri="{FF2B5EF4-FFF2-40B4-BE49-F238E27FC236}">
                <a16:creationId xmlns:a16="http://schemas.microsoft.com/office/drawing/2014/main" id="{4E3F8D40-F0D9-A127-07DE-62497E399D29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247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2EF73-F69C-4B12-2A5E-D425604F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38E2C32D-6CCE-F130-21E5-127F9A602AD2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active vs passive view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4978A1B-005F-0961-E396-CADEA078B3A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AA0AE7A2-16F9-7458-B19B-0B9209DA6478}"/>
              </a:ext>
            </a:extLst>
          </p:cNvPr>
          <p:cNvSpPr txBox="1"/>
          <p:nvPr/>
        </p:nvSpPr>
        <p:spPr>
          <a:xfrm>
            <a:off x="5315846" y="4541680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passive view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2F2801D-E691-396C-2644-4A44BA221804}"/>
              </a:ext>
            </a:extLst>
          </p:cNvPr>
          <p:cNvSpPr/>
          <p:nvPr/>
        </p:nvSpPr>
        <p:spPr>
          <a:xfrm rot="5400000">
            <a:off x="7562256" y="764199"/>
            <a:ext cx="674931" cy="6817487"/>
          </a:xfrm>
          <a:prstGeom prst="rightBrace">
            <a:avLst>
              <a:gd name="adj1" fmla="val 47356"/>
              <a:gd name="adj2" fmla="val 50000"/>
            </a:avLst>
          </a:prstGeom>
          <a:ln w="28575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6ABCA-E5EE-F750-FE0B-F58BDEE85E74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pic>
        <p:nvPicPr>
          <p:cNvPr id="12" name="Picture 11" descr="A picture containing text, font, line, diagram&#10;&#10;Description automatically generated">
            <a:extLst>
              <a:ext uri="{FF2B5EF4-FFF2-40B4-BE49-F238E27FC236}">
                <a16:creationId xmlns:a16="http://schemas.microsoft.com/office/drawing/2014/main" id="{2B927846-CB5A-087D-750D-AE8F30ECD6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28" b="5459"/>
          <a:stretch/>
        </p:blipFill>
        <p:spPr>
          <a:xfrm>
            <a:off x="4394199" y="2430644"/>
            <a:ext cx="7423391" cy="1446775"/>
          </a:xfrm>
          <a:prstGeom prst="rect">
            <a:avLst/>
          </a:prstGeom>
        </p:spPr>
      </p:pic>
      <p:sp>
        <p:nvSpPr>
          <p:cNvPr id="2" name="Szövegdoboz 23">
            <a:extLst>
              <a:ext uri="{FF2B5EF4-FFF2-40B4-BE49-F238E27FC236}">
                <a16:creationId xmlns:a16="http://schemas.microsoft.com/office/drawing/2014/main" id="{827C2379-3635-F54D-23AD-23087C43904B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883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3F9C5-281E-B11A-352D-9B5F55CA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9F6EA90-3B9B-C324-3522-571DC117D1FB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active vs passive view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48125F5-9473-4B94-B2BD-99626E45989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75900A33-BACC-AB03-CE2D-A1AA7C82331E}"/>
              </a:ext>
            </a:extLst>
          </p:cNvPr>
          <p:cNvSpPr txBox="1"/>
          <p:nvPr/>
        </p:nvSpPr>
        <p:spPr>
          <a:xfrm>
            <a:off x="5315846" y="4541680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passive view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0" name="Szövegdoboz 6">
            <a:extLst>
              <a:ext uri="{FF2B5EF4-FFF2-40B4-BE49-F238E27FC236}">
                <a16:creationId xmlns:a16="http://schemas.microsoft.com/office/drawing/2014/main" id="{DD200B80-0BAB-C1CA-FA88-9CC867F386B7}"/>
              </a:ext>
            </a:extLst>
          </p:cNvPr>
          <p:cNvSpPr txBox="1"/>
          <p:nvPr/>
        </p:nvSpPr>
        <p:spPr>
          <a:xfrm>
            <a:off x="3846814" y="1205905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active view</a:t>
            </a:r>
            <a:endParaRPr lang="hu-HU" sz="2800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2" name="Picture 1" descr="A picture containing text, font, line, diagram&#10;&#10;Description automatically generated">
            <a:extLst>
              <a:ext uri="{FF2B5EF4-FFF2-40B4-BE49-F238E27FC236}">
                <a16:creationId xmlns:a16="http://schemas.microsoft.com/office/drawing/2014/main" id="{EF67017F-6053-C276-18A8-8983EBD941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72"/>
          <a:stretch/>
        </p:blipFill>
        <p:spPr>
          <a:xfrm>
            <a:off x="374409" y="2430645"/>
            <a:ext cx="11443182" cy="1377718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82DE3FC1-A1AF-C0D0-CCFD-70F2367C6C02}"/>
              </a:ext>
            </a:extLst>
          </p:cNvPr>
          <p:cNvSpPr/>
          <p:nvPr/>
        </p:nvSpPr>
        <p:spPr>
          <a:xfrm rot="5400000">
            <a:off x="7562256" y="764199"/>
            <a:ext cx="674931" cy="6817487"/>
          </a:xfrm>
          <a:prstGeom prst="rightBrace">
            <a:avLst>
              <a:gd name="adj1" fmla="val 47356"/>
              <a:gd name="adj2" fmla="val 50000"/>
            </a:avLst>
          </a:prstGeom>
          <a:ln w="28575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33C2324-37C2-3A7F-3D83-5BC3A4298B48}"/>
              </a:ext>
            </a:extLst>
          </p:cNvPr>
          <p:cNvSpPr/>
          <p:nvPr/>
        </p:nvSpPr>
        <p:spPr>
          <a:xfrm rot="16200000">
            <a:off x="5727680" y="-3327503"/>
            <a:ext cx="736635" cy="10969907"/>
          </a:xfrm>
          <a:prstGeom prst="rightBrace">
            <a:avLst>
              <a:gd name="adj1" fmla="val 47356"/>
              <a:gd name="adj2" fmla="val 50000"/>
            </a:avLst>
          </a:prstGeom>
          <a:ln w="28575">
            <a:solidFill>
              <a:srgbClr val="D101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573E7-5179-E641-9C74-6DE65D5D4E40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3" name="Szövegdoboz 23">
            <a:extLst>
              <a:ext uri="{FF2B5EF4-FFF2-40B4-BE49-F238E27FC236}">
                <a16:creationId xmlns:a16="http://schemas.microsoft.com/office/drawing/2014/main" id="{B118F944-4D7E-D069-05E0-F699AAA1136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771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8613-8DD0-E1E9-C03A-DEC67752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242245-48C4-024B-BBE6-1A1EDA48D305}"/>
              </a:ext>
            </a:extLst>
          </p:cNvPr>
          <p:cNvSpPr/>
          <p:nvPr/>
        </p:nvSpPr>
        <p:spPr>
          <a:xfrm>
            <a:off x="0" y="4281715"/>
            <a:ext cx="12192000" cy="2576284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48F8AEB7-5148-8182-CBC7-7EFF2EF9E508}"/>
              </a:ext>
            </a:extLst>
          </p:cNvPr>
          <p:cNvSpPr txBox="1"/>
          <p:nvPr/>
        </p:nvSpPr>
        <p:spPr>
          <a:xfrm>
            <a:off x="2253343" y="4644091"/>
            <a:ext cx="76853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Principles</a:t>
            </a:r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of (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</a:t>
            </a:r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) 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</a:t>
            </a:r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</a:t>
            </a:r>
            <a:endParaRPr lang="hu-HU" sz="3200" dirty="0">
              <a:solidFill>
                <a:schemeClr val="bg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6BF72-4C1A-E64C-57D8-E6B0EE455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342900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C3D7938F-A793-4F97-BFD0-A8E3EDD23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351167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AACF4813-7998-4B5C-A807-EED4F758F51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351920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AA77685F-19D2-49E3-2C49-4BA965AECA3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347764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17985A61-7E3D-598B-91F6-BC86134FC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65" y="3565567"/>
            <a:ext cx="2261067" cy="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24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824F1-72F7-BCE5-43EB-75D77E6E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D406255-76CC-85E4-3D10-C76153C9470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C76FA58-8F77-6245-DA6E-ED5C709C817A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75EC7C6-3745-A42D-9B29-814BA7373438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DE5BD247-6ECA-29B3-5F53-32B5F883618D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49B0087D-6FA0-57A5-06B6-E3989A28AF82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7670AE7A-4007-3928-DCBD-956F59EA96B7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907D2B6F-29CE-FEB6-E554-E13ABCBE609D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doboz 23">
            <a:extLst>
              <a:ext uri="{FF2B5EF4-FFF2-40B4-BE49-F238E27FC236}">
                <a16:creationId xmlns:a16="http://schemas.microsoft.com/office/drawing/2014/main" id="{200CE930-ABB7-426F-22BF-ACFFC968BDA3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643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776A0-7813-BBC9-ACEA-A77EB3C1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9735514-8B9F-87DC-2747-DAA9075FC06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3F66BD5A-36A4-4A15-CE71-BAF51A6FD3C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8A5334-F3B6-AE32-8AAF-EC774A47F5E3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752C72F2-C2C0-62EF-BD98-5981DD646F8A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BCEAF8B4-60E0-5BE8-FDAB-21CD85564B69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D62C68D8-BCE9-3DF9-BA26-7399FAC64288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43C900F9-41F0-A725-7826-6248E4BF72A9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5EA597D3-946C-CE33-D3DB-2E53C5DD623E}"/>
              </a:ext>
            </a:extLst>
          </p:cNvPr>
          <p:cNvSpPr/>
          <p:nvPr/>
        </p:nvSpPr>
        <p:spPr>
          <a:xfrm>
            <a:off x="759472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Szövegdoboz 5">
            <a:extLst>
              <a:ext uri="{FF2B5EF4-FFF2-40B4-BE49-F238E27FC236}">
                <a16:creationId xmlns:a16="http://schemas.microsoft.com/office/drawing/2014/main" id="{A6BB7ABD-C9B5-8D34-2A76-3C53B38232C2}"/>
              </a:ext>
            </a:extLst>
          </p:cNvPr>
          <p:cNvSpPr txBox="1"/>
          <p:nvPr/>
        </p:nvSpPr>
        <p:spPr>
          <a:xfrm>
            <a:off x="112475" y="4368510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1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" name="Szövegdoboz 23">
            <a:extLst>
              <a:ext uri="{FF2B5EF4-FFF2-40B4-BE49-F238E27FC236}">
                <a16:creationId xmlns:a16="http://schemas.microsoft.com/office/drawing/2014/main" id="{AE6D86C8-9783-9017-CABF-27A3D766F603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9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8C6C5-5512-B27D-892A-2F8DC16C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025D3009-261B-BAE1-3B44-D344B41D209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48EFA9E7-94BD-1C49-1CCD-227C9EEC58A7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DD0300-038F-B90E-7FB5-7AFFD2016FEC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E8EEDA64-F9F3-8D29-F9D5-A2D63C4C95D6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00C99ADC-5EAF-FA25-E8FE-D45EAD98CD00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436608E6-FF14-417D-F45A-3CDD876073C1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DD832325-179B-B845-7D95-B5D992C8AC1D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99DE90A3-4B36-7028-E4AE-66643E29FA1E}"/>
              </a:ext>
            </a:extLst>
          </p:cNvPr>
          <p:cNvSpPr/>
          <p:nvPr/>
        </p:nvSpPr>
        <p:spPr>
          <a:xfrm>
            <a:off x="759472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3DA1E1D-1FD6-5FB1-4823-0B2BEEF24003}"/>
              </a:ext>
            </a:extLst>
          </p:cNvPr>
          <p:cNvSpPr/>
          <p:nvPr/>
        </p:nvSpPr>
        <p:spPr>
          <a:xfrm>
            <a:off x="224666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Szövegdoboz 5">
            <a:extLst>
              <a:ext uri="{FF2B5EF4-FFF2-40B4-BE49-F238E27FC236}">
                <a16:creationId xmlns:a16="http://schemas.microsoft.com/office/drawing/2014/main" id="{60A2DD16-9435-0EFA-9FA0-C7E0FD9D223C}"/>
              </a:ext>
            </a:extLst>
          </p:cNvPr>
          <p:cNvSpPr txBox="1"/>
          <p:nvPr/>
        </p:nvSpPr>
        <p:spPr>
          <a:xfrm>
            <a:off x="112475" y="4368510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1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Szövegdoboz 5">
            <a:extLst>
              <a:ext uri="{FF2B5EF4-FFF2-40B4-BE49-F238E27FC236}">
                <a16:creationId xmlns:a16="http://schemas.microsoft.com/office/drawing/2014/main" id="{C17A294D-9C57-9CEB-FF45-B3DD805BDE64}"/>
              </a:ext>
            </a:extLst>
          </p:cNvPr>
          <p:cNvSpPr txBox="1"/>
          <p:nvPr/>
        </p:nvSpPr>
        <p:spPr>
          <a:xfrm>
            <a:off x="2313888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2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" name="Szövegdoboz 23">
            <a:extLst>
              <a:ext uri="{FF2B5EF4-FFF2-40B4-BE49-F238E27FC236}">
                <a16:creationId xmlns:a16="http://schemas.microsoft.com/office/drawing/2014/main" id="{D110FDAC-69E9-0216-C2F0-7FD56D68A5E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276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CA539-D842-29FC-2E2D-8414A0F7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C26973E-4AF8-14A0-A7CC-57A707876A47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FFD35AB-79F9-86FC-51AC-8D904F7DE7D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9ABFF1-47C4-C0B2-2E9C-4FE7C8B9E9BE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37DB4D27-7C3B-5266-EFF2-80CBCA347D79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7A25F0A5-AE76-A226-2047-62E9A7ABDAB9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828B6F4C-BBCB-4D58-249C-3192ED219A1F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E8371A53-37E4-A604-5F4D-5B3E007E876F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DFB57835-1F92-81DB-19D5-5524404DACE3}"/>
              </a:ext>
            </a:extLst>
          </p:cNvPr>
          <p:cNvSpPr/>
          <p:nvPr/>
        </p:nvSpPr>
        <p:spPr>
          <a:xfrm>
            <a:off x="759472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744DE33-D20D-802D-51BE-8CEBAAB0139C}"/>
              </a:ext>
            </a:extLst>
          </p:cNvPr>
          <p:cNvSpPr/>
          <p:nvPr/>
        </p:nvSpPr>
        <p:spPr>
          <a:xfrm>
            <a:off x="224666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Szövegdoboz 5">
            <a:extLst>
              <a:ext uri="{FF2B5EF4-FFF2-40B4-BE49-F238E27FC236}">
                <a16:creationId xmlns:a16="http://schemas.microsoft.com/office/drawing/2014/main" id="{D2EA3C61-396E-793C-1D95-B56E8D5128C2}"/>
              </a:ext>
            </a:extLst>
          </p:cNvPr>
          <p:cNvSpPr txBox="1"/>
          <p:nvPr/>
        </p:nvSpPr>
        <p:spPr>
          <a:xfrm>
            <a:off x="112475" y="4368510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1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Szövegdoboz 5">
            <a:extLst>
              <a:ext uri="{FF2B5EF4-FFF2-40B4-BE49-F238E27FC236}">
                <a16:creationId xmlns:a16="http://schemas.microsoft.com/office/drawing/2014/main" id="{62075945-1155-F422-405B-CCC84ADE483A}"/>
              </a:ext>
            </a:extLst>
          </p:cNvPr>
          <p:cNvSpPr txBox="1"/>
          <p:nvPr/>
        </p:nvSpPr>
        <p:spPr>
          <a:xfrm>
            <a:off x="2313888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2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5" name="Szövegdoboz 23">
            <a:extLst>
              <a:ext uri="{FF2B5EF4-FFF2-40B4-BE49-F238E27FC236}">
                <a16:creationId xmlns:a16="http://schemas.microsoft.com/office/drawing/2014/main" id="{DBFB6E48-3A56-0389-B5BF-EDC015C6120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AC1655-142D-4D68-6DFE-720BE6871DEC}"/>
              </a:ext>
            </a:extLst>
          </p:cNvPr>
          <p:cNvSpPr/>
          <p:nvPr/>
        </p:nvSpPr>
        <p:spPr>
          <a:xfrm>
            <a:off x="513452" y="5611546"/>
            <a:ext cx="2085686" cy="26054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9DA662-1009-0485-FF9E-1BD1F9BE6A23}"/>
              </a:ext>
            </a:extLst>
          </p:cNvPr>
          <p:cNvSpPr/>
          <p:nvPr/>
        </p:nvSpPr>
        <p:spPr>
          <a:xfrm>
            <a:off x="495008" y="4843125"/>
            <a:ext cx="2207420" cy="32108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7DA313-E26F-14A2-795F-DC12F87CDDB0}"/>
              </a:ext>
            </a:extLst>
          </p:cNvPr>
          <p:cNvSpPr/>
          <p:nvPr/>
        </p:nvSpPr>
        <p:spPr>
          <a:xfrm>
            <a:off x="3174271" y="4838758"/>
            <a:ext cx="2543176" cy="307778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Natural experiment</a:t>
            </a:r>
          </a:p>
        </p:txBody>
      </p:sp>
      <p:sp>
        <p:nvSpPr>
          <p:cNvPr id="13" name="Szövegdoboz 3">
            <a:extLst>
              <a:ext uri="{FF2B5EF4-FFF2-40B4-BE49-F238E27FC236}">
                <a16:creationId xmlns:a16="http://schemas.microsoft.com/office/drawing/2014/main" id="{010E3FB9-19BF-E2F9-0B7D-11B23AC2827E}"/>
              </a:ext>
            </a:extLst>
          </p:cNvPr>
          <p:cNvSpPr txBox="1"/>
          <p:nvPr/>
        </p:nvSpPr>
        <p:spPr>
          <a:xfrm>
            <a:off x="3084827" y="5116496"/>
            <a:ext cx="2724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Different tax in neighboring cities</a:t>
            </a:r>
          </a:p>
        </p:txBody>
      </p:sp>
      <p:sp>
        <p:nvSpPr>
          <p:cNvPr id="14" name="Szövegdoboz 3">
            <a:extLst>
              <a:ext uri="{FF2B5EF4-FFF2-40B4-BE49-F238E27FC236}">
                <a16:creationId xmlns:a16="http://schemas.microsoft.com/office/drawing/2014/main" id="{C88E3928-F181-08DB-1DE7-BE457A07FBF4}"/>
              </a:ext>
            </a:extLst>
          </p:cNvPr>
          <p:cNvSpPr txBox="1"/>
          <p:nvPr/>
        </p:nvSpPr>
        <p:spPr>
          <a:xfrm>
            <a:off x="555875" y="5168642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Blue- vs White-collar</a:t>
            </a:r>
          </a:p>
        </p:txBody>
      </p:sp>
      <p:sp>
        <p:nvSpPr>
          <p:cNvPr id="15" name="Szövegdoboz 3">
            <a:extLst>
              <a:ext uri="{FF2B5EF4-FFF2-40B4-BE49-F238E27FC236}">
                <a16:creationId xmlns:a16="http://schemas.microsoft.com/office/drawing/2014/main" id="{3E7AE2AF-AB76-50B8-5A7B-90BD9AB6C979}"/>
              </a:ext>
            </a:extLst>
          </p:cNvPr>
          <p:cNvSpPr txBox="1"/>
          <p:nvPr/>
        </p:nvSpPr>
        <p:spPr>
          <a:xfrm>
            <a:off x="574319" y="5855926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X-Ray + CO</a:t>
            </a:r>
            <a:r>
              <a:rPr lang="en-US" sz="1400" baseline="-25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2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retention</a:t>
            </a:r>
          </a:p>
        </p:txBody>
      </p:sp>
    </p:spTree>
    <p:extLst>
      <p:ext uri="{BB962C8B-B14F-4D97-AF65-F5344CB8AC3E}">
        <p14:creationId xmlns:p14="http://schemas.microsoft.com/office/powerpoint/2010/main" val="3918411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405DB-5D80-1D12-F2D2-EF200F25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49EFD006-15E3-5E6D-CE8B-6BE71CF7AF38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9A69BB1-00C6-8F73-F3A4-0C5783232EA7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9BF6F0-4F79-C56D-96BB-17C0694D9146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016E72E3-B49C-9913-38D4-AE09743D1752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AFCFFAC7-82C9-10AC-50F3-2E8759D543FE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BE6C5E20-5C41-4570-9453-8D73A1E3BD39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DDDF21C8-25D8-E50A-90E8-4D4418743DC3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E9222AF9-0EF9-BF2E-E726-6CDA1DBEAC59}"/>
              </a:ext>
            </a:extLst>
          </p:cNvPr>
          <p:cNvSpPr/>
          <p:nvPr/>
        </p:nvSpPr>
        <p:spPr>
          <a:xfrm>
            <a:off x="759472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CCEFBBB-4671-8D67-55C4-783ADA1F59C7}"/>
              </a:ext>
            </a:extLst>
          </p:cNvPr>
          <p:cNvSpPr/>
          <p:nvPr/>
        </p:nvSpPr>
        <p:spPr>
          <a:xfrm>
            <a:off x="224666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B0075DD4-0AAC-C9C0-3128-FD88F0C31B7C}"/>
              </a:ext>
            </a:extLst>
          </p:cNvPr>
          <p:cNvSpPr/>
          <p:nvPr/>
        </p:nvSpPr>
        <p:spPr>
          <a:xfrm>
            <a:off x="7345467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Szövegdoboz 5">
            <a:extLst>
              <a:ext uri="{FF2B5EF4-FFF2-40B4-BE49-F238E27FC236}">
                <a16:creationId xmlns:a16="http://schemas.microsoft.com/office/drawing/2014/main" id="{6168BEFF-A2B4-80F7-B9CA-12A44B49CDFB}"/>
              </a:ext>
            </a:extLst>
          </p:cNvPr>
          <p:cNvSpPr txBox="1"/>
          <p:nvPr/>
        </p:nvSpPr>
        <p:spPr>
          <a:xfrm>
            <a:off x="112475" y="4368510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1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Szövegdoboz 5">
            <a:extLst>
              <a:ext uri="{FF2B5EF4-FFF2-40B4-BE49-F238E27FC236}">
                <a16:creationId xmlns:a16="http://schemas.microsoft.com/office/drawing/2014/main" id="{0A568F4A-353F-DDA1-0395-7A2736673D4A}"/>
              </a:ext>
            </a:extLst>
          </p:cNvPr>
          <p:cNvSpPr txBox="1"/>
          <p:nvPr/>
        </p:nvSpPr>
        <p:spPr>
          <a:xfrm>
            <a:off x="2313888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2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Szövegdoboz 5">
            <a:extLst>
              <a:ext uri="{FF2B5EF4-FFF2-40B4-BE49-F238E27FC236}">
                <a16:creationId xmlns:a16="http://schemas.microsoft.com/office/drawing/2014/main" id="{813EE058-2D72-B716-5512-8AF0060AB4B4}"/>
              </a:ext>
            </a:extLst>
          </p:cNvPr>
          <p:cNvSpPr txBox="1"/>
          <p:nvPr/>
        </p:nvSpPr>
        <p:spPr>
          <a:xfrm>
            <a:off x="6779016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Observational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6" name="Szövegdoboz 23">
            <a:extLst>
              <a:ext uri="{FF2B5EF4-FFF2-40B4-BE49-F238E27FC236}">
                <a16:creationId xmlns:a16="http://schemas.microsoft.com/office/drawing/2014/main" id="{7B26880A-B2FC-AD7F-FD32-0E8940E3260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C21CF-0A59-4BBF-4B18-8DE56F13BF33}"/>
              </a:ext>
            </a:extLst>
          </p:cNvPr>
          <p:cNvSpPr/>
          <p:nvPr/>
        </p:nvSpPr>
        <p:spPr>
          <a:xfrm>
            <a:off x="513452" y="5611546"/>
            <a:ext cx="2085686" cy="26054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3D77C-6598-5821-2F81-A1FCD5423979}"/>
              </a:ext>
            </a:extLst>
          </p:cNvPr>
          <p:cNvSpPr/>
          <p:nvPr/>
        </p:nvSpPr>
        <p:spPr>
          <a:xfrm>
            <a:off x="495008" y="4843125"/>
            <a:ext cx="2207420" cy="32108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5D90EA-16C1-2424-2C85-F1B04AEA1A70}"/>
              </a:ext>
            </a:extLst>
          </p:cNvPr>
          <p:cNvSpPr/>
          <p:nvPr/>
        </p:nvSpPr>
        <p:spPr>
          <a:xfrm>
            <a:off x="3174271" y="4838758"/>
            <a:ext cx="2543176" cy="307778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Natural experiment</a:t>
            </a:r>
          </a:p>
        </p:txBody>
      </p:sp>
      <p:sp>
        <p:nvSpPr>
          <p:cNvPr id="15" name="Szövegdoboz 3">
            <a:extLst>
              <a:ext uri="{FF2B5EF4-FFF2-40B4-BE49-F238E27FC236}">
                <a16:creationId xmlns:a16="http://schemas.microsoft.com/office/drawing/2014/main" id="{947E3927-621D-61F8-F902-37719148FC16}"/>
              </a:ext>
            </a:extLst>
          </p:cNvPr>
          <p:cNvSpPr txBox="1"/>
          <p:nvPr/>
        </p:nvSpPr>
        <p:spPr>
          <a:xfrm>
            <a:off x="3084827" y="5116496"/>
            <a:ext cx="2724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Different tax in neighboring cities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927B7F29-AB6D-EB89-7310-D8C50B8970EE}"/>
              </a:ext>
            </a:extLst>
          </p:cNvPr>
          <p:cNvSpPr txBox="1"/>
          <p:nvPr/>
        </p:nvSpPr>
        <p:spPr>
          <a:xfrm>
            <a:off x="555875" y="5168642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Blue- vs White-collar</a:t>
            </a:r>
          </a:p>
        </p:txBody>
      </p:sp>
      <p:sp>
        <p:nvSpPr>
          <p:cNvPr id="17" name="Szövegdoboz 3">
            <a:extLst>
              <a:ext uri="{FF2B5EF4-FFF2-40B4-BE49-F238E27FC236}">
                <a16:creationId xmlns:a16="http://schemas.microsoft.com/office/drawing/2014/main" id="{3CE33F4D-1DA9-C8CA-E0BA-A937C98697D9}"/>
              </a:ext>
            </a:extLst>
          </p:cNvPr>
          <p:cNvSpPr txBox="1"/>
          <p:nvPr/>
        </p:nvSpPr>
        <p:spPr>
          <a:xfrm>
            <a:off x="574319" y="5855926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X-Ray + CO</a:t>
            </a:r>
            <a:r>
              <a:rPr lang="en-US" sz="1400" baseline="-25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2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retention</a:t>
            </a:r>
          </a:p>
        </p:txBody>
      </p:sp>
    </p:spTree>
    <p:extLst>
      <p:ext uri="{BB962C8B-B14F-4D97-AF65-F5344CB8AC3E}">
        <p14:creationId xmlns:p14="http://schemas.microsoft.com/office/powerpoint/2010/main" val="1831243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7B796-AF9E-28F2-29F2-74D945F4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BCA5B3D-8171-C7E0-478A-69AFC511D9D3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2CBB4B3-7C06-C809-0AD9-D2910759D8F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1ACB41-C25C-B11E-A502-031BDF662CD4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AF832431-4306-D5DC-C85B-E45A79667C40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236A7076-EDE6-8883-94FC-63151ADFB820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1E830E94-D020-E99B-8BE2-21CABF632569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DF042807-FF45-A309-CAD9-54D1BA6965C3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474DF55A-03F0-8B2F-F3A4-108D6170CE15}"/>
              </a:ext>
            </a:extLst>
          </p:cNvPr>
          <p:cNvSpPr/>
          <p:nvPr/>
        </p:nvSpPr>
        <p:spPr>
          <a:xfrm>
            <a:off x="759472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A3DA4F1-6749-D1E3-2E2A-2A7AF8EAD05E}"/>
              </a:ext>
            </a:extLst>
          </p:cNvPr>
          <p:cNvSpPr/>
          <p:nvPr/>
        </p:nvSpPr>
        <p:spPr>
          <a:xfrm>
            <a:off x="224666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5056C17-3F7F-7B4F-68A2-A86AF194EAB2}"/>
              </a:ext>
            </a:extLst>
          </p:cNvPr>
          <p:cNvSpPr/>
          <p:nvPr/>
        </p:nvSpPr>
        <p:spPr>
          <a:xfrm>
            <a:off x="7345467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4F49708-0911-EB1C-E63F-1E8AA73FAD50}"/>
              </a:ext>
            </a:extLst>
          </p:cNvPr>
          <p:cNvSpPr/>
          <p:nvPr/>
        </p:nvSpPr>
        <p:spPr>
          <a:xfrm>
            <a:off x="886209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Graphic 6" descr="Hammer with solid fill">
            <a:extLst>
              <a:ext uri="{FF2B5EF4-FFF2-40B4-BE49-F238E27FC236}">
                <a16:creationId xmlns:a16="http://schemas.microsoft.com/office/drawing/2014/main" id="{673FE7E3-151E-6169-57E0-91507C7C1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917" y="2545068"/>
            <a:ext cx="687473" cy="687473"/>
          </a:xfrm>
          <a:prstGeom prst="rect">
            <a:avLst/>
          </a:prstGeom>
        </p:spPr>
      </p:pic>
      <p:sp>
        <p:nvSpPr>
          <p:cNvPr id="9" name="Szövegdoboz 5">
            <a:extLst>
              <a:ext uri="{FF2B5EF4-FFF2-40B4-BE49-F238E27FC236}">
                <a16:creationId xmlns:a16="http://schemas.microsoft.com/office/drawing/2014/main" id="{6FFFF269-F8C3-F1EA-E6F2-2AE31DCD8614}"/>
              </a:ext>
            </a:extLst>
          </p:cNvPr>
          <p:cNvSpPr txBox="1"/>
          <p:nvPr/>
        </p:nvSpPr>
        <p:spPr>
          <a:xfrm>
            <a:off x="112475" y="4368510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1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Szövegdoboz 5">
            <a:extLst>
              <a:ext uri="{FF2B5EF4-FFF2-40B4-BE49-F238E27FC236}">
                <a16:creationId xmlns:a16="http://schemas.microsoft.com/office/drawing/2014/main" id="{444D2DAC-6288-DDEE-8F05-8EABE44A24CE}"/>
              </a:ext>
            </a:extLst>
          </p:cNvPr>
          <p:cNvSpPr txBox="1"/>
          <p:nvPr/>
        </p:nvSpPr>
        <p:spPr>
          <a:xfrm>
            <a:off x="2313888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2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Szövegdoboz 5">
            <a:extLst>
              <a:ext uri="{FF2B5EF4-FFF2-40B4-BE49-F238E27FC236}">
                <a16:creationId xmlns:a16="http://schemas.microsoft.com/office/drawing/2014/main" id="{04A50C59-9648-DF5C-EE61-9DF075BFC8A9}"/>
              </a:ext>
            </a:extLst>
          </p:cNvPr>
          <p:cNvSpPr txBox="1"/>
          <p:nvPr/>
        </p:nvSpPr>
        <p:spPr>
          <a:xfrm>
            <a:off x="6779016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Observational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3" name="Szövegdoboz 5">
            <a:extLst>
              <a:ext uri="{FF2B5EF4-FFF2-40B4-BE49-F238E27FC236}">
                <a16:creationId xmlns:a16="http://schemas.microsoft.com/office/drawing/2014/main" id="{8AB3002F-7C38-C00B-46D6-2340B1B6C047}"/>
              </a:ext>
            </a:extLst>
          </p:cNvPr>
          <p:cNvSpPr txBox="1"/>
          <p:nvPr/>
        </p:nvSpPr>
        <p:spPr>
          <a:xfrm>
            <a:off x="8703917" y="4412537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Interventional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956A55-46BF-CD73-062D-6BAA0B1DBBD7}"/>
              </a:ext>
            </a:extLst>
          </p:cNvPr>
          <p:cNvCxnSpPr>
            <a:cxnSpLocks/>
          </p:cNvCxnSpPr>
          <p:nvPr/>
        </p:nvCxnSpPr>
        <p:spPr>
          <a:xfrm>
            <a:off x="8445062" y="3203589"/>
            <a:ext cx="1099595" cy="0"/>
          </a:xfrm>
          <a:prstGeom prst="straightConnector1">
            <a:avLst/>
          </a:prstGeom>
          <a:ln w="38100" cmpd="dbl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23">
            <a:extLst>
              <a:ext uri="{FF2B5EF4-FFF2-40B4-BE49-F238E27FC236}">
                <a16:creationId xmlns:a16="http://schemas.microsoft.com/office/drawing/2014/main" id="{F6738999-2BF9-FB37-632D-112C3109793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891322-E70E-5771-88F2-13B33A22A7CB}"/>
              </a:ext>
            </a:extLst>
          </p:cNvPr>
          <p:cNvSpPr/>
          <p:nvPr/>
        </p:nvSpPr>
        <p:spPr>
          <a:xfrm>
            <a:off x="513452" y="5611546"/>
            <a:ext cx="2085686" cy="26054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5A4A5C-2276-0B9E-A00E-8055A3888A60}"/>
              </a:ext>
            </a:extLst>
          </p:cNvPr>
          <p:cNvSpPr/>
          <p:nvPr/>
        </p:nvSpPr>
        <p:spPr>
          <a:xfrm>
            <a:off x="495008" y="4843125"/>
            <a:ext cx="2207420" cy="32108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87CD90-B48A-9003-EB25-D7C89509AE8E}"/>
              </a:ext>
            </a:extLst>
          </p:cNvPr>
          <p:cNvSpPr/>
          <p:nvPr/>
        </p:nvSpPr>
        <p:spPr>
          <a:xfrm>
            <a:off x="3174271" y="4838758"/>
            <a:ext cx="2543176" cy="307778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Natural experiment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B9B8C061-3B58-4892-3B1D-7A640C4D72F9}"/>
              </a:ext>
            </a:extLst>
          </p:cNvPr>
          <p:cNvSpPr txBox="1"/>
          <p:nvPr/>
        </p:nvSpPr>
        <p:spPr>
          <a:xfrm>
            <a:off x="3084827" y="5116496"/>
            <a:ext cx="2724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Different tax in neighboring cities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523B73A8-A15A-B9E7-1E55-473BC011BC49}"/>
              </a:ext>
            </a:extLst>
          </p:cNvPr>
          <p:cNvSpPr txBox="1"/>
          <p:nvPr/>
        </p:nvSpPr>
        <p:spPr>
          <a:xfrm>
            <a:off x="555875" y="5168642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Blue- vs White-collar</a:t>
            </a:r>
          </a:p>
        </p:txBody>
      </p:sp>
      <p:sp>
        <p:nvSpPr>
          <p:cNvPr id="30" name="Szövegdoboz 3">
            <a:extLst>
              <a:ext uri="{FF2B5EF4-FFF2-40B4-BE49-F238E27FC236}">
                <a16:creationId xmlns:a16="http://schemas.microsoft.com/office/drawing/2014/main" id="{A4043B85-9166-D739-0711-BE5183CD7353}"/>
              </a:ext>
            </a:extLst>
          </p:cNvPr>
          <p:cNvSpPr txBox="1"/>
          <p:nvPr/>
        </p:nvSpPr>
        <p:spPr>
          <a:xfrm>
            <a:off x="574319" y="5855926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X-Ray + CO</a:t>
            </a:r>
            <a:r>
              <a:rPr lang="en-US" sz="1400" baseline="-25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2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retention</a:t>
            </a:r>
          </a:p>
        </p:txBody>
      </p:sp>
    </p:spTree>
    <p:extLst>
      <p:ext uri="{BB962C8B-B14F-4D97-AF65-F5344CB8AC3E}">
        <p14:creationId xmlns:p14="http://schemas.microsoft.com/office/powerpoint/2010/main" val="683941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E6E69-77D4-3533-0BD4-2A9DF675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F36AE01-AA3A-B5EA-2586-54B495E53029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274A358-9E4B-4C16-B08C-9FB3190FF8A6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F15C2F-D6E7-38D8-A443-3B81B9E19FEA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8271DA52-55DA-52CD-80BF-6D9430FDBBDD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D6E8CC3E-3E7B-4F29-83D4-7B09A4581679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5C41A11F-1368-DA2D-5542-D2C40D5DEF39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0900A3CC-D72E-15FA-3D49-346E27B89B40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45B0902F-9A56-207C-D600-B036BFA92112}"/>
              </a:ext>
            </a:extLst>
          </p:cNvPr>
          <p:cNvSpPr/>
          <p:nvPr/>
        </p:nvSpPr>
        <p:spPr>
          <a:xfrm>
            <a:off x="759472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6CF94B4-37A0-E7B4-31D9-C69D38CBD3B1}"/>
              </a:ext>
            </a:extLst>
          </p:cNvPr>
          <p:cNvSpPr/>
          <p:nvPr/>
        </p:nvSpPr>
        <p:spPr>
          <a:xfrm>
            <a:off x="224666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CE8B264-15C9-0BC7-14EA-4DBBD403B9CD}"/>
              </a:ext>
            </a:extLst>
          </p:cNvPr>
          <p:cNvSpPr/>
          <p:nvPr/>
        </p:nvSpPr>
        <p:spPr>
          <a:xfrm>
            <a:off x="7345467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352FDB7-A2DA-31B4-799C-B316DEB56C88}"/>
              </a:ext>
            </a:extLst>
          </p:cNvPr>
          <p:cNvSpPr/>
          <p:nvPr/>
        </p:nvSpPr>
        <p:spPr>
          <a:xfrm>
            <a:off x="886209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Graphic 6" descr="Hammer with solid fill">
            <a:extLst>
              <a:ext uri="{FF2B5EF4-FFF2-40B4-BE49-F238E27FC236}">
                <a16:creationId xmlns:a16="http://schemas.microsoft.com/office/drawing/2014/main" id="{6149D011-4D2D-72F0-E413-7D6E30F9F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917" y="2545068"/>
            <a:ext cx="687473" cy="687473"/>
          </a:xfrm>
          <a:prstGeom prst="rect">
            <a:avLst/>
          </a:prstGeom>
        </p:spPr>
      </p:pic>
      <p:sp>
        <p:nvSpPr>
          <p:cNvPr id="9" name="Szövegdoboz 5">
            <a:extLst>
              <a:ext uri="{FF2B5EF4-FFF2-40B4-BE49-F238E27FC236}">
                <a16:creationId xmlns:a16="http://schemas.microsoft.com/office/drawing/2014/main" id="{0534F5E1-EF79-805A-6D3C-8CDC5015E29C}"/>
              </a:ext>
            </a:extLst>
          </p:cNvPr>
          <p:cNvSpPr txBox="1"/>
          <p:nvPr/>
        </p:nvSpPr>
        <p:spPr>
          <a:xfrm>
            <a:off x="112475" y="4368510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1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Szövegdoboz 5">
            <a:extLst>
              <a:ext uri="{FF2B5EF4-FFF2-40B4-BE49-F238E27FC236}">
                <a16:creationId xmlns:a16="http://schemas.microsoft.com/office/drawing/2014/main" id="{FE93B794-CAB2-2240-726F-6EE5EA9FB786}"/>
              </a:ext>
            </a:extLst>
          </p:cNvPr>
          <p:cNvSpPr txBox="1"/>
          <p:nvPr/>
        </p:nvSpPr>
        <p:spPr>
          <a:xfrm>
            <a:off x="2313888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2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Szövegdoboz 5">
            <a:extLst>
              <a:ext uri="{FF2B5EF4-FFF2-40B4-BE49-F238E27FC236}">
                <a16:creationId xmlns:a16="http://schemas.microsoft.com/office/drawing/2014/main" id="{77FC2C24-F5F6-2E50-1552-5AC6916BB6BE}"/>
              </a:ext>
            </a:extLst>
          </p:cNvPr>
          <p:cNvSpPr txBox="1"/>
          <p:nvPr/>
        </p:nvSpPr>
        <p:spPr>
          <a:xfrm>
            <a:off x="6779016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Observational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3" name="Szövegdoboz 5">
            <a:extLst>
              <a:ext uri="{FF2B5EF4-FFF2-40B4-BE49-F238E27FC236}">
                <a16:creationId xmlns:a16="http://schemas.microsoft.com/office/drawing/2014/main" id="{834A8886-7851-F2F5-B954-D4CAE9D1DEC8}"/>
              </a:ext>
            </a:extLst>
          </p:cNvPr>
          <p:cNvSpPr txBox="1"/>
          <p:nvPr/>
        </p:nvSpPr>
        <p:spPr>
          <a:xfrm>
            <a:off x="8703917" y="4412537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Interventional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A1EE37-87EA-0CD2-3EF9-974AD3604BD7}"/>
              </a:ext>
            </a:extLst>
          </p:cNvPr>
          <p:cNvCxnSpPr>
            <a:cxnSpLocks/>
          </p:cNvCxnSpPr>
          <p:nvPr/>
        </p:nvCxnSpPr>
        <p:spPr>
          <a:xfrm>
            <a:off x="8445062" y="3203589"/>
            <a:ext cx="1099595" cy="0"/>
          </a:xfrm>
          <a:prstGeom prst="straightConnector1">
            <a:avLst/>
          </a:prstGeom>
          <a:ln w="38100" cmpd="dbl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23">
            <a:extLst>
              <a:ext uri="{FF2B5EF4-FFF2-40B4-BE49-F238E27FC236}">
                <a16:creationId xmlns:a16="http://schemas.microsoft.com/office/drawing/2014/main" id="{94B25D24-C0BC-F8BC-A618-45B90D16AACB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172E4F-119C-012D-CF72-60F8B4AE798D}"/>
              </a:ext>
            </a:extLst>
          </p:cNvPr>
          <p:cNvSpPr/>
          <p:nvPr/>
        </p:nvSpPr>
        <p:spPr>
          <a:xfrm>
            <a:off x="9907556" y="5010325"/>
            <a:ext cx="2085686" cy="307778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Perfect (hard)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BD3FAF-B493-EAE3-FCA1-A3F1FA16813D}"/>
              </a:ext>
            </a:extLst>
          </p:cNvPr>
          <p:cNvSpPr/>
          <p:nvPr/>
        </p:nvSpPr>
        <p:spPr>
          <a:xfrm>
            <a:off x="7134605" y="4982985"/>
            <a:ext cx="2085686" cy="307777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Imperfect (soft)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BF89BE-69D2-81CD-53EF-1B8FDCF7695A}"/>
              </a:ext>
            </a:extLst>
          </p:cNvPr>
          <p:cNvSpPr/>
          <p:nvPr/>
        </p:nvSpPr>
        <p:spPr>
          <a:xfrm>
            <a:off x="513452" y="5611546"/>
            <a:ext cx="2085686" cy="26054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BDCE6E-F6DB-9009-F7A0-A597A74707E5}"/>
              </a:ext>
            </a:extLst>
          </p:cNvPr>
          <p:cNvSpPr/>
          <p:nvPr/>
        </p:nvSpPr>
        <p:spPr>
          <a:xfrm>
            <a:off x="495008" y="4843125"/>
            <a:ext cx="2207420" cy="321089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4EF9A5-F6C7-7FFD-D3F5-6A837BE44ADB}"/>
              </a:ext>
            </a:extLst>
          </p:cNvPr>
          <p:cNvSpPr/>
          <p:nvPr/>
        </p:nvSpPr>
        <p:spPr>
          <a:xfrm>
            <a:off x="3174271" y="4838758"/>
            <a:ext cx="2543176" cy="307778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Natural experiment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2CAC53C1-DF99-C6E9-EE16-ED6B4C963AAF}"/>
              </a:ext>
            </a:extLst>
          </p:cNvPr>
          <p:cNvSpPr txBox="1"/>
          <p:nvPr/>
        </p:nvSpPr>
        <p:spPr>
          <a:xfrm>
            <a:off x="3084827" y="5116496"/>
            <a:ext cx="2724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Different tax in neighboring cities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357433D7-8834-D4A3-3DDC-923346CE96A6}"/>
              </a:ext>
            </a:extLst>
          </p:cNvPr>
          <p:cNvSpPr txBox="1"/>
          <p:nvPr/>
        </p:nvSpPr>
        <p:spPr>
          <a:xfrm>
            <a:off x="555875" y="5168642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Blue- vs White-collar</a:t>
            </a:r>
          </a:p>
        </p:txBody>
      </p:sp>
      <p:sp>
        <p:nvSpPr>
          <p:cNvPr id="28" name="Szövegdoboz 3">
            <a:extLst>
              <a:ext uri="{FF2B5EF4-FFF2-40B4-BE49-F238E27FC236}">
                <a16:creationId xmlns:a16="http://schemas.microsoft.com/office/drawing/2014/main" id="{580149DB-FA68-47D8-515D-D432ED22CF57}"/>
              </a:ext>
            </a:extLst>
          </p:cNvPr>
          <p:cNvSpPr txBox="1"/>
          <p:nvPr/>
        </p:nvSpPr>
        <p:spPr>
          <a:xfrm>
            <a:off x="10352348" y="5248119"/>
            <a:ext cx="162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 ban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F77B290A-3E51-546F-C6E0-E4998E9F5FB8}"/>
              </a:ext>
            </a:extLst>
          </p:cNvPr>
          <p:cNvSpPr txBox="1"/>
          <p:nvPr/>
        </p:nvSpPr>
        <p:spPr>
          <a:xfrm>
            <a:off x="6967825" y="5294254"/>
            <a:ext cx="2581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Educational campaign, tax increase</a:t>
            </a:r>
          </a:p>
        </p:txBody>
      </p:sp>
      <p:sp>
        <p:nvSpPr>
          <p:cNvPr id="30" name="Szövegdoboz 3">
            <a:extLst>
              <a:ext uri="{FF2B5EF4-FFF2-40B4-BE49-F238E27FC236}">
                <a16:creationId xmlns:a16="http://schemas.microsoft.com/office/drawing/2014/main" id="{056179D4-9FC1-A928-0181-9A6E3BC94984}"/>
              </a:ext>
            </a:extLst>
          </p:cNvPr>
          <p:cNvSpPr txBox="1"/>
          <p:nvPr/>
        </p:nvSpPr>
        <p:spPr>
          <a:xfrm>
            <a:off x="574319" y="5855926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X-Ray + CO</a:t>
            </a:r>
            <a:r>
              <a:rPr lang="en-US" sz="1400" baseline="-25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2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retention</a:t>
            </a:r>
          </a:p>
        </p:txBody>
      </p:sp>
    </p:spTree>
    <p:extLst>
      <p:ext uri="{BB962C8B-B14F-4D97-AF65-F5344CB8AC3E}">
        <p14:creationId xmlns:p14="http://schemas.microsoft.com/office/powerpoint/2010/main" val="60591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440CA-C8A7-0C53-78A4-06976ABE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7AC023D-6440-5209-55CF-7FBF424628E7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makes identifiability possible?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093E783-3E79-4F34-12A0-DE4D2AD0EF7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606D46-8B60-A924-36EF-79B63390D711}"/>
              </a:ext>
            </a:extLst>
          </p:cNvPr>
          <p:cNvSpPr txBox="1"/>
          <p:nvPr/>
        </p:nvSpPr>
        <p:spPr>
          <a:xfrm>
            <a:off x="112475" y="6360638"/>
            <a:ext cx="1038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Rajendran et al.: An Interventional Perspective on Identifiability in Gaussian LTI Systems with Independent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CLeaR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Marrying Causal Representation Learning with Dynamical Systems for Science.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DB8AC96C-24FE-98D5-20ED-A3AC46AD5DAE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ICA: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67235F8E-2B16-5996-19ED-98A5E3F7FEB7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63969276-2AEF-27A1-1BC7-4C7EBF0ABCDB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Causality: interventions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B1E1F543-9714-3217-ABDA-5EC35CE5CCB1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2269D2C-47DC-741D-7B89-86A2DF0715A7}"/>
              </a:ext>
            </a:extLst>
          </p:cNvPr>
          <p:cNvSpPr/>
          <p:nvPr/>
        </p:nvSpPr>
        <p:spPr>
          <a:xfrm>
            <a:off x="3263462" y="5451022"/>
            <a:ext cx="5181600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data is the key!</a:t>
            </a:r>
            <a:endParaRPr lang="en-DE" sz="2000" dirty="0">
              <a:solidFill>
                <a:schemeClr val="bg1"/>
              </a:solidFill>
            </a:endParaRP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DA108C4-711D-0F3B-7D33-F93922F4A1D8}"/>
              </a:ext>
            </a:extLst>
          </p:cNvPr>
          <p:cNvSpPr/>
          <p:nvPr/>
        </p:nvSpPr>
        <p:spPr>
          <a:xfrm>
            <a:off x="759472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172B2E0-50A1-E398-F90B-A4B92169F836}"/>
              </a:ext>
            </a:extLst>
          </p:cNvPr>
          <p:cNvSpPr/>
          <p:nvPr/>
        </p:nvSpPr>
        <p:spPr>
          <a:xfrm>
            <a:off x="224666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1B37020-5F76-C430-CAA3-5DF74258EAC3}"/>
              </a:ext>
            </a:extLst>
          </p:cNvPr>
          <p:cNvSpPr/>
          <p:nvPr/>
        </p:nvSpPr>
        <p:spPr>
          <a:xfrm>
            <a:off x="7345467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BA23EEB-F693-62A6-DB41-51C9EEBC6E96}"/>
              </a:ext>
            </a:extLst>
          </p:cNvPr>
          <p:cNvSpPr/>
          <p:nvPr/>
        </p:nvSpPr>
        <p:spPr>
          <a:xfrm>
            <a:off x="8862099" y="2842222"/>
            <a:ext cx="2199190" cy="1417215"/>
          </a:xfrm>
          <a:custGeom>
            <a:avLst/>
            <a:gdLst>
              <a:gd name="connsiteX0" fmla="*/ 0 w 2152891"/>
              <a:gd name="connsiteY0" fmla="*/ 1286642 h 1463405"/>
              <a:gd name="connsiteX1" fmla="*/ 509286 w 2152891"/>
              <a:gd name="connsiteY1" fmla="*/ 1182469 h 1463405"/>
              <a:gd name="connsiteX2" fmla="*/ 879676 w 2152891"/>
              <a:gd name="connsiteY2" fmla="*/ 59725 h 1463405"/>
              <a:gd name="connsiteX3" fmla="*/ 1215342 w 2152891"/>
              <a:gd name="connsiteY3" fmla="*/ 279644 h 1463405"/>
              <a:gd name="connsiteX4" fmla="*/ 1597306 w 2152891"/>
              <a:gd name="connsiteY4" fmla="*/ 1344515 h 1463405"/>
              <a:gd name="connsiteX5" fmla="*/ 2152891 w 2152891"/>
              <a:gd name="connsiteY5" fmla="*/ 1379239 h 1463405"/>
              <a:gd name="connsiteX0" fmla="*/ 0 w 2152891"/>
              <a:gd name="connsiteY0" fmla="*/ 1320540 h 1497303"/>
              <a:gd name="connsiteX1" fmla="*/ 509286 w 2152891"/>
              <a:gd name="connsiteY1" fmla="*/ 1216367 h 1497303"/>
              <a:gd name="connsiteX2" fmla="*/ 879676 w 2152891"/>
              <a:gd name="connsiteY2" fmla="*/ 93623 h 1497303"/>
              <a:gd name="connsiteX3" fmla="*/ 1226917 w 2152891"/>
              <a:gd name="connsiteY3" fmla="*/ 209370 h 1497303"/>
              <a:gd name="connsiteX4" fmla="*/ 1597306 w 2152891"/>
              <a:gd name="connsiteY4" fmla="*/ 1378413 h 1497303"/>
              <a:gd name="connsiteX5" fmla="*/ 2152891 w 2152891"/>
              <a:gd name="connsiteY5" fmla="*/ 1413137 h 1497303"/>
              <a:gd name="connsiteX0" fmla="*/ 0 w 2152891"/>
              <a:gd name="connsiteY0" fmla="*/ 1313043 h 1435574"/>
              <a:gd name="connsiteX1" fmla="*/ 509286 w 2152891"/>
              <a:gd name="connsiteY1" fmla="*/ 1208870 h 1435574"/>
              <a:gd name="connsiteX2" fmla="*/ 879676 w 2152891"/>
              <a:gd name="connsiteY2" fmla="*/ 86126 h 1435574"/>
              <a:gd name="connsiteX3" fmla="*/ 1226917 w 2152891"/>
              <a:gd name="connsiteY3" fmla="*/ 201873 h 1435574"/>
              <a:gd name="connsiteX4" fmla="*/ 1562582 w 2152891"/>
              <a:gd name="connsiteY4" fmla="*/ 1197295 h 1435574"/>
              <a:gd name="connsiteX5" fmla="*/ 2152891 w 2152891"/>
              <a:gd name="connsiteY5" fmla="*/ 1405640 h 1435574"/>
              <a:gd name="connsiteX0" fmla="*/ 0 w 2152891"/>
              <a:gd name="connsiteY0" fmla="*/ 1313043 h 1405640"/>
              <a:gd name="connsiteX1" fmla="*/ 509286 w 2152891"/>
              <a:gd name="connsiteY1" fmla="*/ 1208870 h 1405640"/>
              <a:gd name="connsiteX2" fmla="*/ 879676 w 2152891"/>
              <a:gd name="connsiteY2" fmla="*/ 86126 h 1405640"/>
              <a:gd name="connsiteX3" fmla="*/ 1226917 w 2152891"/>
              <a:gd name="connsiteY3" fmla="*/ 201873 h 1405640"/>
              <a:gd name="connsiteX4" fmla="*/ 1562582 w 2152891"/>
              <a:gd name="connsiteY4" fmla="*/ 1197295 h 1405640"/>
              <a:gd name="connsiteX5" fmla="*/ 2152891 w 2152891"/>
              <a:gd name="connsiteY5" fmla="*/ 1405640 h 1405640"/>
              <a:gd name="connsiteX0" fmla="*/ 0 w 2199190"/>
              <a:gd name="connsiteY0" fmla="*/ 1417215 h 1437020"/>
              <a:gd name="connsiteX1" fmla="*/ 555585 w 2199190"/>
              <a:gd name="connsiteY1" fmla="*/ 1208870 h 1437020"/>
              <a:gd name="connsiteX2" fmla="*/ 925975 w 2199190"/>
              <a:gd name="connsiteY2" fmla="*/ 86126 h 1437020"/>
              <a:gd name="connsiteX3" fmla="*/ 1273216 w 2199190"/>
              <a:gd name="connsiteY3" fmla="*/ 201873 h 1437020"/>
              <a:gd name="connsiteX4" fmla="*/ 1608881 w 2199190"/>
              <a:gd name="connsiteY4" fmla="*/ 1197295 h 1437020"/>
              <a:gd name="connsiteX5" fmla="*/ 2199190 w 2199190"/>
              <a:gd name="connsiteY5" fmla="*/ 1405640 h 1437020"/>
              <a:gd name="connsiteX0" fmla="*/ 0 w 2199190"/>
              <a:gd name="connsiteY0" fmla="*/ 1417215 h 1417215"/>
              <a:gd name="connsiteX1" fmla="*/ 555585 w 2199190"/>
              <a:gd name="connsiteY1" fmla="*/ 1208870 h 1417215"/>
              <a:gd name="connsiteX2" fmla="*/ 925975 w 2199190"/>
              <a:gd name="connsiteY2" fmla="*/ 86126 h 1417215"/>
              <a:gd name="connsiteX3" fmla="*/ 1273216 w 2199190"/>
              <a:gd name="connsiteY3" fmla="*/ 201873 h 1417215"/>
              <a:gd name="connsiteX4" fmla="*/ 1608881 w 2199190"/>
              <a:gd name="connsiteY4" fmla="*/ 1197295 h 1417215"/>
              <a:gd name="connsiteX5" fmla="*/ 2199190 w 2199190"/>
              <a:gd name="connsiteY5" fmla="*/ 1405640 h 1417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9190" h="1417215">
                <a:moveTo>
                  <a:pt x="0" y="1417215"/>
                </a:moveTo>
                <a:cubicBezTo>
                  <a:pt x="285508" y="1363199"/>
                  <a:pt x="401256" y="1430718"/>
                  <a:pt x="555585" y="1208870"/>
                </a:cubicBezTo>
                <a:cubicBezTo>
                  <a:pt x="709914" y="987022"/>
                  <a:pt x="806370" y="253959"/>
                  <a:pt x="925975" y="86126"/>
                </a:cubicBezTo>
                <a:cubicBezTo>
                  <a:pt x="1045580" y="-81707"/>
                  <a:pt x="1159398" y="16678"/>
                  <a:pt x="1273216" y="201873"/>
                </a:cubicBezTo>
                <a:cubicBezTo>
                  <a:pt x="1387034" y="387068"/>
                  <a:pt x="1452623" y="1014029"/>
                  <a:pt x="1608881" y="1197295"/>
                </a:cubicBezTo>
                <a:cubicBezTo>
                  <a:pt x="1765139" y="1380561"/>
                  <a:pt x="1682187" y="1399852"/>
                  <a:pt x="2199190" y="1405640"/>
                </a:cubicBezTo>
              </a:path>
            </a:pathLst>
          </a:custGeom>
          <a:noFill/>
          <a:ln w="38100">
            <a:solidFill>
              <a:srgbClr val="D101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Graphic 6" descr="Hammer with solid fill">
            <a:extLst>
              <a:ext uri="{FF2B5EF4-FFF2-40B4-BE49-F238E27FC236}">
                <a16:creationId xmlns:a16="http://schemas.microsoft.com/office/drawing/2014/main" id="{7AAE45A5-AC8C-7AFD-5B89-B16594533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917" y="2545068"/>
            <a:ext cx="687473" cy="687473"/>
          </a:xfrm>
          <a:prstGeom prst="rect">
            <a:avLst/>
          </a:prstGeom>
        </p:spPr>
      </p:pic>
      <p:sp>
        <p:nvSpPr>
          <p:cNvPr id="9" name="Szövegdoboz 5">
            <a:extLst>
              <a:ext uri="{FF2B5EF4-FFF2-40B4-BE49-F238E27FC236}">
                <a16:creationId xmlns:a16="http://schemas.microsoft.com/office/drawing/2014/main" id="{69904E24-7987-CB8B-D0FB-237029E04223}"/>
              </a:ext>
            </a:extLst>
          </p:cNvPr>
          <p:cNvSpPr txBox="1"/>
          <p:nvPr/>
        </p:nvSpPr>
        <p:spPr>
          <a:xfrm>
            <a:off x="112475" y="4368510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1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Szövegdoboz 5">
            <a:extLst>
              <a:ext uri="{FF2B5EF4-FFF2-40B4-BE49-F238E27FC236}">
                <a16:creationId xmlns:a16="http://schemas.microsoft.com/office/drawing/2014/main" id="{7F25DF04-74E1-B851-D994-8D033233B7BC}"/>
              </a:ext>
            </a:extLst>
          </p:cNvPr>
          <p:cNvSpPr txBox="1"/>
          <p:nvPr/>
        </p:nvSpPr>
        <p:spPr>
          <a:xfrm>
            <a:off x="2313888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Environment 2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Szövegdoboz 5">
            <a:extLst>
              <a:ext uri="{FF2B5EF4-FFF2-40B4-BE49-F238E27FC236}">
                <a16:creationId xmlns:a16="http://schemas.microsoft.com/office/drawing/2014/main" id="{45235AA9-714C-7E82-6B7E-A4F7ADBF3DC1}"/>
              </a:ext>
            </a:extLst>
          </p:cNvPr>
          <p:cNvSpPr txBox="1"/>
          <p:nvPr/>
        </p:nvSpPr>
        <p:spPr>
          <a:xfrm>
            <a:off x="6779016" y="4395624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Observational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3" name="Szövegdoboz 5">
            <a:extLst>
              <a:ext uri="{FF2B5EF4-FFF2-40B4-BE49-F238E27FC236}">
                <a16:creationId xmlns:a16="http://schemas.microsoft.com/office/drawing/2014/main" id="{162B37D0-9646-34FA-C78E-7369D76CBDCE}"/>
              </a:ext>
            </a:extLst>
          </p:cNvPr>
          <p:cNvSpPr txBox="1"/>
          <p:nvPr/>
        </p:nvSpPr>
        <p:spPr>
          <a:xfrm>
            <a:off x="8703917" y="4412537"/>
            <a:ext cx="258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Interventional</a:t>
            </a:r>
            <a:endParaRPr lang="hu-HU" dirty="0">
              <a:solidFill>
                <a:srgbClr val="D1011B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516CE0-DCCD-74C0-593F-D5AD6A422B1A}"/>
              </a:ext>
            </a:extLst>
          </p:cNvPr>
          <p:cNvCxnSpPr>
            <a:cxnSpLocks/>
          </p:cNvCxnSpPr>
          <p:nvPr/>
        </p:nvCxnSpPr>
        <p:spPr>
          <a:xfrm>
            <a:off x="8445062" y="3203589"/>
            <a:ext cx="1099595" cy="0"/>
          </a:xfrm>
          <a:prstGeom prst="straightConnector1">
            <a:avLst/>
          </a:prstGeom>
          <a:ln w="38100" cmpd="dbl">
            <a:solidFill>
              <a:srgbClr val="D101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23">
            <a:extLst>
              <a:ext uri="{FF2B5EF4-FFF2-40B4-BE49-F238E27FC236}">
                <a16:creationId xmlns:a16="http://schemas.microsoft.com/office/drawing/2014/main" id="{2512A3A4-8007-A32B-FDF4-616A036FCA9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983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822C7-8688-0AE2-D68A-B905BE12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80118A4-C0D9-475F-7437-C643843440C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 unifies ICA and causality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EFE3AE1-A000-5EBF-CFF9-FA9633DC0766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D381E1-E9B2-5BB5-73AD-53FDE4095F73}"/>
              </a:ext>
            </a:extLst>
          </p:cNvPr>
          <p:cNvSpPr txBox="1"/>
          <p:nvPr/>
        </p:nvSpPr>
        <p:spPr>
          <a:xfrm>
            <a:off x="112475" y="6518190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4DA3D585-86A1-2045-047B-8819C5B50A91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31D390B9-0DEC-07F4-5E22-416A772B5C72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872592EE-D621-3423-55C3-1B7F0CC4A161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E45C7146-CE23-E839-B074-25A62547472F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2480C332-EFA7-85C3-C89A-6496887F97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3086"/>
          <a:stretch/>
        </p:blipFill>
        <p:spPr>
          <a:xfrm>
            <a:off x="2087210" y="2581012"/>
            <a:ext cx="2091846" cy="2510713"/>
          </a:xfrm>
          <a:prstGeom prst="rect">
            <a:avLst/>
          </a:prstGeom>
        </p:spPr>
      </p:pic>
      <p:sp>
        <p:nvSpPr>
          <p:cNvPr id="3" name="Szövegdoboz 23">
            <a:extLst>
              <a:ext uri="{FF2B5EF4-FFF2-40B4-BE49-F238E27FC236}">
                <a16:creationId xmlns:a16="http://schemas.microsoft.com/office/drawing/2014/main" id="{174CAC68-B975-4BC6-C642-F1A7BFD457F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054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3B9BA-155E-3A18-A007-EB1A7983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BE84F81-3B1D-CB12-7401-8DCBC42A5863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 unifies ICA and causality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F04C2A8-2F11-52D6-F518-B063AF3E043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7CD5D8-1F88-C277-CFA6-EAB3B6148CA1}"/>
              </a:ext>
            </a:extLst>
          </p:cNvPr>
          <p:cNvSpPr txBox="1"/>
          <p:nvPr/>
        </p:nvSpPr>
        <p:spPr>
          <a:xfrm>
            <a:off x="112475" y="6518190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2443451C-E00B-5D39-021A-8BF4A9D3CFEC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6F1E42BA-52AA-1108-E0D9-5D6F6CC22DF5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0FCB4E37-B3B2-B5CF-5770-4B4082B5FCB7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BBB21A2C-64EE-ED83-5CA3-3E5806D1962C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BEC055FC-FA97-6804-2B07-4D767E33F34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3086"/>
          <a:stretch/>
        </p:blipFill>
        <p:spPr>
          <a:xfrm>
            <a:off x="2087210" y="2581012"/>
            <a:ext cx="2091846" cy="2510713"/>
          </a:xfrm>
          <a:prstGeom prst="rect">
            <a:avLst/>
          </a:prstGeom>
        </p:spPr>
      </p:pic>
      <p:pic>
        <p:nvPicPr>
          <p:cNvPr id="3" name="Picture 2" descr="A diagram of a function&#10;&#10;Description automatically generated">
            <a:extLst>
              <a:ext uri="{FF2B5EF4-FFF2-40B4-BE49-F238E27FC236}">
                <a16:creationId xmlns:a16="http://schemas.microsoft.com/office/drawing/2014/main" id="{C0F568A4-3B8C-C37C-8D94-F4A292F992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3086"/>
          <a:stretch/>
        </p:blipFill>
        <p:spPr>
          <a:xfrm>
            <a:off x="8405600" y="2581012"/>
            <a:ext cx="2091846" cy="2510713"/>
          </a:xfrm>
          <a:prstGeom prst="rect">
            <a:avLst/>
          </a:prstGeom>
        </p:spPr>
      </p:pic>
      <p:sp>
        <p:nvSpPr>
          <p:cNvPr id="5" name="Szövegdoboz 23">
            <a:extLst>
              <a:ext uri="{FF2B5EF4-FFF2-40B4-BE49-F238E27FC236}">
                <a16:creationId xmlns:a16="http://schemas.microsoft.com/office/drawing/2014/main" id="{8AEF23B9-A596-C13C-711D-D89DE31F16D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045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9331E-F388-4B5D-2797-E1142C79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56F4E362-9093-18E2-CBD3-B2AFE58DAF57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 unifies ICA and causality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7D1C607-CFCB-5A5F-81A4-6AC8BCD1106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7CBBC3E-85E5-3DD7-5279-EA0AC37B062F}"/>
              </a:ext>
            </a:extLst>
          </p:cNvPr>
          <p:cNvSpPr txBox="1"/>
          <p:nvPr/>
        </p:nvSpPr>
        <p:spPr>
          <a:xfrm>
            <a:off x="112475" y="6518190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55082373-256F-F925-7A6E-9BFAC348ED54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DC873A39-36FA-4A13-4E83-DE9E33231864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2ADE0285-B852-6D51-CE4F-901BC9EDB9B8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21035085-55D6-18E5-39D7-6812B03B2610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01077E57-ADFE-0BE5-712B-A0CFDD6E3F8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3086"/>
          <a:stretch/>
        </p:blipFill>
        <p:spPr>
          <a:xfrm>
            <a:off x="2087210" y="2581012"/>
            <a:ext cx="2091846" cy="2510713"/>
          </a:xfrm>
          <a:prstGeom prst="rect">
            <a:avLst/>
          </a:prstGeom>
        </p:spPr>
      </p:pic>
      <p:pic>
        <p:nvPicPr>
          <p:cNvPr id="3" name="Picture 2" descr="A diagram of a function&#10;&#10;Description automatically generated">
            <a:extLst>
              <a:ext uri="{FF2B5EF4-FFF2-40B4-BE49-F238E27FC236}">
                <a16:creationId xmlns:a16="http://schemas.microsoft.com/office/drawing/2014/main" id="{9500C75B-DD13-5A8B-E671-D3B81FD3CAA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3086"/>
          <a:stretch/>
        </p:blipFill>
        <p:spPr>
          <a:xfrm>
            <a:off x="8405600" y="2581012"/>
            <a:ext cx="2091846" cy="2510713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055EEA97-5459-06CD-C58D-AB2F9BAC40D8}"/>
              </a:ext>
            </a:extLst>
          </p:cNvPr>
          <p:cNvSpPr/>
          <p:nvPr/>
        </p:nvSpPr>
        <p:spPr>
          <a:xfrm>
            <a:off x="8310716" y="3482233"/>
            <a:ext cx="937848" cy="937848"/>
          </a:xfrm>
          <a:prstGeom prst="mathMultiply">
            <a:avLst>
              <a:gd name="adj1" fmla="val 3697"/>
            </a:avLst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65FF1795-E6F9-5C5F-3C53-469FC287EC72}"/>
              </a:ext>
            </a:extLst>
          </p:cNvPr>
          <p:cNvSpPr/>
          <p:nvPr/>
        </p:nvSpPr>
        <p:spPr>
          <a:xfrm>
            <a:off x="9166942" y="3509347"/>
            <a:ext cx="937848" cy="937848"/>
          </a:xfrm>
          <a:prstGeom prst="mathMultiply">
            <a:avLst>
              <a:gd name="adj1" fmla="val 3697"/>
            </a:avLst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Szövegdoboz 23">
            <a:extLst>
              <a:ext uri="{FF2B5EF4-FFF2-40B4-BE49-F238E27FC236}">
                <a16:creationId xmlns:a16="http://schemas.microsoft.com/office/drawing/2014/main" id="{A9BD0E0E-D84A-1B8A-DCEC-FEF04A12348E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937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B47E0-FB85-DDF0-E130-939C1CE5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052EA86-2ADF-45CD-A9D2-B7740F0E052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 unifies ICA and causality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063E5B2-A102-4442-CD56-9178704578E4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D564CA-7A9B-837F-5F2F-F7598746471D}"/>
              </a:ext>
            </a:extLst>
          </p:cNvPr>
          <p:cNvSpPr txBox="1"/>
          <p:nvPr/>
        </p:nvSpPr>
        <p:spPr>
          <a:xfrm>
            <a:off x="112475" y="6518190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6FA02C3C-DB58-9395-86A8-AB9AFE446E1A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E13A66E4-0B04-194E-869E-E384DDC8A7F6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71390C8B-9535-8A99-3D6C-689A7BF70099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89580224-8E62-0F3B-F4C3-2E979957EBAF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4A5EEBF-D2A2-7490-CAAF-54D085D6165E}"/>
              </a:ext>
            </a:extLst>
          </p:cNvPr>
          <p:cNvSpPr/>
          <p:nvPr/>
        </p:nvSpPr>
        <p:spPr>
          <a:xfrm>
            <a:off x="3423728" y="5543523"/>
            <a:ext cx="6027795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Exchangeability can describe variability conditions</a:t>
            </a:r>
            <a:endParaRPr lang="en-DE" sz="2000" dirty="0">
              <a:solidFill>
                <a:schemeClr val="bg1"/>
              </a:solidFill>
            </a:endParaRPr>
          </a:p>
        </p:txBody>
      </p: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75CB24F0-3F38-B122-6419-644674AD91B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3086"/>
          <a:stretch/>
        </p:blipFill>
        <p:spPr>
          <a:xfrm>
            <a:off x="2087210" y="2581012"/>
            <a:ext cx="2091846" cy="2510713"/>
          </a:xfrm>
          <a:prstGeom prst="rect">
            <a:avLst/>
          </a:prstGeom>
        </p:spPr>
      </p:pic>
      <p:pic>
        <p:nvPicPr>
          <p:cNvPr id="3" name="Picture 2" descr="A diagram of a function&#10;&#10;Description automatically generated">
            <a:extLst>
              <a:ext uri="{FF2B5EF4-FFF2-40B4-BE49-F238E27FC236}">
                <a16:creationId xmlns:a16="http://schemas.microsoft.com/office/drawing/2014/main" id="{AFBE0C4E-F0A7-28DA-B01B-EF0EEDAA015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3086"/>
          <a:stretch/>
        </p:blipFill>
        <p:spPr>
          <a:xfrm>
            <a:off x="8405600" y="2581012"/>
            <a:ext cx="2091846" cy="2510713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CCB7862F-109D-AD6C-E175-23B99E723F51}"/>
              </a:ext>
            </a:extLst>
          </p:cNvPr>
          <p:cNvSpPr/>
          <p:nvPr/>
        </p:nvSpPr>
        <p:spPr>
          <a:xfrm>
            <a:off x="8310716" y="3482233"/>
            <a:ext cx="937848" cy="937848"/>
          </a:xfrm>
          <a:prstGeom prst="mathMultiply">
            <a:avLst>
              <a:gd name="adj1" fmla="val 3697"/>
            </a:avLst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6" name="Multiply 5">
            <a:extLst>
              <a:ext uri="{FF2B5EF4-FFF2-40B4-BE49-F238E27FC236}">
                <a16:creationId xmlns:a16="http://schemas.microsoft.com/office/drawing/2014/main" id="{05245A10-A5C8-1963-33D8-85CFD78251FC}"/>
              </a:ext>
            </a:extLst>
          </p:cNvPr>
          <p:cNvSpPr/>
          <p:nvPr/>
        </p:nvSpPr>
        <p:spPr>
          <a:xfrm>
            <a:off x="9166942" y="3509347"/>
            <a:ext cx="937848" cy="937848"/>
          </a:xfrm>
          <a:prstGeom prst="mathMultiply">
            <a:avLst>
              <a:gd name="adj1" fmla="val 3697"/>
            </a:avLst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Szövegdoboz 23">
            <a:extLst>
              <a:ext uri="{FF2B5EF4-FFF2-40B4-BE49-F238E27FC236}">
                <a16:creationId xmlns:a16="http://schemas.microsoft.com/office/drawing/2014/main" id="{C4825585-249C-FEB8-5EA4-B3E58B36FC6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754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A6D6-3890-3508-870A-E869BB75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703F3F-A92E-31FB-E766-965051596F39}"/>
              </a:ext>
            </a:extLst>
          </p:cNvPr>
          <p:cNvSpPr/>
          <p:nvPr/>
        </p:nvSpPr>
        <p:spPr>
          <a:xfrm>
            <a:off x="0" y="4281715"/>
            <a:ext cx="12192000" cy="2576284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3D853499-AE37-E7B6-8E81-3FF4F988EE80}"/>
              </a:ext>
            </a:extLst>
          </p:cNvPr>
          <p:cNvSpPr txBox="1"/>
          <p:nvPr/>
        </p:nvSpPr>
        <p:spPr>
          <a:xfrm>
            <a:off x="2253343" y="4644091"/>
            <a:ext cx="7685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Identifiable</a:t>
            </a:r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Exchangeable</a:t>
            </a:r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Mechanisms</a:t>
            </a:r>
            <a:endParaRPr lang="hu-HU" sz="3200" dirty="0">
              <a:solidFill>
                <a:schemeClr val="bg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32E6E-2AA8-0564-DD67-F6A088DF7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342900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DB948ABD-1F5C-1D3A-04A5-FAC54164B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351167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1AE9B4A0-3C91-7253-B684-DD28038B009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351920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9F324918-8E4D-4325-4DD3-B6F8FC1C4E1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347764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19E7A741-4B57-543C-F377-E170FA39E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65" y="3565567"/>
            <a:ext cx="2261067" cy="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84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F0A9C-0B85-DE4C-4F5B-A76B86A1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5E0B8D92-C954-3E31-F922-6015DA61C95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39D20FD2-696A-BCED-453B-E71006D3B33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49C54B-9010-A5C9-2B9C-834B6A7E4B8B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49C54B-9010-A5C9-2B9C-834B6A7E4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BEF1C9-F82F-39D0-1DD0-37BE3EE8794A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BEF1C9-F82F-39D0-1DD0-37BE3EE87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95B45ACE-C7B9-B558-DB5D-02DF7B99B19B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510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BD555-74F1-886A-6B81-D47A0E9B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268822D-191C-6FAA-FC6F-FE8753CBFCEB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3D9570FA-FD8D-6E23-0C10-3996C98D77CC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320BE0-950E-CFF9-071E-9A699C7AF01B}"/>
              </a:ext>
            </a:extLst>
          </p:cNvPr>
          <p:cNvCxnSpPr>
            <a:cxnSpLocks/>
          </p:cNvCxnSpPr>
          <p:nvPr/>
        </p:nvCxnSpPr>
        <p:spPr>
          <a:xfrm>
            <a:off x="3560483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3">
            <a:extLst>
              <a:ext uri="{FF2B5EF4-FFF2-40B4-BE49-F238E27FC236}">
                <a16:creationId xmlns:a16="http://schemas.microsoft.com/office/drawing/2014/main" id="{DC8B09D8-9BCD-CA65-C9C4-0847BDB0156E}"/>
              </a:ext>
            </a:extLst>
          </p:cNvPr>
          <p:cNvSpPr txBox="1"/>
          <p:nvPr/>
        </p:nvSpPr>
        <p:spPr>
          <a:xfrm>
            <a:off x="3555604" y="1996153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25F9FD-CFC9-F73D-7986-1900E94B8442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25F9FD-CFC9-F73D-7986-1900E94B8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A61DA-1713-335E-A52F-B90009A5B537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A61DA-1713-335E-A52F-B90009A5B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A1210CA2-9ADB-0238-B5EE-30DE4B64A73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929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23A6C-1F9D-C172-B54F-607730BE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F6C201E-6011-0003-9F5C-6812B97456C2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D119577-623C-BA6F-B0A9-160170BDB3D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438867-EADD-0867-69FA-8E8B5FD0A469}"/>
                  </a:ext>
                </a:extLst>
              </p:cNvPr>
              <p:cNvSpPr/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438867-EADD-0867-69FA-8E8B5FD0A4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9CDEBE-C566-935A-60A0-A510771475B6}"/>
              </a:ext>
            </a:extLst>
          </p:cNvPr>
          <p:cNvCxnSpPr>
            <a:cxnSpLocks/>
          </p:cNvCxnSpPr>
          <p:nvPr/>
        </p:nvCxnSpPr>
        <p:spPr>
          <a:xfrm>
            <a:off x="3560483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AE44D27B-3BE8-349C-4D03-B881820E6D62}"/>
                  </a:ext>
                </a:extLst>
              </p:cNvPr>
              <p:cNvSpPr txBox="1"/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Directed Acyclic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𝐺</m:t>
                    </m:r>
                  </m:oMath>
                </a14:m>
                <a:endParaRPr lang="en-US" sz="2000" b="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AE44D27B-3BE8-349C-4D03-B881820E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3">
            <a:extLst>
              <a:ext uri="{FF2B5EF4-FFF2-40B4-BE49-F238E27FC236}">
                <a16:creationId xmlns:a16="http://schemas.microsoft.com/office/drawing/2014/main" id="{2991E4A0-936C-B051-E293-A8301F5A9AF4}"/>
              </a:ext>
            </a:extLst>
          </p:cNvPr>
          <p:cNvSpPr txBox="1"/>
          <p:nvPr/>
        </p:nvSpPr>
        <p:spPr>
          <a:xfrm>
            <a:off x="3555604" y="1996153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7DA9331F-4C83-DB1D-E15E-3554C261CE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7288" y="3134353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7EE39A-0EBF-5F39-06CF-EA30CE1DE25D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7EE39A-0EBF-5F39-06CF-EA30CE1DE2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ultiply 9">
            <a:extLst>
              <a:ext uri="{FF2B5EF4-FFF2-40B4-BE49-F238E27FC236}">
                <a16:creationId xmlns:a16="http://schemas.microsoft.com/office/drawing/2014/main" id="{B64EA420-C4F2-9DF8-E1FA-517FA55D5445}"/>
              </a:ext>
            </a:extLst>
          </p:cNvPr>
          <p:cNvSpPr/>
          <p:nvPr/>
        </p:nvSpPr>
        <p:spPr>
          <a:xfrm rot="2699970">
            <a:off x="5390747" y="2793772"/>
            <a:ext cx="467482" cy="467482"/>
          </a:xfrm>
          <a:prstGeom prst="mathMultiply">
            <a:avLst>
              <a:gd name="adj1" fmla="val 3697"/>
            </a:avLst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130DEB-DF2E-BEC3-96C4-88C1346E33E3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130DEB-DF2E-BEC3-96C4-88C1346E3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8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42C76033-B326-41C6-C00D-32A9D7845F4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360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7BF73-B7D3-E949-AADF-B1889844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1E2EDD5F-1DCA-707C-5A71-D4A958D637A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04B281C-B70D-A2E3-DE98-50676AB02CF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06DD090-06C9-911B-D207-8D2E524F8F73}"/>
                  </a:ext>
                </a:extLst>
              </p:cNvPr>
              <p:cNvSpPr/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06DD090-06C9-911B-D207-8D2E524F8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54C0D2A-125B-F5CE-CE20-9DC05C0F5445}"/>
              </a:ext>
            </a:extLst>
          </p:cNvPr>
          <p:cNvCxnSpPr>
            <a:cxnSpLocks/>
          </p:cNvCxnSpPr>
          <p:nvPr/>
        </p:nvCxnSpPr>
        <p:spPr>
          <a:xfrm>
            <a:off x="3560483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ACDC08-C0A0-A74A-27F8-24A4EF418AD8}"/>
              </a:ext>
            </a:extLst>
          </p:cNvPr>
          <p:cNvCxnSpPr>
            <a:cxnSpLocks/>
          </p:cNvCxnSpPr>
          <p:nvPr/>
        </p:nvCxnSpPr>
        <p:spPr>
          <a:xfrm>
            <a:off x="7118071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E79C1137-E5DB-00AF-1692-9A0825DAF7FD}"/>
                  </a:ext>
                </a:extLst>
              </p:cNvPr>
              <p:cNvSpPr txBox="1"/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Directed Acyclic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𝐺</m:t>
                    </m:r>
                  </m:oMath>
                </a14:m>
                <a:endParaRPr lang="en-US" sz="2000" b="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E79C1137-E5DB-00AF-1692-9A0825DA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3">
            <a:extLst>
              <a:ext uri="{FF2B5EF4-FFF2-40B4-BE49-F238E27FC236}">
                <a16:creationId xmlns:a16="http://schemas.microsoft.com/office/drawing/2014/main" id="{F64C1240-8344-B801-C893-DA544E9058FA}"/>
              </a:ext>
            </a:extLst>
          </p:cNvPr>
          <p:cNvSpPr txBox="1"/>
          <p:nvPr/>
        </p:nvSpPr>
        <p:spPr>
          <a:xfrm>
            <a:off x="3555604" y="1996153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26636737-1E62-CE5C-FA57-2317AFEB1A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7288" y="3134353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B17FD73-142C-BAA2-D58B-19F480053503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B17FD73-142C-BAA2-D58B-19F4800535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3">
            <a:extLst>
              <a:ext uri="{FF2B5EF4-FFF2-40B4-BE49-F238E27FC236}">
                <a16:creationId xmlns:a16="http://schemas.microsoft.com/office/drawing/2014/main" id="{0887DB91-4136-73B2-FB5C-4547E1BB4C51}"/>
              </a:ext>
            </a:extLst>
          </p:cNvPr>
          <p:cNvSpPr txBox="1"/>
          <p:nvPr/>
        </p:nvSpPr>
        <p:spPr>
          <a:xfrm>
            <a:off x="7008108" y="1970914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1AC085E0-8951-2118-FA66-A71E7A66E73D}"/>
              </a:ext>
            </a:extLst>
          </p:cNvPr>
          <p:cNvSpPr/>
          <p:nvPr/>
        </p:nvSpPr>
        <p:spPr>
          <a:xfrm rot="2699970">
            <a:off x="5390747" y="2793772"/>
            <a:ext cx="467482" cy="467482"/>
          </a:xfrm>
          <a:prstGeom prst="mathMultiply">
            <a:avLst>
              <a:gd name="adj1" fmla="val 3697"/>
            </a:avLst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FA0387-190D-826D-8A8A-C669CF31CD21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FA0387-190D-826D-8A8A-C669CF31C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8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zövegdoboz 23">
            <a:extLst>
              <a:ext uri="{FF2B5EF4-FFF2-40B4-BE49-F238E27FC236}">
                <a16:creationId xmlns:a16="http://schemas.microsoft.com/office/drawing/2014/main" id="{8795E11A-107E-5EC6-D0FA-1A87BCE29A8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5407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1ED86-AD54-EC01-016E-B9F4B72A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2AB4F34-DD67-61DD-7D25-95754409C0D8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DD390C6B-1384-696F-4248-5B89F81EDE2C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32BBBF9-322B-B38B-5685-04969C2BB342}"/>
                  </a:ext>
                </a:extLst>
              </p:cNvPr>
              <p:cNvSpPr/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32BBBF9-322B-B38B-5685-04969C2BB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49D98-E387-075A-BE93-870581CF5850}"/>
              </a:ext>
            </a:extLst>
          </p:cNvPr>
          <p:cNvCxnSpPr>
            <a:cxnSpLocks/>
          </p:cNvCxnSpPr>
          <p:nvPr/>
        </p:nvCxnSpPr>
        <p:spPr>
          <a:xfrm>
            <a:off x="3560483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4043F2-E6D0-3B6D-EE21-19DA9941FA8A}"/>
              </a:ext>
            </a:extLst>
          </p:cNvPr>
          <p:cNvCxnSpPr>
            <a:cxnSpLocks/>
          </p:cNvCxnSpPr>
          <p:nvPr/>
        </p:nvCxnSpPr>
        <p:spPr>
          <a:xfrm>
            <a:off x="7118071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C4DCD6B6-5C1D-A5A1-392B-24BA4F286C20}"/>
                  </a:ext>
                </a:extLst>
              </p:cNvPr>
              <p:cNvSpPr txBox="1"/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Directed Acyclic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𝐺</m:t>
                    </m:r>
                  </m:oMath>
                </a14:m>
                <a:endParaRPr lang="en-US" sz="2000" b="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C4DCD6B6-5C1D-A5A1-392B-24BA4F286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3">
            <a:extLst>
              <a:ext uri="{FF2B5EF4-FFF2-40B4-BE49-F238E27FC236}">
                <a16:creationId xmlns:a16="http://schemas.microsoft.com/office/drawing/2014/main" id="{22E57B12-9AAA-E943-2FC6-96275328FC49}"/>
              </a:ext>
            </a:extLst>
          </p:cNvPr>
          <p:cNvSpPr txBox="1"/>
          <p:nvPr/>
        </p:nvSpPr>
        <p:spPr>
          <a:xfrm>
            <a:off x="3555604" y="1996153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E40729D1-8187-75A9-2742-04C98C83C0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7288" y="3134353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D7314C-C6EC-39AF-D1C1-5FE06D6A675B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D7314C-C6EC-39AF-D1C1-5FE06D6A6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84EBF8-4DBB-6E8B-AD2A-37E117D870D0}"/>
                  </a:ext>
                </a:extLst>
              </p:cNvPr>
              <p:cNvSpPr/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84EBF8-4DBB-6E8B-AD2A-37E117D87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3">
            <a:extLst>
              <a:ext uri="{FF2B5EF4-FFF2-40B4-BE49-F238E27FC236}">
                <a16:creationId xmlns:a16="http://schemas.microsoft.com/office/drawing/2014/main" id="{CBB9FF99-C9F0-8516-D978-32443A4F5E2F}"/>
              </a:ext>
            </a:extLst>
          </p:cNvPr>
          <p:cNvSpPr txBox="1"/>
          <p:nvPr/>
        </p:nvSpPr>
        <p:spPr>
          <a:xfrm>
            <a:off x="7008108" y="1970914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B92F8BE3-053E-A141-DFD3-1FDE2A386D8E}"/>
              </a:ext>
            </a:extLst>
          </p:cNvPr>
          <p:cNvSpPr/>
          <p:nvPr/>
        </p:nvSpPr>
        <p:spPr>
          <a:xfrm rot="2699970">
            <a:off x="5390747" y="2793772"/>
            <a:ext cx="467482" cy="467482"/>
          </a:xfrm>
          <a:prstGeom prst="mathMultiply">
            <a:avLst>
              <a:gd name="adj1" fmla="val 3697"/>
            </a:avLst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C7C35-8401-D2CE-13A7-EA4040921D17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C7C35-8401-D2CE-13A7-EA4040921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9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zövegdoboz 23">
            <a:extLst>
              <a:ext uri="{FF2B5EF4-FFF2-40B4-BE49-F238E27FC236}">
                <a16:creationId xmlns:a16="http://schemas.microsoft.com/office/drawing/2014/main" id="{0F446268-95DF-3D83-251B-70E2739A0B6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937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FE2EE-0800-4AE3-997D-72DA475D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1FE29CD-D15C-FEC8-9659-53F514E06D7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E43011E-DA02-5056-C6DC-2F069B9C43A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9D6A85E-9411-97EF-1F07-0B82632FF95A}"/>
                  </a:ext>
                </a:extLst>
              </p:cNvPr>
              <p:cNvSpPr/>
              <p:nvPr/>
            </p:nvSpPr>
            <p:spPr>
              <a:xfrm>
                <a:off x="4447885" y="1686463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9D6A85E-9411-97EF-1F07-0B82632FF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1686463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9E68C1-7FDC-613A-C865-212A0CA225A2}"/>
              </a:ext>
            </a:extLst>
          </p:cNvPr>
          <p:cNvCxnSpPr>
            <a:cxnSpLocks/>
          </p:cNvCxnSpPr>
          <p:nvPr/>
        </p:nvCxnSpPr>
        <p:spPr>
          <a:xfrm>
            <a:off x="3560483" y="1985149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420002-1591-8B61-10CE-84853A356076}"/>
              </a:ext>
            </a:extLst>
          </p:cNvPr>
          <p:cNvCxnSpPr>
            <a:cxnSpLocks/>
          </p:cNvCxnSpPr>
          <p:nvPr/>
        </p:nvCxnSpPr>
        <p:spPr>
          <a:xfrm>
            <a:off x="7118071" y="1985149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DAF7B995-BA87-79C8-D069-FAA8A345D47A}"/>
                  </a:ext>
                </a:extLst>
              </p:cNvPr>
              <p:cNvSpPr txBox="1"/>
              <p:nvPr/>
            </p:nvSpPr>
            <p:spPr>
              <a:xfrm>
                <a:off x="4117724" y="3490691"/>
                <a:ext cx="35179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Directed Acyclic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𝐺</m:t>
                    </m:r>
                  </m:oMath>
                </a14:m>
                <a:endParaRPr lang="en-US" sz="2000" b="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DAF7B995-BA87-79C8-D069-FAA8A345D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24" y="3490691"/>
                <a:ext cx="3517900" cy="400110"/>
              </a:xfrm>
              <a:prstGeom prst="rect">
                <a:avLst/>
              </a:prstGeom>
              <a:blipFill>
                <a:blip r:embed="rId4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3">
            <a:extLst>
              <a:ext uri="{FF2B5EF4-FFF2-40B4-BE49-F238E27FC236}">
                <a16:creationId xmlns:a16="http://schemas.microsoft.com/office/drawing/2014/main" id="{9B4F2DF5-459F-DF31-93B8-4B15BF1107ED}"/>
              </a:ext>
            </a:extLst>
          </p:cNvPr>
          <p:cNvSpPr txBox="1"/>
          <p:nvPr/>
        </p:nvSpPr>
        <p:spPr>
          <a:xfrm>
            <a:off x="3555604" y="1514617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145F17D5-2B5E-0ACF-D808-496350797B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7288" y="2652817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CB2A89-0F6F-F91D-5928-F25397D9FCE5}"/>
                  </a:ext>
                </a:extLst>
              </p:cNvPr>
              <p:cNvSpPr/>
              <p:nvPr/>
            </p:nvSpPr>
            <p:spPr>
              <a:xfrm>
                <a:off x="975138" y="1686463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CB2A89-0F6F-F91D-5928-F25397D9F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1686463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ABB4E10-E9D5-4623-30F9-28D20474FF62}"/>
                  </a:ext>
                </a:extLst>
              </p:cNvPr>
              <p:cNvSpPr/>
              <p:nvPr/>
            </p:nvSpPr>
            <p:spPr>
              <a:xfrm>
                <a:off x="7989035" y="1686463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ABB4E10-E9D5-4623-30F9-28D20474FF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1686463"/>
                <a:ext cx="2500503" cy="597373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3">
            <a:extLst>
              <a:ext uri="{FF2B5EF4-FFF2-40B4-BE49-F238E27FC236}">
                <a16:creationId xmlns:a16="http://schemas.microsoft.com/office/drawing/2014/main" id="{F5028FFA-C26C-DF2E-D64C-41C82AD6372F}"/>
              </a:ext>
            </a:extLst>
          </p:cNvPr>
          <p:cNvSpPr txBox="1"/>
          <p:nvPr/>
        </p:nvSpPr>
        <p:spPr>
          <a:xfrm>
            <a:off x="7008108" y="1489378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FDD8D9BC-B2FC-0FCA-7F92-31271D17B5BB}"/>
              </a:ext>
            </a:extLst>
          </p:cNvPr>
          <p:cNvSpPr/>
          <p:nvPr/>
        </p:nvSpPr>
        <p:spPr>
          <a:xfrm rot="2699970">
            <a:off x="5390747" y="2312236"/>
            <a:ext cx="467482" cy="467482"/>
          </a:xfrm>
          <a:prstGeom prst="mathMultiply">
            <a:avLst>
              <a:gd name="adj1" fmla="val 3697"/>
            </a:avLst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29B49E-AD34-2E3D-12DD-A34BD3D4FDEC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29B49E-AD34-2E3D-12DD-A34BD3D4F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9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51E700F1-92F3-FDE0-CB98-8A72F9779AD8}"/>
              </a:ext>
            </a:extLst>
          </p:cNvPr>
          <p:cNvSpPr/>
          <p:nvPr/>
        </p:nvSpPr>
        <p:spPr>
          <a:xfrm>
            <a:off x="4447885" y="4844494"/>
            <a:ext cx="2500503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Smoking, Cancer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BF4E-F2C2-8DDC-BBA8-2ECEE38CBE9B}"/>
              </a:ext>
            </a:extLst>
          </p:cNvPr>
          <p:cNvCxnSpPr>
            <a:cxnSpLocks/>
          </p:cNvCxnSpPr>
          <p:nvPr/>
        </p:nvCxnSpPr>
        <p:spPr>
          <a:xfrm>
            <a:off x="3560483" y="514318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A72871-BDFA-0DD5-F56E-60DF81FA9DD4}"/>
              </a:ext>
            </a:extLst>
          </p:cNvPr>
          <p:cNvCxnSpPr>
            <a:cxnSpLocks/>
          </p:cNvCxnSpPr>
          <p:nvPr/>
        </p:nvCxnSpPr>
        <p:spPr>
          <a:xfrm>
            <a:off x="7118071" y="514318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3">
            <a:extLst>
              <a:ext uri="{FF2B5EF4-FFF2-40B4-BE49-F238E27FC236}">
                <a16:creationId xmlns:a16="http://schemas.microsoft.com/office/drawing/2014/main" id="{3521E4DA-53F0-40AD-59CB-EB5523580437}"/>
              </a:ext>
            </a:extLst>
          </p:cNvPr>
          <p:cNvSpPr txBox="1"/>
          <p:nvPr/>
        </p:nvSpPr>
        <p:spPr>
          <a:xfrm>
            <a:off x="3555604" y="4672648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CBF3A3-570C-6285-63C7-B46C1ADAD6B4}"/>
              </a:ext>
            </a:extLst>
          </p:cNvPr>
          <p:cNvSpPr/>
          <p:nvPr/>
        </p:nvSpPr>
        <p:spPr>
          <a:xfrm>
            <a:off x="975138" y="4844494"/>
            <a:ext cx="2500503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Socioeconomic status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90661E-5824-2C74-EE28-2EA53A60A5DD}"/>
              </a:ext>
            </a:extLst>
          </p:cNvPr>
          <p:cNvSpPr/>
          <p:nvPr/>
        </p:nvSpPr>
        <p:spPr>
          <a:xfrm>
            <a:off x="7989035" y="4844494"/>
            <a:ext cx="2500503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Chest X-Ray</a:t>
            </a:r>
          </a:p>
        </p:txBody>
      </p:sp>
      <p:sp>
        <p:nvSpPr>
          <p:cNvPr id="18" name="Szövegdoboz 3">
            <a:extLst>
              <a:ext uri="{FF2B5EF4-FFF2-40B4-BE49-F238E27FC236}">
                <a16:creationId xmlns:a16="http://schemas.microsoft.com/office/drawing/2014/main" id="{EE3B7EE1-7747-9DF3-5C9D-4A25B3AD60D2}"/>
              </a:ext>
            </a:extLst>
          </p:cNvPr>
          <p:cNvSpPr txBox="1"/>
          <p:nvPr/>
        </p:nvSpPr>
        <p:spPr>
          <a:xfrm>
            <a:off x="7008108" y="4647409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19" name="Szövegdoboz 3">
            <a:extLst>
              <a:ext uri="{FF2B5EF4-FFF2-40B4-BE49-F238E27FC236}">
                <a16:creationId xmlns:a16="http://schemas.microsoft.com/office/drawing/2014/main" id="{0C674215-BEEC-007A-6A03-27082559AE5E}"/>
              </a:ext>
            </a:extLst>
          </p:cNvPr>
          <p:cNvSpPr txBox="1"/>
          <p:nvPr/>
        </p:nvSpPr>
        <p:spPr>
          <a:xfrm>
            <a:off x="4413207" y="5528532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20" name="Szövegdoboz 3">
            <a:extLst>
              <a:ext uri="{FF2B5EF4-FFF2-40B4-BE49-F238E27FC236}">
                <a16:creationId xmlns:a16="http://schemas.microsoft.com/office/drawing/2014/main" id="{84265F73-7CE5-1744-F8DE-8F9312B00AF3}"/>
              </a:ext>
            </a:extLst>
          </p:cNvPr>
          <p:cNvSpPr txBox="1"/>
          <p:nvPr/>
        </p:nvSpPr>
        <p:spPr>
          <a:xfrm>
            <a:off x="5981615" y="5528532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3D79E1-7B84-6051-065F-4B8A675DAE74}"/>
              </a:ext>
            </a:extLst>
          </p:cNvPr>
          <p:cNvCxnSpPr>
            <a:cxnSpLocks/>
          </p:cNvCxnSpPr>
          <p:nvPr/>
        </p:nvCxnSpPr>
        <p:spPr>
          <a:xfrm>
            <a:off x="5271104" y="5694242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94623C7-A7E3-AE5F-1127-8718319BAFE2}"/>
              </a:ext>
            </a:extLst>
          </p:cNvPr>
          <p:cNvSpPr/>
          <p:nvPr/>
        </p:nvSpPr>
        <p:spPr>
          <a:xfrm>
            <a:off x="435769" y="4050506"/>
            <a:ext cx="10972800" cy="2049751"/>
          </a:xfrm>
          <a:prstGeom prst="rect">
            <a:avLst/>
          </a:pr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818BB2F7-B92E-6F43-9331-7CE3896C23FD}"/>
              </a:ext>
            </a:extLst>
          </p:cNvPr>
          <p:cNvSpPr txBox="1"/>
          <p:nvPr/>
        </p:nvSpPr>
        <p:spPr>
          <a:xfrm>
            <a:off x="598092" y="4114942"/>
            <a:ext cx="1409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Example</a:t>
            </a:r>
          </a:p>
        </p:txBody>
      </p:sp>
      <p:sp>
        <p:nvSpPr>
          <p:cNvPr id="27" name="Szövegdoboz 23">
            <a:extLst>
              <a:ext uri="{FF2B5EF4-FFF2-40B4-BE49-F238E27FC236}">
                <a16:creationId xmlns:a16="http://schemas.microsoft.com/office/drawing/2014/main" id="{6B63C378-7FAB-0C6D-F89E-EE5D8AB63A91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87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204E6-12A4-D83A-3EC8-27A891AB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B8B74ADB-4979-DC53-11ED-8290F53C6B2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46C3260-CFDD-B5BD-A472-56388C61768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14156A1-033F-CF4C-D47E-921AC0E262F2}"/>
                  </a:ext>
                </a:extLst>
              </p:cNvPr>
              <p:cNvSpPr/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14156A1-033F-CF4C-D47E-921AC0E262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8567CA-960C-6CF1-AF90-5FEAE4F970CB}"/>
              </a:ext>
            </a:extLst>
          </p:cNvPr>
          <p:cNvCxnSpPr>
            <a:cxnSpLocks/>
          </p:cNvCxnSpPr>
          <p:nvPr/>
        </p:nvCxnSpPr>
        <p:spPr>
          <a:xfrm>
            <a:off x="3560483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B561BC-280D-2F51-3EBC-277BDAEA1A8B}"/>
              </a:ext>
            </a:extLst>
          </p:cNvPr>
          <p:cNvCxnSpPr>
            <a:cxnSpLocks/>
          </p:cNvCxnSpPr>
          <p:nvPr/>
        </p:nvCxnSpPr>
        <p:spPr>
          <a:xfrm>
            <a:off x="7118071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2DBE234B-0AD7-85F0-C4BB-0660C34916D0}"/>
                  </a:ext>
                </a:extLst>
              </p:cNvPr>
              <p:cNvSpPr txBox="1"/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Directed Acyclic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𝐺</m:t>
                    </m:r>
                  </m:oMath>
                </a14:m>
                <a:endParaRPr lang="en-US" sz="2000" b="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2DBE234B-0AD7-85F0-C4BB-0660C3491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7EC9852D-3D60-548C-7CB2-F55A34524DBE}"/>
              </a:ext>
            </a:extLst>
          </p:cNvPr>
          <p:cNvSpPr/>
          <p:nvPr/>
        </p:nvSpPr>
        <p:spPr>
          <a:xfrm>
            <a:off x="2084371" y="5084164"/>
            <a:ext cx="7741353" cy="950597"/>
          </a:xfrm>
          <a:prstGeom prst="rect">
            <a:avLst/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The difference between causal discovery, ICA, and causal representation learning is which components are modeled/observed</a:t>
            </a: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01CC8A16-B526-279C-646F-19BE75888230}"/>
              </a:ext>
            </a:extLst>
          </p:cNvPr>
          <p:cNvSpPr txBox="1"/>
          <p:nvPr/>
        </p:nvSpPr>
        <p:spPr>
          <a:xfrm>
            <a:off x="3555604" y="1996153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A4F08A3C-D13E-7F2E-615E-F0F7108DE6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7288" y="3134353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28C5DAA-411F-A0CB-8505-2C425E2BD36D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28C5DAA-411F-A0CB-8505-2C425E2BD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4F0202-400A-755C-5DAE-3CCC6F1A8993}"/>
                  </a:ext>
                </a:extLst>
              </p:cNvPr>
              <p:cNvSpPr/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4F0202-400A-755C-5DAE-3CCC6F1A8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3">
            <a:extLst>
              <a:ext uri="{FF2B5EF4-FFF2-40B4-BE49-F238E27FC236}">
                <a16:creationId xmlns:a16="http://schemas.microsoft.com/office/drawing/2014/main" id="{21B103AB-BEFF-FF02-5CF4-FFFA51241DCE}"/>
              </a:ext>
            </a:extLst>
          </p:cNvPr>
          <p:cNvSpPr txBox="1"/>
          <p:nvPr/>
        </p:nvSpPr>
        <p:spPr>
          <a:xfrm>
            <a:off x="7008108" y="1970914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BD104398-E9AA-5658-31C8-6DCD16CC75F1}"/>
              </a:ext>
            </a:extLst>
          </p:cNvPr>
          <p:cNvSpPr/>
          <p:nvPr/>
        </p:nvSpPr>
        <p:spPr>
          <a:xfrm rot="2699970">
            <a:off x="5390747" y="2793772"/>
            <a:ext cx="467482" cy="467482"/>
          </a:xfrm>
          <a:prstGeom prst="mathMultiply">
            <a:avLst>
              <a:gd name="adj1" fmla="val 3697"/>
            </a:avLst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DAEDE6-BDCC-BEA9-0243-93C1A60400EF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DAEDE6-BDCC-BEA9-0243-93C1A6040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9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zövegdoboz 23">
            <a:extLst>
              <a:ext uri="{FF2B5EF4-FFF2-40B4-BE49-F238E27FC236}">
                <a16:creationId xmlns:a16="http://schemas.microsoft.com/office/drawing/2014/main" id="{56BDEEF7-1719-2883-8B73-750A9E1374C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6403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F6994-2C6F-96D1-EEE7-572BC491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00C9E1E-96F5-13F2-3B9B-B5E821FE3FE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Extending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C9F1073-D798-BD37-4E20-0BBFF7669A7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73399B12-4963-6891-FBEA-9686169483D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419" r="67066"/>
          <a:stretch/>
        </p:blipFill>
        <p:spPr>
          <a:xfrm>
            <a:off x="620867" y="2292836"/>
            <a:ext cx="3562741" cy="3374924"/>
          </a:xfrm>
          <a:prstGeom prst="rect">
            <a:avLst/>
          </a:prstGeom>
        </p:spPr>
      </p:pic>
      <p:sp>
        <p:nvSpPr>
          <p:cNvPr id="20" name="Szövegdoboz 6">
            <a:extLst>
              <a:ext uri="{FF2B5EF4-FFF2-40B4-BE49-F238E27FC236}">
                <a16:creationId xmlns:a16="http://schemas.microsoft.com/office/drawing/2014/main" id="{431DFD1E-3A15-829E-F01B-61E2A4F5A42B}"/>
              </a:ext>
            </a:extLst>
          </p:cNvPr>
          <p:cNvSpPr txBox="1"/>
          <p:nvPr/>
        </p:nvSpPr>
        <p:spPr>
          <a:xfrm>
            <a:off x="-46300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CdF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BB24BF8C-D931-9AD2-25D8-35F18456C8AC}"/>
              </a:ext>
            </a:extLst>
          </p:cNvPr>
          <p:cNvCxnSpPr>
            <a:cxnSpLocks/>
          </p:cNvCxnSpPr>
          <p:nvPr/>
        </p:nvCxnSpPr>
        <p:spPr>
          <a:xfrm flipV="1">
            <a:off x="300211" y="2386413"/>
            <a:ext cx="2848103" cy="2246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23">
            <a:extLst>
              <a:ext uri="{FF2B5EF4-FFF2-40B4-BE49-F238E27FC236}">
                <a16:creationId xmlns:a16="http://schemas.microsoft.com/office/drawing/2014/main" id="{07D9571B-D8D4-6AE8-7D94-55A4D6CE786A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1268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71B4A-6F98-0690-2C0B-46210CAB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59C3F3A-A0DD-745D-C368-DE3CBE20145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Extending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E9D2A76-9980-46C8-6FC5-6CB6D23EB42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2A5F19E0-D1A1-E8B4-A716-B7E959FDD31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941" r="37582" b="-1"/>
          <a:stretch/>
        </p:blipFill>
        <p:spPr>
          <a:xfrm>
            <a:off x="620868" y="2140436"/>
            <a:ext cx="6752206" cy="3527324"/>
          </a:xfrm>
          <a:prstGeom prst="rect">
            <a:avLst/>
          </a:prstGeom>
        </p:spPr>
      </p:pic>
      <p:sp>
        <p:nvSpPr>
          <p:cNvPr id="18" name="Szövegdoboz 6">
            <a:extLst>
              <a:ext uri="{FF2B5EF4-FFF2-40B4-BE49-F238E27FC236}">
                <a16:creationId xmlns:a16="http://schemas.microsoft.com/office/drawing/2014/main" id="{F702175E-1508-4655-A692-4D3375157E46}"/>
              </a:ext>
            </a:extLst>
          </p:cNvPr>
          <p:cNvSpPr txBox="1"/>
          <p:nvPr/>
        </p:nvSpPr>
        <p:spPr>
          <a:xfrm>
            <a:off x="3900668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Cause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10">
            <a:extLst>
              <a:ext uri="{FF2B5EF4-FFF2-40B4-BE49-F238E27FC236}">
                <a16:creationId xmlns:a16="http://schemas.microsoft.com/office/drawing/2014/main" id="{0BB45270-3D20-91E5-B393-D40F12F50884}"/>
              </a:ext>
            </a:extLst>
          </p:cNvPr>
          <p:cNvCxnSpPr>
            <a:cxnSpLocks/>
          </p:cNvCxnSpPr>
          <p:nvPr/>
        </p:nvCxnSpPr>
        <p:spPr>
          <a:xfrm>
            <a:off x="3900668" y="2382497"/>
            <a:ext cx="3472405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E57A0D67-167B-B4BC-326A-C752939FD768}"/>
              </a:ext>
            </a:extLst>
          </p:cNvPr>
          <p:cNvSpPr txBox="1"/>
          <p:nvPr/>
        </p:nvSpPr>
        <p:spPr>
          <a:xfrm>
            <a:off x="-46300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CdF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45576C28-A9DA-8BDB-A0D5-2ADE35CB2190}"/>
              </a:ext>
            </a:extLst>
          </p:cNvPr>
          <p:cNvCxnSpPr>
            <a:cxnSpLocks/>
          </p:cNvCxnSpPr>
          <p:nvPr/>
        </p:nvCxnSpPr>
        <p:spPr>
          <a:xfrm flipV="1">
            <a:off x="300211" y="2386413"/>
            <a:ext cx="2848103" cy="2246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23">
            <a:extLst>
              <a:ext uri="{FF2B5EF4-FFF2-40B4-BE49-F238E27FC236}">
                <a16:creationId xmlns:a16="http://schemas.microsoft.com/office/drawing/2014/main" id="{E7E28413-4805-F42E-117C-12B55134D6D6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4386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430F7-B0EC-227E-68FB-C7FB0033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1B5C53A-D279-CF08-C686-41029F368B92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Extending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02B98BC-72F7-05A1-D14E-04175FD00952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2569EB8E-F19C-F62F-8263-C52E4E02A341}"/>
              </a:ext>
            </a:extLst>
          </p:cNvPr>
          <p:cNvSpPr txBox="1"/>
          <p:nvPr/>
        </p:nvSpPr>
        <p:spPr>
          <a:xfrm>
            <a:off x="8021255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Mechanism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50F5A48C-699B-30E7-6F4D-C5F4A2C33BF8}"/>
              </a:ext>
            </a:extLst>
          </p:cNvPr>
          <p:cNvCxnSpPr>
            <a:cxnSpLocks/>
          </p:cNvCxnSpPr>
          <p:nvPr/>
        </p:nvCxnSpPr>
        <p:spPr>
          <a:xfrm flipV="1">
            <a:off x="8021255" y="2381614"/>
            <a:ext cx="3802883" cy="10156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BFE90FD4-2A05-A354-5AC1-5D18556E66B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0867" y="2173330"/>
            <a:ext cx="10817687" cy="3494430"/>
          </a:xfrm>
          <a:prstGeom prst="rect">
            <a:avLst/>
          </a:prstGeom>
        </p:spPr>
      </p:pic>
      <p:sp>
        <p:nvSpPr>
          <p:cNvPr id="18" name="Szövegdoboz 6">
            <a:extLst>
              <a:ext uri="{FF2B5EF4-FFF2-40B4-BE49-F238E27FC236}">
                <a16:creationId xmlns:a16="http://schemas.microsoft.com/office/drawing/2014/main" id="{AA7E070D-A24E-040A-F62A-B7375C223138}"/>
              </a:ext>
            </a:extLst>
          </p:cNvPr>
          <p:cNvSpPr txBox="1"/>
          <p:nvPr/>
        </p:nvSpPr>
        <p:spPr>
          <a:xfrm>
            <a:off x="3900668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Cause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10">
            <a:extLst>
              <a:ext uri="{FF2B5EF4-FFF2-40B4-BE49-F238E27FC236}">
                <a16:creationId xmlns:a16="http://schemas.microsoft.com/office/drawing/2014/main" id="{D4C78601-AB5F-9C2A-F868-62C9C415247E}"/>
              </a:ext>
            </a:extLst>
          </p:cNvPr>
          <p:cNvCxnSpPr>
            <a:cxnSpLocks/>
          </p:cNvCxnSpPr>
          <p:nvPr/>
        </p:nvCxnSpPr>
        <p:spPr>
          <a:xfrm>
            <a:off x="3900668" y="2382497"/>
            <a:ext cx="3472405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63661BB2-9C2E-12F2-BCC9-448143691E6B}"/>
              </a:ext>
            </a:extLst>
          </p:cNvPr>
          <p:cNvSpPr txBox="1"/>
          <p:nvPr/>
        </p:nvSpPr>
        <p:spPr>
          <a:xfrm>
            <a:off x="-46300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CdF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8675E5A4-D0F1-ED86-928B-C2B68776ED96}"/>
              </a:ext>
            </a:extLst>
          </p:cNvPr>
          <p:cNvCxnSpPr>
            <a:cxnSpLocks/>
          </p:cNvCxnSpPr>
          <p:nvPr/>
        </p:nvCxnSpPr>
        <p:spPr>
          <a:xfrm flipV="1">
            <a:off x="300211" y="2386413"/>
            <a:ext cx="2848103" cy="2246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zövegdoboz 23">
            <a:extLst>
              <a:ext uri="{FF2B5EF4-FFF2-40B4-BE49-F238E27FC236}">
                <a16:creationId xmlns:a16="http://schemas.microsoft.com/office/drawing/2014/main" id="{63737078-9E23-AB2E-B680-6C4A4B81268A}"/>
              </a:ext>
            </a:extLst>
          </p:cNvPr>
          <p:cNvSpPr txBox="1"/>
          <p:nvPr/>
        </p:nvSpPr>
        <p:spPr>
          <a:xfrm>
            <a:off x="11512617" y="6502801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17/24</a:t>
            </a:r>
          </a:p>
        </p:txBody>
      </p:sp>
    </p:spTree>
    <p:extLst>
      <p:ext uri="{BB962C8B-B14F-4D97-AF65-F5344CB8AC3E}">
        <p14:creationId xmlns:p14="http://schemas.microsoft.com/office/powerpoint/2010/main" val="3649020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313B1-09A0-9814-2363-19399EFF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2414394-ACF8-EB10-9144-4B513F53913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Extending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596FB12-5573-20E8-0703-0680CE783F42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4B3776CA-C33F-E18A-041C-EA15E531C090}"/>
              </a:ext>
            </a:extLst>
          </p:cNvPr>
          <p:cNvSpPr txBox="1"/>
          <p:nvPr/>
        </p:nvSpPr>
        <p:spPr>
          <a:xfrm>
            <a:off x="8021255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Mechanism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CF1AA14F-3591-E597-B627-E579E73102EA}"/>
              </a:ext>
            </a:extLst>
          </p:cNvPr>
          <p:cNvCxnSpPr>
            <a:cxnSpLocks/>
          </p:cNvCxnSpPr>
          <p:nvPr/>
        </p:nvCxnSpPr>
        <p:spPr>
          <a:xfrm flipV="1">
            <a:off x="8021255" y="2381614"/>
            <a:ext cx="3802883" cy="10156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function&#10;&#10;Description automatically generated">
            <a:extLst>
              <a:ext uri="{FF2B5EF4-FFF2-40B4-BE49-F238E27FC236}">
                <a16:creationId xmlns:a16="http://schemas.microsoft.com/office/drawing/2014/main" id="{C419644D-8CC4-BBC4-3B1E-AA8C63758DA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0867" y="2173330"/>
            <a:ext cx="10817687" cy="3494430"/>
          </a:xfrm>
          <a:prstGeom prst="rect">
            <a:avLst/>
          </a:prstGeom>
        </p:spPr>
      </p:pic>
      <p:sp>
        <p:nvSpPr>
          <p:cNvPr id="18" name="Szövegdoboz 6">
            <a:extLst>
              <a:ext uri="{FF2B5EF4-FFF2-40B4-BE49-F238E27FC236}">
                <a16:creationId xmlns:a16="http://schemas.microsoft.com/office/drawing/2014/main" id="{4B6394BF-C486-85C8-2C73-BB51E9F3D9F5}"/>
              </a:ext>
            </a:extLst>
          </p:cNvPr>
          <p:cNvSpPr txBox="1"/>
          <p:nvPr/>
        </p:nvSpPr>
        <p:spPr>
          <a:xfrm>
            <a:off x="3900668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Cause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10">
            <a:extLst>
              <a:ext uri="{FF2B5EF4-FFF2-40B4-BE49-F238E27FC236}">
                <a16:creationId xmlns:a16="http://schemas.microsoft.com/office/drawing/2014/main" id="{430523F7-61E3-8EC7-56A3-2BBB8B32A127}"/>
              </a:ext>
            </a:extLst>
          </p:cNvPr>
          <p:cNvCxnSpPr>
            <a:cxnSpLocks/>
          </p:cNvCxnSpPr>
          <p:nvPr/>
        </p:nvCxnSpPr>
        <p:spPr>
          <a:xfrm>
            <a:off x="3900668" y="2382497"/>
            <a:ext cx="3472405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2BACD592-F350-0733-43AA-15FAD9C46206}"/>
              </a:ext>
            </a:extLst>
          </p:cNvPr>
          <p:cNvSpPr txBox="1"/>
          <p:nvPr/>
        </p:nvSpPr>
        <p:spPr>
          <a:xfrm>
            <a:off x="-46300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CdF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0D471C57-A53D-9C3C-C5CA-3D9C59EF5FA5}"/>
              </a:ext>
            </a:extLst>
          </p:cNvPr>
          <p:cNvCxnSpPr>
            <a:cxnSpLocks/>
          </p:cNvCxnSpPr>
          <p:nvPr/>
        </p:nvCxnSpPr>
        <p:spPr>
          <a:xfrm flipV="1">
            <a:off x="300211" y="2386413"/>
            <a:ext cx="2848103" cy="2246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BB2C0-000F-B0C9-BCB3-ABA9BD4BAA71}"/>
              </a:ext>
            </a:extLst>
          </p:cNvPr>
          <p:cNvSpPr/>
          <p:nvPr/>
        </p:nvSpPr>
        <p:spPr>
          <a:xfrm>
            <a:off x="4062714" y="5876044"/>
            <a:ext cx="7884233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discovery is possible 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iff</a:t>
            </a:r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any of these two conditions hold</a:t>
            </a:r>
            <a:endParaRPr lang="en-DE" sz="2000" dirty="0">
              <a:solidFill>
                <a:schemeClr val="bg1"/>
              </a:solidFill>
            </a:endParaRPr>
          </a:p>
        </p:txBody>
      </p:sp>
      <p:sp>
        <p:nvSpPr>
          <p:cNvPr id="3" name="Szövegdoboz 23">
            <a:extLst>
              <a:ext uri="{FF2B5EF4-FFF2-40B4-BE49-F238E27FC236}">
                <a16:creationId xmlns:a16="http://schemas.microsoft.com/office/drawing/2014/main" id="{03B14AA7-C9A3-5BDA-A3B2-0F4263D72A9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089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7D5ED-D5AB-6908-473C-51AA4C0C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A2196E1-10E8-35BE-8CB1-798098235AE2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Cause/mechanism duality for Time-Contrastive Learning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9B0D942-91D5-1A90-1546-8359245D8B47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CDCD372D-3B33-7A9C-6825-182BACE64B9A}"/>
              </a:ext>
            </a:extLst>
          </p:cNvPr>
          <p:cNvSpPr txBox="1"/>
          <p:nvPr/>
        </p:nvSpPr>
        <p:spPr>
          <a:xfrm>
            <a:off x="6723053" y="1295349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Dual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FCDEC151-634F-9C29-72BE-E1A5A053BA93}"/>
              </a:ext>
            </a:extLst>
          </p:cNvPr>
          <p:cNvCxnSpPr>
            <a:cxnSpLocks/>
          </p:cNvCxnSpPr>
          <p:nvPr/>
        </p:nvCxnSpPr>
        <p:spPr>
          <a:xfrm flipV="1">
            <a:off x="6779016" y="1791302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266033A9-57DC-27DC-F1A7-48D7ED689B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288"/>
          <a:stretch/>
        </p:blipFill>
        <p:spPr>
          <a:xfrm>
            <a:off x="1590992" y="2907821"/>
            <a:ext cx="1913644" cy="2857500"/>
          </a:xfrm>
          <a:prstGeom prst="rect">
            <a:avLst/>
          </a:prstGeom>
        </p:spPr>
      </p:pic>
      <p:sp>
        <p:nvSpPr>
          <p:cNvPr id="11" name="Szövegdoboz 6">
            <a:extLst>
              <a:ext uri="{FF2B5EF4-FFF2-40B4-BE49-F238E27FC236}">
                <a16:creationId xmlns:a16="http://schemas.microsoft.com/office/drawing/2014/main" id="{EBA4672D-AC93-B980-E199-6D43016E5456}"/>
              </a:ext>
            </a:extLst>
          </p:cNvPr>
          <p:cNvSpPr txBox="1"/>
          <p:nvPr/>
        </p:nvSpPr>
        <p:spPr>
          <a:xfrm>
            <a:off x="275955" y="1295349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Original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2" name="Egyenes összekötő 10">
            <a:extLst>
              <a:ext uri="{FF2B5EF4-FFF2-40B4-BE49-F238E27FC236}">
                <a16:creationId xmlns:a16="http://schemas.microsoft.com/office/drawing/2014/main" id="{3D9163F5-5AB5-37C4-FCBD-9B4A5CD03D45}"/>
              </a:ext>
            </a:extLst>
          </p:cNvPr>
          <p:cNvCxnSpPr>
            <a:cxnSpLocks/>
          </p:cNvCxnSpPr>
          <p:nvPr/>
        </p:nvCxnSpPr>
        <p:spPr>
          <a:xfrm flipV="1">
            <a:off x="331918" y="1791302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3">
            <a:extLst>
              <a:ext uri="{FF2B5EF4-FFF2-40B4-BE49-F238E27FC236}">
                <a16:creationId xmlns:a16="http://schemas.microsoft.com/office/drawing/2014/main" id="{35CDAC1C-5710-633F-0245-9B41262EC894}"/>
              </a:ext>
            </a:extLst>
          </p:cNvPr>
          <p:cNvSpPr txBox="1"/>
          <p:nvPr/>
        </p:nvSpPr>
        <p:spPr>
          <a:xfrm>
            <a:off x="356287" y="2212697"/>
            <a:ext cx="51010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Non-stationary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sources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Deterministic mixing function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D96A18-8ABC-8A07-1C32-132295207E33}"/>
              </a:ext>
            </a:extLst>
          </p:cNvPr>
          <p:cNvSpPr txBox="1"/>
          <p:nvPr/>
        </p:nvSpPr>
        <p:spPr>
          <a:xfrm>
            <a:off x="264887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Unsupervised Feature Extraction by Time-Contrastive Learning and Nonlinear ICA.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2016.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26A30E-014C-C42F-3F09-BA1E1322DDC7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26A30E-014C-C42F-3F09-BA1E1322D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84848771-5B9B-0EA0-ABC1-DEE09F9D4261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494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5BF7F-0184-B176-35A9-ACCDA20B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40A2D66-BC21-030C-8AED-5B0F2843D58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Cause/mechanism duality for Time-Contrastive Learning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DDDEBBC1-C0BC-484C-DCB9-278903D95CD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03326180-B496-5B1C-BA8E-ADF20A592FB5}"/>
              </a:ext>
            </a:extLst>
          </p:cNvPr>
          <p:cNvSpPr txBox="1"/>
          <p:nvPr/>
        </p:nvSpPr>
        <p:spPr>
          <a:xfrm>
            <a:off x="6723053" y="1295349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Dual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D8EE0B48-7A12-13E8-6B2E-04A427C2573A}"/>
              </a:ext>
            </a:extLst>
          </p:cNvPr>
          <p:cNvCxnSpPr>
            <a:cxnSpLocks/>
          </p:cNvCxnSpPr>
          <p:nvPr/>
        </p:nvCxnSpPr>
        <p:spPr>
          <a:xfrm flipV="1">
            <a:off x="6779016" y="1791302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3">
            <a:extLst>
              <a:ext uri="{FF2B5EF4-FFF2-40B4-BE49-F238E27FC236}">
                <a16:creationId xmlns:a16="http://schemas.microsoft.com/office/drawing/2014/main" id="{65BFC669-9457-3464-DF6A-2F4963AC5D12}"/>
              </a:ext>
            </a:extLst>
          </p:cNvPr>
          <p:cNvSpPr txBox="1"/>
          <p:nvPr/>
        </p:nvSpPr>
        <p:spPr>
          <a:xfrm>
            <a:off x="6699214" y="2212697"/>
            <a:ext cx="51010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Stationary sources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Stochastic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mixing function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3" name="Picture 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9006E980-97ED-518E-9445-368E4E2C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288"/>
          <a:stretch/>
        </p:blipFill>
        <p:spPr>
          <a:xfrm>
            <a:off x="1590992" y="2907821"/>
            <a:ext cx="1913644" cy="2857500"/>
          </a:xfrm>
          <a:prstGeom prst="rect">
            <a:avLst/>
          </a:prstGeom>
        </p:spPr>
      </p:pic>
      <p:sp>
        <p:nvSpPr>
          <p:cNvPr id="11" name="Szövegdoboz 6">
            <a:extLst>
              <a:ext uri="{FF2B5EF4-FFF2-40B4-BE49-F238E27FC236}">
                <a16:creationId xmlns:a16="http://schemas.microsoft.com/office/drawing/2014/main" id="{C88B6EAD-D310-323E-8417-1DA7F5872041}"/>
              </a:ext>
            </a:extLst>
          </p:cNvPr>
          <p:cNvSpPr txBox="1"/>
          <p:nvPr/>
        </p:nvSpPr>
        <p:spPr>
          <a:xfrm>
            <a:off x="275955" y="1295349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Original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2" name="Egyenes összekötő 10">
            <a:extLst>
              <a:ext uri="{FF2B5EF4-FFF2-40B4-BE49-F238E27FC236}">
                <a16:creationId xmlns:a16="http://schemas.microsoft.com/office/drawing/2014/main" id="{E6B2D981-46F1-EF92-3504-7FC91FDF73F2}"/>
              </a:ext>
            </a:extLst>
          </p:cNvPr>
          <p:cNvCxnSpPr>
            <a:cxnSpLocks/>
          </p:cNvCxnSpPr>
          <p:nvPr/>
        </p:nvCxnSpPr>
        <p:spPr>
          <a:xfrm flipV="1">
            <a:off x="331918" y="1791302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3">
            <a:extLst>
              <a:ext uri="{FF2B5EF4-FFF2-40B4-BE49-F238E27FC236}">
                <a16:creationId xmlns:a16="http://schemas.microsoft.com/office/drawing/2014/main" id="{54943EBE-11D9-4BC4-9E60-563FDC8E95A2}"/>
              </a:ext>
            </a:extLst>
          </p:cNvPr>
          <p:cNvSpPr txBox="1"/>
          <p:nvPr/>
        </p:nvSpPr>
        <p:spPr>
          <a:xfrm>
            <a:off x="356287" y="2212697"/>
            <a:ext cx="51010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Non-stationary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sources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Deterministic mixing function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14" name="Picture 13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861440C0-7226-64ED-9856-85E58DB3A2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37"/>
          <a:stretch/>
        </p:blipFill>
        <p:spPr>
          <a:xfrm>
            <a:off x="7731889" y="2883561"/>
            <a:ext cx="2168324" cy="2857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0738EE0-B71D-D10E-3496-D7E3B29D7042}"/>
              </a:ext>
            </a:extLst>
          </p:cNvPr>
          <p:cNvSpPr txBox="1"/>
          <p:nvPr/>
        </p:nvSpPr>
        <p:spPr>
          <a:xfrm>
            <a:off x="264887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Hyvärinen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Unsupervised Feature Extraction by Time-Contrastive Learning and Nonlinear ICA.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2016.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7A25E4-94BD-EA8F-C459-8EAC79BDE991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7A25E4-94BD-EA8F-C459-8EAC79BDE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5075C043-072D-0755-CC91-22A2F9B7FBE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54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EA70C-E7FE-9BA6-48F2-11B55D39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384A457-75FC-7D9C-5F4C-F0F39F415533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Conclusion for IEM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BBFD80FC-65C9-BEAD-44C0-7746F765955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3">
            <a:extLst>
              <a:ext uri="{FF2B5EF4-FFF2-40B4-BE49-F238E27FC236}">
                <a16:creationId xmlns:a16="http://schemas.microsoft.com/office/drawing/2014/main" id="{7B784BC4-7504-FEFA-5AFE-D820B37F09FA}"/>
              </a:ext>
            </a:extLst>
          </p:cNvPr>
          <p:cNvSpPr txBox="1"/>
          <p:nvPr/>
        </p:nvSpPr>
        <p:spPr>
          <a:xfrm>
            <a:off x="367861" y="1703414"/>
            <a:ext cx="113128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We categorize the different types of non-</a:t>
            </a:r>
            <a:r>
              <a:rPr lang="en-US" sz="20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data enabling identifiability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We apply an exchangeable lens to unify 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discovery,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Identifiable representation learning (Independent Component Analysis)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representation learning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Our framework, Independent Exchangeable Mechanisms (IEM), is </a:t>
            </a: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not universal,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but focuses on the </a:t>
            </a: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case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For a more comprehensive unifying framework of CRL, see</a:t>
            </a: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Yao et al., 2024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 what?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IEM leads to relaxed conditions of the Causal de Finetti theorem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IEM also suggests new identifiability results for </a:t>
            </a: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both source and causal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9AF4C-2CFE-574D-872E-28B9619B92CD}"/>
              </a:ext>
            </a:extLst>
          </p:cNvPr>
          <p:cNvSpPr txBox="1"/>
          <p:nvPr/>
        </p:nvSpPr>
        <p:spPr>
          <a:xfrm>
            <a:off x="367861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al.: Unifying Causal Representation Learning with the Invariance Principle.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sp>
        <p:nvSpPr>
          <p:cNvPr id="2" name="Szövegdoboz 23">
            <a:extLst>
              <a:ext uri="{FF2B5EF4-FFF2-40B4-BE49-F238E27FC236}">
                <a16:creationId xmlns:a16="http://schemas.microsoft.com/office/drawing/2014/main" id="{DCD0B6FF-4897-B205-6445-B15F3B2E8FA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08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906B0-8194-D090-A8EC-60281F60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E16C2AF-A378-5741-9604-20D6380CA43F}"/>
              </a:ext>
            </a:extLst>
          </p:cNvPr>
          <p:cNvSpPr/>
          <p:nvPr/>
        </p:nvSpPr>
        <p:spPr>
          <a:xfrm>
            <a:off x="0" y="6400913"/>
            <a:ext cx="12192000" cy="457085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8" name="Szövegdoboz 13">
            <a:extLst>
              <a:ext uri="{FF2B5EF4-FFF2-40B4-BE49-F238E27FC236}">
                <a16:creationId xmlns:a16="http://schemas.microsoft.com/office/drawing/2014/main" id="{4D14F5AC-3D88-DB53-2FC5-1C25F6E8435C}"/>
              </a:ext>
            </a:extLst>
          </p:cNvPr>
          <p:cNvSpPr txBox="1"/>
          <p:nvPr/>
        </p:nvSpPr>
        <p:spPr>
          <a:xfrm>
            <a:off x="178764" y="2582705"/>
            <a:ext cx="118344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Identifiable Exchangeable Mechanisms for Causal Structure and Representation Learning</a:t>
            </a:r>
            <a:endParaRPr lang="hu-HU" sz="40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" name="Szövegdoboz 23">
            <a:extLst>
              <a:ext uri="{FF2B5EF4-FFF2-40B4-BE49-F238E27FC236}">
                <a16:creationId xmlns:a16="http://schemas.microsoft.com/office/drawing/2014/main" id="{31C416F3-8EAC-E462-07BA-EFFEB8529474}"/>
              </a:ext>
            </a:extLst>
          </p:cNvPr>
          <p:cNvSpPr txBox="1"/>
          <p:nvPr/>
        </p:nvSpPr>
        <p:spPr>
          <a:xfrm>
            <a:off x="11062335" y="6493246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16.10.2025</a:t>
            </a:r>
            <a:endParaRPr lang="hu-HU" sz="14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374A01CB-B738-CCF9-1DE0-4FDD4FD90862}"/>
              </a:ext>
            </a:extLst>
          </p:cNvPr>
          <p:cNvSpPr txBox="1"/>
          <p:nvPr/>
        </p:nvSpPr>
        <p:spPr>
          <a:xfrm>
            <a:off x="178764" y="4393295"/>
            <a:ext cx="1196271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Patrik Reizinger*,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Siyuan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*, Ferenc Huszár, Bernhard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Schölkopf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Wieland</a:t>
            </a:r>
            <a: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</a:t>
            </a:r>
            <a:r>
              <a:rPr lang="hu-HU" sz="2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Brendel</a:t>
            </a:r>
            <a:br>
              <a:rPr lang="hu-HU" sz="2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</a:br>
            <a:r>
              <a:rPr lang="hu-HU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patrik.reizinger@tuebingen.mpg.de</a:t>
            </a:r>
            <a:endParaRPr lang="hu-HU" sz="2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algn="ctr"/>
            <a:endParaRPr lang="hu-HU" sz="2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7522D-C75E-3A5F-DE9A-F55AAA8D1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565765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C9A77327-DAAE-A42E-C4E3-7C854C4AE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574032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BF64F996-C6FB-AF1E-DFA8-2EEFB475666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574785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9AAB4D9E-3083-32A3-FEEF-46B9BF9BB98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570629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5C0DB37D-D613-D06D-FECF-FBF0F532C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965" y="5794217"/>
            <a:ext cx="2261067" cy="536279"/>
          </a:xfrm>
          <a:prstGeom prst="rect">
            <a:avLst/>
          </a:prstGeom>
        </p:spPr>
      </p:pic>
      <p:sp>
        <p:nvSpPr>
          <p:cNvPr id="2" name="Szövegdoboz 23">
            <a:extLst>
              <a:ext uri="{FF2B5EF4-FFF2-40B4-BE49-F238E27FC236}">
                <a16:creationId xmlns:a16="http://schemas.microsoft.com/office/drawing/2014/main" id="{6D419812-3513-35F6-1E55-99373909EF67}"/>
              </a:ext>
            </a:extLst>
          </p:cNvPr>
          <p:cNvSpPr txBox="1"/>
          <p:nvPr/>
        </p:nvSpPr>
        <p:spPr>
          <a:xfrm>
            <a:off x="46673" y="6493246"/>
            <a:ext cx="1415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MML Workshop</a:t>
            </a:r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E7402F65-E1C6-D1B5-D863-84AE0E5B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239" y="145230"/>
            <a:ext cx="2435761" cy="243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66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F0792-490B-0611-CE90-CA6216AD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AE7FA53F-CD25-8BB0-A83E-6FF89680A59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 is applied in many domains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2F16BAA-1A2B-262F-4941-4BAB741CEE8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0710FE0-F9B7-3D6B-DCC4-C4A5A32D0375}"/>
              </a:ext>
            </a:extLst>
          </p:cNvPr>
          <p:cNvSpPr txBox="1"/>
          <p:nvPr/>
        </p:nvSpPr>
        <p:spPr>
          <a:xfrm>
            <a:off x="112475" y="6157370"/>
            <a:ext cx="10384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Cadei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Causal Lifting of Neural Representations: Zero-Shot Generalization for Causal Inferences.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2025.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Lippe et al.: BISCUIT.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</a:t>
            </a:r>
          </a:p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.Klindt et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al.:Towards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interpretable Cryo-EM: disentangling latent spaces of molecular conformations. Frontiers Mol.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Biosci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., 2024</a:t>
            </a:r>
          </a:p>
        </p:txBody>
      </p:sp>
      <p:pic>
        <p:nvPicPr>
          <p:cNvPr id="5" name="Picture 4" descr="A collage of different images of ants&#10;&#10;AI-generated content may be incorrect.">
            <a:extLst>
              <a:ext uri="{FF2B5EF4-FFF2-40B4-BE49-F238E27FC236}">
                <a16:creationId xmlns:a16="http://schemas.microsoft.com/office/drawing/2014/main" id="{3F7AEE42-EA4F-8577-DA3D-962AAC7F4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04" y="1995109"/>
            <a:ext cx="3250624" cy="3013823"/>
          </a:xfrm>
          <a:prstGeom prst="rect">
            <a:avLst/>
          </a:prstGeom>
        </p:spPr>
      </p:pic>
      <p:pic>
        <p:nvPicPr>
          <p:cNvPr id="7" name="Picture 6" descr="A close-up of a computer generated image&#10;&#10;AI-generated content may be incorrect.">
            <a:extLst>
              <a:ext uri="{FF2B5EF4-FFF2-40B4-BE49-F238E27FC236}">
                <a16:creationId xmlns:a16="http://schemas.microsoft.com/office/drawing/2014/main" id="{BCE7D6EC-0391-3DA7-1B42-741187EB6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654" y="2585420"/>
            <a:ext cx="3556000" cy="2120900"/>
          </a:xfrm>
          <a:prstGeom prst="rect">
            <a:avLst/>
          </a:prstGeom>
        </p:spPr>
      </p:pic>
      <p:pic>
        <p:nvPicPr>
          <p:cNvPr id="12" name="Picture 11" descr="A close-up of a molecule&#10;&#10;AI-generated content may be incorrect.">
            <a:extLst>
              <a:ext uri="{FF2B5EF4-FFF2-40B4-BE49-F238E27FC236}">
                <a16:creationId xmlns:a16="http://schemas.microsoft.com/office/drawing/2014/main" id="{0FDA3706-F94B-21C9-FC96-F80715861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7353" y="2282808"/>
            <a:ext cx="3965643" cy="2543410"/>
          </a:xfrm>
          <a:prstGeom prst="rect">
            <a:avLst/>
          </a:prstGeom>
        </p:spPr>
      </p:pic>
      <p:sp>
        <p:nvSpPr>
          <p:cNvPr id="15" name="Szövegdoboz 23">
            <a:extLst>
              <a:ext uri="{FF2B5EF4-FFF2-40B4-BE49-F238E27FC236}">
                <a16:creationId xmlns:a16="http://schemas.microsoft.com/office/drawing/2014/main" id="{F3DAE425-0811-3CB4-16D8-162D62231CF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6" name="Szövegdoboz 5">
            <a:extLst>
              <a:ext uri="{FF2B5EF4-FFF2-40B4-BE49-F238E27FC236}">
                <a16:creationId xmlns:a16="http://schemas.microsoft.com/office/drawing/2014/main" id="{CB878C95-033C-8B0A-E3BA-9AC58860F48A}"/>
              </a:ext>
            </a:extLst>
          </p:cNvPr>
          <p:cNvSpPr txBox="1"/>
          <p:nvPr/>
        </p:nvSpPr>
        <p:spPr>
          <a:xfrm>
            <a:off x="789292" y="149365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Ecology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7" name="Egyenes összekötő 8">
            <a:extLst>
              <a:ext uri="{FF2B5EF4-FFF2-40B4-BE49-F238E27FC236}">
                <a16:creationId xmlns:a16="http://schemas.microsoft.com/office/drawing/2014/main" id="{CC48159A-2CF9-6A8C-D094-00A70237AC72}"/>
              </a:ext>
            </a:extLst>
          </p:cNvPr>
          <p:cNvCxnSpPr>
            <a:cxnSpLocks/>
          </p:cNvCxnSpPr>
          <p:nvPr/>
        </p:nvCxnSpPr>
        <p:spPr>
          <a:xfrm>
            <a:off x="530528" y="188064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F9FCAACF-6C54-660B-4750-5166043EA71C}"/>
              </a:ext>
            </a:extLst>
          </p:cNvPr>
          <p:cNvSpPr txBox="1"/>
          <p:nvPr/>
        </p:nvSpPr>
        <p:spPr>
          <a:xfrm>
            <a:off x="4205782" y="148731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Robotics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060A4C67-EB4A-D69A-2B48-21D0D79AD428}"/>
              </a:ext>
            </a:extLst>
          </p:cNvPr>
          <p:cNvCxnSpPr>
            <a:cxnSpLocks/>
          </p:cNvCxnSpPr>
          <p:nvPr/>
        </p:nvCxnSpPr>
        <p:spPr>
          <a:xfrm>
            <a:off x="4205782" y="188064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5">
            <a:extLst>
              <a:ext uri="{FF2B5EF4-FFF2-40B4-BE49-F238E27FC236}">
                <a16:creationId xmlns:a16="http://schemas.microsoft.com/office/drawing/2014/main" id="{39E110A5-80E3-78FF-8C8E-D1DBA21E06AC}"/>
              </a:ext>
            </a:extLst>
          </p:cNvPr>
          <p:cNvSpPr txBox="1"/>
          <p:nvPr/>
        </p:nvSpPr>
        <p:spPr>
          <a:xfrm>
            <a:off x="8756194" y="149365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Electron microscopy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8">
            <a:extLst>
              <a:ext uri="{FF2B5EF4-FFF2-40B4-BE49-F238E27FC236}">
                <a16:creationId xmlns:a16="http://schemas.microsoft.com/office/drawing/2014/main" id="{5FE086B3-C2CC-5273-FA79-0CA9805B2BDC}"/>
              </a:ext>
            </a:extLst>
          </p:cNvPr>
          <p:cNvCxnSpPr>
            <a:cxnSpLocks/>
          </p:cNvCxnSpPr>
          <p:nvPr/>
        </p:nvCxnSpPr>
        <p:spPr>
          <a:xfrm>
            <a:off x="8485318" y="188064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344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E089D-05AE-8A59-3663-6DB1B8A4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4429BBF6-F139-0EC4-A7AA-A2FCF8F2087B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representations should we learn?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766CDF3-F164-68BD-1677-13F368E21E2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7EF56946-E1AE-93BD-D99E-EB1877A8E2D9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Abstraction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FFDB4310-57CB-27F2-287B-B8DEE1482FC3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C8C58280-FFE1-B59B-922C-10020A8AC86F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Selection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41B8BCB8-92D2-A777-DF49-4F810F584F93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23">
            <a:extLst>
              <a:ext uri="{FF2B5EF4-FFF2-40B4-BE49-F238E27FC236}">
                <a16:creationId xmlns:a16="http://schemas.microsoft.com/office/drawing/2014/main" id="{E614A4F8-53D4-0EC5-C9FF-DB5EBD097209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9192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45E21-FA39-2D9B-B743-8B9B0D5E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064B3E8-D8D8-0ECB-7853-27B7ACC185F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representations should we learn?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5079513-BCCC-642C-6A46-63C51E0EFFD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8A75F235-259F-4EAA-EB14-D10BAD92ADB4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Abstraction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3786E40A-A879-6C08-21F1-CF7BE76212E8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C8FA9E90-EEA7-4C28-DB68-8A8A5541E7A2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Selection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7F380A91-8789-BA56-886D-8265BD013B38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3">
            <a:extLst>
              <a:ext uri="{FF2B5EF4-FFF2-40B4-BE49-F238E27FC236}">
                <a16:creationId xmlns:a16="http://schemas.microsoft.com/office/drawing/2014/main" id="{56A15FBB-4816-75C8-F335-C2DCF7B05B83}"/>
              </a:ext>
            </a:extLst>
          </p:cNvPr>
          <p:cNvSpPr txBox="1"/>
          <p:nvPr/>
        </p:nvSpPr>
        <p:spPr>
          <a:xfrm>
            <a:off x="1744407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9" name="Szövegdoboz 3">
            <a:extLst>
              <a:ext uri="{FF2B5EF4-FFF2-40B4-BE49-F238E27FC236}">
                <a16:creationId xmlns:a16="http://schemas.microsoft.com/office/drawing/2014/main" id="{DAC286B2-A01A-446E-B90F-B1DE352637DC}"/>
              </a:ext>
            </a:extLst>
          </p:cNvPr>
          <p:cNvSpPr txBox="1"/>
          <p:nvPr/>
        </p:nvSpPr>
        <p:spPr>
          <a:xfrm>
            <a:off x="3312815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136740-345C-4221-6019-D02627E11851}"/>
              </a:ext>
            </a:extLst>
          </p:cNvPr>
          <p:cNvCxnSpPr>
            <a:cxnSpLocks/>
          </p:cNvCxnSpPr>
          <p:nvPr/>
        </p:nvCxnSpPr>
        <p:spPr>
          <a:xfrm>
            <a:off x="2602304" y="300841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23">
            <a:extLst>
              <a:ext uri="{FF2B5EF4-FFF2-40B4-BE49-F238E27FC236}">
                <a16:creationId xmlns:a16="http://schemas.microsoft.com/office/drawing/2014/main" id="{FC855810-DEEE-0855-1E74-667F24F54D73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870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74819-E656-DF75-9FD7-5F14E4EC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AB995C3-91AA-54CF-4A84-31629373E2A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representations should we learn?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62A838A-56F5-61B2-841C-D100CC0B9CF7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3C7A151D-425E-2320-0FE6-03D39F03115D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Abstraction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46BDE873-ACB1-552B-2C61-56278C61161A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890D6C69-7C88-9FE2-F9FA-03F33DDFDDED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Selection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65C8FA2C-B65F-3415-835E-3766A3707B16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3">
            <a:extLst>
              <a:ext uri="{FF2B5EF4-FFF2-40B4-BE49-F238E27FC236}">
                <a16:creationId xmlns:a16="http://schemas.microsoft.com/office/drawing/2014/main" id="{C555C87E-2F17-280F-67D8-0F30D8AF4C7A}"/>
              </a:ext>
            </a:extLst>
          </p:cNvPr>
          <p:cNvSpPr txBox="1"/>
          <p:nvPr/>
        </p:nvSpPr>
        <p:spPr>
          <a:xfrm>
            <a:off x="2696259" y="3316188"/>
            <a:ext cx="561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vs</a:t>
            </a:r>
          </a:p>
        </p:txBody>
      </p:sp>
      <p:sp>
        <p:nvSpPr>
          <p:cNvPr id="7" name="Szövegdoboz 3">
            <a:extLst>
              <a:ext uri="{FF2B5EF4-FFF2-40B4-BE49-F238E27FC236}">
                <a16:creationId xmlns:a16="http://schemas.microsoft.com/office/drawing/2014/main" id="{24A14AA7-F0F5-8B1C-689F-0133776BC4D6}"/>
              </a:ext>
            </a:extLst>
          </p:cNvPr>
          <p:cNvSpPr txBox="1"/>
          <p:nvPr/>
        </p:nvSpPr>
        <p:spPr>
          <a:xfrm>
            <a:off x="1744407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9" name="Szövegdoboz 3">
            <a:extLst>
              <a:ext uri="{FF2B5EF4-FFF2-40B4-BE49-F238E27FC236}">
                <a16:creationId xmlns:a16="http://schemas.microsoft.com/office/drawing/2014/main" id="{AB1C0D08-0AAB-756F-2990-CF9BC0DBBFA0}"/>
              </a:ext>
            </a:extLst>
          </p:cNvPr>
          <p:cNvSpPr txBox="1"/>
          <p:nvPr/>
        </p:nvSpPr>
        <p:spPr>
          <a:xfrm>
            <a:off x="3312815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ED02C3-CA62-6983-ADD2-FFD0A9E9D662}"/>
              </a:ext>
            </a:extLst>
          </p:cNvPr>
          <p:cNvCxnSpPr>
            <a:cxnSpLocks/>
          </p:cNvCxnSpPr>
          <p:nvPr/>
        </p:nvCxnSpPr>
        <p:spPr>
          <a:xfrm>
            <a:off x="2602304" y="300841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3">
            <a:extLst>
              <a:ext uri="{FF2B5EF4-FFF2-40B4-BE49-F238E27FC236}">
                <a16:creationId xmlns:a16="http://schemas.microsoft.com/office/drawing/2014/main" id="{4F301524-643E-A503-A9EF-F4EECECD7D40}"/>
              </a:ext>
            </a:extLst>
          </p:cNvPr>
          <p:cNvSpPr txBox="1"/>
          <p:nvPr/>
        </p:nvSpPr>
        <p:spPr>
          <a:xfrm>
            <a:off x="1271778" y="4122442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Vaping</a:t>
            </a:r>
          </a:p>
        </p:txBody>
      </p:sp>
      <p:sp>
        <p:nvSpPr>
          <p:cNvPr id="13" name="Szövegdoboz 3">
            <a:extLst>
              <a:ext uri="{FF2B5EF4-FFF2-40B4-BE49-F238E27FC236}">
                <a16:creationId xmlns:a16="http://schemas.microsoft.com/office/drawing/2014/main" id="{76525F68-5F6A-B0A2-278F-66FE0DF878B6}"/>
              </a:ext>
            </a:extLst>
          </p:cNvPr>
          <p:cNvSpPr txBox="1"/>
          <p:nvPr/>
        </p:nvSpPr>
        <p:spPr>
          <a:xfrm>
            <a:off x="3312815" y="4517190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40447F-1141-EB2A-DEB4-B8F4137E0C2A}"/>
              </a:ext>
            </a:extLst>
          </p:cNvPr>
          <p:cNvCxnSpPr>
            <a:cxnSpLocks/>
          </p:cNvCxnSpPr>
          <p:nvPr/>
        </p:nvCxnSpPr>
        <p:spPr>
          <a:xfrm>
            <a:off x="2602304" y="468290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3">
            <a:extLst>
              <a:ext uri="{FF2B5EF4-FFF2-40B4-BE49-F238E27FC236}">
                <a16:creationId xmlns:a16="http://schemas.microsoft.com/office/drawing/2014/main" id="{885F98EE-390B-2A0A-99AD-8530FDC47A66}"/>
              </a:ext>
            </a:extLst>
          </p:cNvPr>
          <p:cNvSpPr txBox="1"/>
          <p:nvPr/>
        </p:nvSpPr>
        <p:spPr>
          <a:xfrm>
            <a:off x="1277833" y="4549664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60236F5D-ECF0-227C-F92C-883A15B8660F}"/>
              </a:ext>
            </a:extLst>
          </p:cNvPr>
          <p:cNvSpPr txBox="1"/>
          <p:nvPr/>
        </p:nvSpPr>
        <p:spPr>
          <a:xfrm>
            <a:off x="1271778" y="4938345"/>
            <a:ext cx="1306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Second-hand smoking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0D61ED-F688-C6DD-7A72-932326D588BD}"/>
              </a:ext>
            </a:extLst>
          </p:cNvPr>
          <p:cNvSpPr/>
          <p:nvPr/>
        </p:nvSpPr>
        <p:spPr>
          <a:xfrm>
            <a:off x="1132403" y="4024074"/>
            <a:ext cx="1356461" cy="1554933"/>
          </a:xfrm>
          <a:prstGeom prst="rect">
            <a:avLst/>
          </a:pr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Szövegdoboz 23">
            <a:extLst>
              <a:ext uri="{FF2B5EF4-FFF2-40B4-BE49-F238E27FC236}">
                <a16:creationId xmlns:a16="http://schemas.microsoft.com/office/drawing/2014/main" id="{AC1187EE-9236-2E7C-0757-A5FDD307BE8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8724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F61946-0DFF-1870-6F5F-3BE99E43E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25774D3-ACFB-6DD7-BDE6-5C3D7296910A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representations should we learn?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28E072B-C171-1902-5E69-6A1530C66F6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B2BF7725-0E6D-558D-48CC-427CD111D432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Abstraction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C80FA03E-584A-3192-707A-158B31BF542E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917826AA-76FE-2150-8828-71C5C546F111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Selection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0E824173-969A-2C45-615B-179870963BFA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3">
            <a:extLst>
              <a:ext uri="{FF2B5EF4-FFF2-40B4-BE49-F238E27FC236}">
                <a16:creationId xmlns:a16="http://schemas.microsoft.com/office/drawing/2014/main" id="{10A8C014-FB24-8E7F-4C6F-D5F64083DA64}"/>
              </a:ext>
            </a:extLst>
          </p:cNvPr>
          <p:cNvSpPr txBox="1"/>
          <p:nvPr/>
        </p:nvSpPr>
        <p:spPr>
          <a:xfrm>
            <a:off x="2696259" y="3316188"/>
            <a:ext cx="561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vs</a:t>
            </a:r>
          </a:p>
        </p:txBody>
      </p:sp>
      <p:sp>
        <p:nvSpPr>
          <p:cNvPr id="7" name="Szövegdoboz 3">
            <a:extLst>
              <a:ext uri="{FF2B5EF4-FFF2-40B4-BE49-F238E27FC236}">
                <a16:creationId xmlns:a16="http://schemas.microsoft.com/office/drawing/2014/main" id="{4111BFEE-B5BC-7BBB-8A5C-F491E3741070}"/>
              </a:ext>
            </a:extLst>
          </p:cNvPr>
          <p:cNvSpPr txBox="1"/>
          <p:nvPr/>
        </p:nvSpPr>
        <p:spPr>
          <a:xfrm>
            <a:off x="1744407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9" name="Szövegdoboz 3">
            <a:extLst>
              <a:ext uri="{FF2B5EF4-FFF2-40B4-BE49-F238E27FC236}">
                <a16:creationId xmlns:a16="http://schemas.microsoft.com/office/drawing/2014/main" id="{144DDAD7-195F-EA06-CCEF-482B3DEBA121}"/>
              </a:ext>
            </a:extLst>
          </p:cNvPr>
          <p:cNvSpPr txBox="1"/>
          <p:nvPr/>
        </p:nvSpPr>
        <p:spPr>
          <a:xfrm>
            <a:off x="3312815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5C0991-E753-C720-8F4A-6057401E6656}"/>
              </a:ext>
            </a:extLst>
          </p:cNvPr>
          <p:cNvCxnSpPr>
            <a:cxnSpLocks/>
          </p:cNvCxnSpPr>
          <p:nvPr/>
        </p:nvCxnSpPr>
        <p:spPr>
          <a:xfrm>
            <a:off x="2602304" y="300841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3">
            <a:extLst>
              <a:ext uri="{FF2B5EF4-FFF2-40B4-BE49-F238E27FC236}">
                <a16:creationId xmlns:a16="http://schemas.microsoft.com/office/drawing/2014/main" id="{9B885EB2-EB35-C69C-5009-52CB18F7A64F}"/>
              </a:ext>
            </a:extLst>
          </p:cNvPr>
          <p:cNvSpPr txBox="1"/>
          <p:nvPr/>
        </p:nvSpPr>
        <p:spPr>
          <a:xfrm>
            <a:off x="1271778" y="4122442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Vaping</a:t>
            </a:r>
          </a:p>
        </p:txBody>
      </p:sp>
      <p:sp>
        <p:nvSpPr>
          <p:cNvPr id="13" name="Szövegdoboz 3">
            <a:extLst>
              <a:ext uri="{FF2B5EF4-FFF2-40B4-BE49-F238E27FC236}">
                <a16:creationId xmlns:a16="http://schemas.microsoft.com/office/drawing/2014/main" id="{B154BC2A-7C45-3EFB-AB56-E684607383ED}"/>
              </a:ext>
            </a:extLst>
          </p:cNvPr>
          <p:cNvSpPr txBox="1"/>
          <p:nvPr/>
        </p:nvSpPr>
        <p:spPr>
          <a:xfrm>
            <a:off x="3312815" y="4517190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88A1A6-0059-DC36-47DF-4CA16C25A5C4}"/>
              </a:ext>
            </a:extLst>
          </p:cNvPr>
          <p:cNvCxnSpPr>
            <a:cxnSpLocks/>
          </p:cNvCxnSpPr>
          <p:nvPr/>
        </p:nvCxnSpPr>
        <p:spPr>
          <a:xfrm>
            <a:off x="2602304" y="468290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3">
            <a:extLst>
              <a:ext uri="{FF2B5EF4-FFF2-40B4-BE49-F238E27FC236}">
                <a16:creationId xmlns:a16="http://schemas.microsoft.com/office/drawing/2014/main" id="{E03CDF73-6785-1F1B-8669-5956AB86B035}"/>
              </a:ext>
            </a:extLst>
          </p:cNvPr>
          <p:cNvSpPr txBox="1"/>
          <p:nvPr/>
        </p:nvSpPr>
        <p:spPr>
          <a:xfrm>
            <a:off x="1277833" y="4549664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670640B2-92D4-A71C-B31F-E650F18B6590}"/>
              </a:ext>
            </a:extLst>
          </p:cNvPr>
          <p:cNvSpPr txBox="1"/>
          <p:nvPr/>
        </p:nvSpPr>
        <p:spPr>
          <a:xfrm>
            <a:off x="1271778" y="4938345"/>
            <a:ext cx="1306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Second-hand smoking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6159AF-1C30-72DD-AE85-B44EB1397F27}"/>
              </a:ext>
            </a:extLst>
          </p:cNvPr>
          <p:cNvSpPr/>
          <p:nvPr/>
        </p:nvSpPr>
        <p:spPr>
          <a:xfrm>
            <a:off x="1132403" y="4024074"/>
            <a:ext cx="1356461" cy="1554933"/>
          </a:xfrm>
          <a:prstGeom prst="rect">
            <a:avLst/>
          </a:pr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Szövegdoboz 3">
            <a:extLst>
              <a:ext uri="{FF2B5EF4-FFF2-40B4-BE49-F238E27FC236}">
                <a16:creationId xmlns:a16="http://schemas.microsoft.com/office/drawing/2014/main" id="{EC2A3A1A-824A-2246-55C9-86860EB6EE99}"/>
              </a:ext>
            </a:extLst>
          </p:cNvPr>
          <p:cNvSpPr txBox="1"/>
          <p:nvPr/>
        </p:nvSpPr>
        <p:spPr>
          <a:xfrm>
            <a:off x="8076175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25" name="Szövegdoboz 3">
            <a:extLst>
              <a:ext uri="{FF2B5EF4-FFF2-40B4-BE49-F238E27FC236}">
                <a16:creationId xmlns:a16="http://schemas.microsoft.com/office/drawing/2014/main" id="{C2DD76DA-1ED0-2100-8BF1-87067AC13428}"/>
              </a:ext>
            </a:extLst>
          </p:cNvPr>
          <p:cNvSpPr txBox="1"/>
          <p:nvPr/>
        </p:nvSpPr>
        <p:spPr>
          <a:xfrm>
            <a:off x="9644583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080FEC-8029-DC52-FC5C-6B05B0466A4D}"/>
              </a:ext>
            </a:extLst>
          </p:cNvPr>
          <p:cNvCxnSpPr>
            <a:cxnSpLocks/>
          </p:cNvCxnSpPr>
          <p:nvPr/>
        </p:nvCxnSpPr>
        <p:spPr>
          <a:xfrm>
            <a:off x="8934072" y="300841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23">
            <a:extLst>
              <a:ext uri="{FF2B5EF4-FFF2-40B4-BE49-F238E27FC236}">
                <a16:creationId xmlns:a16="http://schemas.microsoft.com/office/drawing/2014/main" id="{9DD04AD7-9B0E-90AE-A0AD-B3DBBBEC50A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9392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A14FF-ECA4-E068-DA21-3EB00D09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87CAA35-100C-2299-CA44-D5F60C38CAA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representations should we learn?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F27CD75A-A33F-8D07-180C-AB3795E549D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EB93A502-1EDC-E6F9-BA96-5BF44709AAEC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Abstraction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4407AACC-6696-1844-2156-8C74D38FD19B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207F34CF-C15E-6DF0-4EDD-7C91F3521EBA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Selection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9EA89279-3793-D2A2-B0BC-7FDF2CEE3FFA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3">
            <a:extLst>
              <a:ext uri="{FF2B5EF4-FFF2-40B4-BE49-F238E27FC236}">
                <a16:creationId xmlns:a16="http://schemas.microsoft.com/office/drawing/2014/main" id="{B9CDD4AC-05F7-FC44-80FE-BA3E2FE03036}"/>
              </a:ext>
            </a:extLst>
          </p:cNvPr>
          <p:cNvSpPr txBox="1"/>
          <p:nvPr/>
        </p:nvSpPr>
        <p:spPr>
          <a:xfrm>
            <a:off x="2696259" y="3316188"/>
            <a:ext cx="561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vs</a:t>
            </a:r>
          </a:p>
        </p:txBody>
      </p:sp>
      <p:sp>
        <p:nvSpPr>
          <p:cNvPr id="7" name="Szövegdoboz 3">
            <a:extLst>
              <a:ext uri="{FF2B5EF4-FFF2-40B4-BE49-F238E27FC236}">
                <a16:creationId xmlns:a16="http://schemas.microsoft.com/office/drawing/2014/main" id="{C422ABAF-CCBF-FAA1-95AF-B2F4C7ED0BF7}"/>
              </a:ext>
            </a:extLst>
          </p:cNvPr>
          <p:cNvSpPr txBox="1"/>
          <p:nvPr/>
        </p:nvSpPr>
        <p:spPr>
          <a:xfrm>
            <a:off x="1744407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9" name="Szövegdoboz 3">
            <a:extLst>
              <a:ext uri="{FF2B5EF4-FFF2-40B4-BE49-F238E27FC236}">
                <a16:creationId xmlns:a16="http://schemas.microsoft.com/office/drawing/2014/main" id="{8A23B7B2-2556-324B-0880-BADB201697F3}"/>
              </a:ext>
            </a:extLst>
          </p:cNvPr>
          <p:cNvSpPr txBox="1"/>
          <p:nvPr/>
        </p:nvSpPr>
        <p:spPr>
          <a:xfrm>
            <a:off x="3312815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936347-F49E-2F76-7E11-F94036544B72}"/>
              </a:ext>
            </a:extLst>
          </p:cNvPr>
          <p:cNvCxnSpPr>
            <a:cxnSpLocks/>
          </p:cNvCxnSpPr>
          <p:nvPr/>
        </p:nvCxnSpPr>
        <p:spPr>
          <a:xfrm>
            <a:off x="2602304" y="300841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3">
            <a:extLst>
              <a:ext uri="{FF2B5EF4-FFF2-40B4-BE49-F238E27FC236}">
                <a16:creationId xmlns:a16="http://schemas.microsoft.com/office/drawing/2014/main" id="{2E7747A5-B68E-9049-43D5-701948E154F9}"/>
              </a:ext>
            </a:extLst>
          </p:cNvPr>
          <p:cNvSpPr txBox="1"/>
          <p:nvPr/>
        </p:nvSpPr>
        <p:spPr>
          <a:xfrm>
            <a:off x="1271778" y="4122442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Vaping</a:t>
            </a:r>
          </a:p>
        </p:txBody>
      </p:sp>
      <p:sp>
        <p:nvSpPr>
          <p:cNvPr id="13" name="Szövegdoboz 3">
            <a:extLst>
              <a:ext uri="{FF2B5EF4-FFF2-40B4-BE49-F238E27FC236}">
                <a16:creationId xmlns:a16="http://schemas.microsoft.com/office/drawing/2014/main" id="{6E7A2B9A-EDE7-DE6A-C9CB-AD7B86FFF42D}"/>
              </a:ext>
            </a:extLst>
          </p:cNvPr>
          <p:cNvSpPr txBox="1"/>
          <p:nvPr/>
        </p:nvSpPr>
        <p:spPr>
          <a:xfrm>
            <a:off x="3312815" y="4517190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C885DD-AB0E-1D10-9EFE-C0E76B308AFB}"/>
              </a:ext>
            </a:extLst>
          </p:cNvPr>
          <p:cNvCxnSpPr>
            <a:cxnSpLocks/>
          </p:cNvCxnSpPr>
          <p:nvPr/>
        </p:nvCxnSpPr>
        <p:spPr>
          <a:xfrm>
            <a:off x="2602304" y="4682900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3">
            <a:extLst>
              <a:ext uri="{FF2B5EF4-FFF2-40B4-BE49-F238E27FC236}">
                <a16:creationId xmlns:a16="http://schemas.microsoft.com/office/drawing/2014/main" id="{69C74027-CB72-52B0-6DC2-9C57260B56CE}"/>
              </a:ext>
            </a:extLst>
          </p:cNvPr>
          <p:cNvSpPr txBox="1"/>
          <p:nvPr/>
        </p:nvSpPr>
        <p:spPr>
          <a:xfrm>
            <a:off x="1277833" y="4549664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A896AF3E-653F-58C4-DCA9-FD830E2E558F}"/>
              </a:ext>
            </a:extLst>
          </p:cNvPr>
          <p:cNvSpPr txBox="1"/>
          <p:nvPr/>
        </p:nvSpPr>
        <p:spPr>
          <a:xfrm>
            <a:off x="1271778" y="4938345"/>
            <a:ext cx="1306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Second-hand smoking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2D0017-797E-D30E-A7E4-09F12A4AE034}"/>
              </a:ext>
            </a:extLst>
          </p:cNvPr>
          <p:cNvSpPr/>
          <p:nvPr/>
        </p:nvSpPr>
        <p:spPr>
          <a:xfrm>
            <a:off x="1132403" y="4024074"/>
            <a:ext cx="1356461" cy="1554933"/>
          </a:xfrm>
          <a:prstGeom prst="rect">
            <a:avLst/>
          </a:pr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Szövegdoboz 3">
            <a:extLst>
              <a:ext uri="{FF2B5EF4-FFF2-40B4-BE49-F238E27FC236}">
                <a16:creationId xmlns:a16="http://schemas.microsoft.com/office/drawing/2014/main" id="{6FF0C879-E9B3-9FBC-E08E-073F188ABE79}"/>
              </a:ext>
            </a:extLst>
          </p:cNvPr>
          <p:cNvSpPr txBox="1"/>
          <p:nvPr/>
        </p:nvSpPr>
        <p:spPr>
          <a:xfrm>
            <a:off x="9028027" y="3316188"/>
            <a:ext cx="561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vs</a:t>
            </a:r>
          </a:p>
        </p:txBody>
      </p:sp>
      <p:sp>
        <p:nvSpPr>
          <p:cNvPr id="24" name="Szövegdoboz 3">
            <a:extLst>
              <a:ext uri="{FF2B5EF4-FFF2-40B4-BE49-F238E27FC236}">
                <a16:creationId xmlns:a16="http://schemas.microsoft.com/office/drawing/2014/main" id="{421E9069-575E-729E-F70E-B50B18B3E7F7}"/>
              </a:ext>
            </a:extLst>
          </p:cNvPr>
          <p:cNvSpPr txBox="1"/>
          <p:nvPr/>
        </p:nvSpPr>
        <p:spPr>
          <a:xfrm>
            <a:off x="8076175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25" name="Szövegdoboz 3">
            <a:extLst>
              <a:ext uri="{FF2B5EF4-FFF2-40B4-BE49-F238E27FC236}">
                <a16:creationId xmlns:a16="http://schemas.microsoft.com/office/drawing/2014/main" id="{4C8F1E85-EEDF-4BE7-D29B-55BE74D7FF04}"/>
              </a:ext>
            </a:extLst>
          </p:cNvPr>
          <p:cNvSpPr txBox="1"/>
          <p:nvPr/>
        </p:nvSpPr>
        <p:spPr>
          <a:xfrm>
            <a:off x="9644583" y="2842701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D8356A-1E1D-B017-0763-6F61D74C9D5A}"/>
              </a:ext>
            </a:extLst>
          </p:cNvPr>
          <p:cNvCxnSpPr>
            <a:cxnSpLocks/>
          </p:cNvCxnSpPr>
          <p:nvPr/>
        </p:nvCxnSpPr>
        <p:spPr>
          <a:xfrm>
            <a:off x="8934072" y="300841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zövegdoboz 3">
            <a:extLst>
              <a:ext uri="{FF2B5EF4-FFF2-40B4-BE49-F238E27FC236}">
                <a16:creationId xmlns:a16="http://schemas.microsoft.com/office/drawing/2014/main" id="{2BE85E3E-4335-17E7-32C3-4C6E30535766}"/>
              </a:ext>
            </a:extLst>
          </p:cNvPr>
          <p:cNvSpPr txBox="1"/>
          <p:nvPr/>
        </p:nvSpPr>
        <p:spPr>
          <a:xfrm>
            <a:off x="8051953" y="3968553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5EFC5154-DA2C-2A6A-104F-7603F041E480}"/>
              </a:ext>
            </a:extLst>
          </p:cNvPr>
          <p:cNvSpPr txBox="1"/>
          <p:nvPr/>
        </p:nvSpPr>
        <p:spPr>
          <a:xfrm>
            <a:off x="9620361" y="3968553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Cancer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9AE6BF-27A9-0694-46A5-70C1B8C04CB1}"/>
              </a:ext>
            </a:extLst>
          </p:cNvPr>
          <p:cNvCxnSpPr>
            <a:cxnSpLocks/>
          </p:cNvCxnSpPr>
          <p:nvPr/>
        </p:nvCxnSpPr>
        <p:spPr>
          <a:xfrm>
            <a:off x="8909850" y="4134263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zövegdoboz 3">
            <a:extLst>
              <a:ext uri="{FF2B5EF4-FFF2-40B4-BE49-F238E27FC236}">
                <a16:creationId xmlns:a16="http://schemas.microsoft.com/office/drawing/2014/main" id="{E4920D68-7367-FFE7-F91B-F98DFBDDA6BA}"/>
              </a:ext>
            </a:extLst>
          </p:cNvPr>
          <p:cNvSpPr txBox="1"/>
          <p:nvPr/>
        </p:nvSpPr>
        <p:spPr>
          <a:xfrm>
            <a:off x="7998466" y="4568084"/>
            <a:ext cx="113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Air pollution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6431E7-AC33-8A02-0B20-0D97325948E3}"/>
              </a:ext>
            </a:extLst>
          </p:cNvPr>
          <p:cNvCxnSpPr>
            <a:cxnSpLocks/>
          </p:cNvCxnSpPr>
          <p:nvPr/>
        </p:nvCxnSpPr>
        <p:spPr>
          <a:xfrm flipV="1">
            <a:off x="9030963" y="4341886"/>
            <a:ext cx="730711" cy="361607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23">
            <a:extLst>
              <a:ext uri="{FF2B5EF4-FFF2-40B4-BE49-F238E27FC236}">
                <a16:creationId xmlns:a16="http://schemas.microsoft.com/office/drawing/2014/main" id="{418B9AC5-91EF-BEC2-DB0F-B950C82FEC8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8829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829E2-EE7B-9614-02C5-62408E5E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12B42DF5-B19C-4E69-6139-D0FEECC586EA}"/>
              </a:ext>
            </a:extLst>
          </p:cNvPr>
          <p:cNvSpPr txBox="1"/>
          <p:nvPr/>
        </p:nvSpPr>
        <p:spPr>
          <a:xfrm>
            <a:off x="112474" y="201310"/>
            <a:ext cx="1207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 for CD in linear (dashed) and nonlinear (solid) sparse SEMs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60827C4-0B3B-EAC6-8159-2515803B78A5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5EC557-A2DA-E252-B3BA-FF9C28198083}"/>
              </a:ext>
            </a:extLst>
          </p:cNvPr>
          <p:cNvSpPr txBox="1"/>
          <p:nvPr/>
        </p:nvSpPr>
        <p:spPr>
          <a:xfrm>
            <a:off x="112475" y="6459444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Reizinger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Jacobian-based Causal Discovery with Nonlinear ICA. TMLR, 2023.</a:t>
            </a:r>
          </a:p>
        </p:txBody>
      </p:sp>
      <p:pic>
        <p:nvPicPr>
          <p:cNvPr id="17" name="Picture 16" descr="A diagram of a network&#10;&#10;Description automatically generated">
            <a:extLst>
              <a:ext uri="{FF2B5EF4-FFF2-40B4-BE49-F238E27FC236}">
                <a16:creationId xmlns:a16="http://schemas.microsoft.com/office/drawing/2014/main" id="{88B68127-6603-C6A0-1972-F0B4C8D1C4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3942" t="13385" r="24947" b="27586"/>
          <a:stretch/>
        </p:blipFill>
        <p:spPr>
          <a:xfrm>
            <a:off x="948654" y="2191110"/>
            <a:ext cx="3018184" cy="16787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AC4C05-62D4-3242-6C22-86D651265B3C}"/>
              </a:ext>
            </a:extLst>
          </p:cNvPr>
          <p:cNvSpPr/>
          <p:nvPr/>
        </p:nvSpPr>
        <p:spPr>
          <a:xfrm>
            <a:off x="2457746" y="5685249"/>
            <a:ext cx="7276508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The scaling of ICA is the limit for CD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6D5B3F-CF20-AB76-8922-321B9830764E}"/>
                  </a:ext>
                </a:extLst>
              </p:cNvPr>
              <p:cNvSpPr txBox="1"/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𝑁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𝑋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causal variables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6D5B3F-CF20-AB76-8922-321B98307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A0D2E76-5AED-AEE3-2A86-CA58F84C993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1740"/>
          <a:stretch/>
        </p:blipFill>
        <p:spPr>
          <a:xfrm>
            <a:off x="6608140" y="1910339"/>
            <a:ext cx="5296513" cy="3310620"/>
          </a:xfrm>
          <a:prstGeom prst="rect">
            <a:avLst/>
          </a:prstGeom>
        </p:spPr>
      </p:pic>
      <p:pic>
        <p:nvPicPr>
          <p:cNvPr id="7" name="Picture 6" descr="A couple of blue squares&#10;&#10;AI-generated content may be incorrect.">
            <a:extLst>
              <a:ext uri="{FF2B5EF4-FFF2-40B4-BE49-F238E27FC236}">
                <a16:creationId xmlns:a16="http://schemas.microsoft.com/office/drawing/2014/main" id="{21EE80EF-C6D6-2936-A11A-1818E123704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5060" y="4035271"/>
            <a:ext cx="2685371" cy="1449453"/>
          </a:xfrm>
          <a:prstGeom prst="rect">
            <a:avLst/>
          </a:prstGeom>
        </p:spPr>
      </p:pic>
      <p:sp>
        <p:nvSpPr>
          <p:cNvPr id="9" name="Szövegdoboz 6">
            <a:extLst>
              <a:ext uri="{FF2B5EF4-FFF2-40B4-BE49-F238E27FC236}">
                <a16:creationId xmlns:a16="http://schemas.microsoft.com/office/drawing/2014/main" id="{9F76FDBB-0E38-735F-836B-F62F9E37B7CC}"/>
              </a:ext>
            </a:extLst>
          </p:cNvPr>
          <p:cNvSpPr txBox="1"/>
          <p:nvPr/>
        </p:nvSpPr>
        <p:spPr>
          <a:xfrm>
            <a:off x="6723053" y="1295349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Precision-recall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0" name="Egyenes összekötő 10">
            <a:extLst>
              <a:ext uri="{FF2B5EF4-FFF2-40B4-BE49-F238E27FC236}">
                <a16:creationId xmlns:a16="http://schemas.microsoft.com/office/drawing/2014/main" id="{3747563A-0711-600D-8B32-8F71E09E1778}"/>
              </a:ext>
            </a:extLst>
          </p:cNvPr>
          <p:cNvCxnSpPr>
            <a:cxnSpLocks/>
          </p:cNvCxnSpPr>
          <p:nvPr/>
        </p:nvCxnSpPr>
        <p:spPr>
          <a:xfrm flipV="1">
            <a:off x="6779016" y="1791302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6">
            <a:extLst>
              <a:ext uri="{FF2B5EF4-FFF2-40B4-BE49-F238E27FC236}">
                <a16:creationId xmlns:a16="http://schemas.microsoft.com/office/drawing/2014/main" id="{3B701377-AC53-9E9C-4D36-B65C90DFCB7C}"/>
              </a:ext>
            </a:extLst>
          </p:cNvPr>
          <p:cNvSpPr txBox="1"/>
          <p:nvPr/>
        </p:nvSpPr>
        <p:spPr>
          <a:xfrm>
            <a:off x="275955" y="1295349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Setup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3" name="Egyenes összekötő 10">
            <a:extLst>
              <a:ext uri="{FF2B5EF4-FFF2-40B4-BE49-F238E27FC236}">
                <a16:creationId xmlns:a16="http://schemas.microsoft.com/office/drawing/2014/main" id="{55EE1329-1670-0D1A-5EAD-110F13626C8E}"/>
              </a:ext>
            </a:extLst>
          </p:cNvPr>
          <p:cNvCxnSpPr>
            <a:cxnSpLocks/>
          </p:cNvCxnSpPr>
          <p:nvPr/>
        </p:nvCxnSpPr>
        <p:spPr>
          <a:xfrm flipV="1">
            <a:off x="331918" y="1791302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1617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E2460-FC35-B5F6-E2FD-5D2F4E8D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62D8EEF-C0F4-FE80-7E75-7FF47E42779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 for single treatment effect estimation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D2267CE1-D67D-B759-7FED-5C1C70FCAC2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16E08812-4ED7-1A44-79A3-2D55818CF51A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7661A82D-1E43-9BD1-4EB5-30669AAAE4F7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2286EC92-332F-29C0-2070-503AD3EDC180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MSE vs covariate dimension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D68DCAD8-9911-6753-6A86-D817FB969EC3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0AC9B2-6293-8BA5-963B-01269D27C716}"/>
                  </a:ext>
                </a:extLst>
              </p:cNvPr>
              <p:cNvSpPr txBox="1"/>
              <p:nvPr/>
            </p:nvSpPr>
            <p:spPr>
              <a:xfrm>
                <a:off x="112475" y="5860270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𝑋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covariates</a:t>
                </a:r>
              </a:p>
              <a:p>
                <a14:m>
                  <m:oMath xmlns:m="http://schemas.openxmlformats.org/officeDocument/2006/math">
                    <m:r>
                      <a:rPr lang="hu-HU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𝑇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treatment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Y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outcome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0AC9B2-6293-8BA5-963B-01269D27C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5860270"/>
                <a:ext cx="2535105" cy="646331"/>
              </a:xfrm>
              <a:prstGeom prst="rect">
                <a:avLst/>
              </a:prstGeom>
              <a:blipFill>
                <a:blip r:embed="rId3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2">
            <a:extLst>
              <a:ext uri="{FF2B5EF4-FFF2-40B4-BE49-F238E27FC236}">
                <a16:creationId xmlns:a16="http://schemas.microsoft.com/office/drawing/2014/main" id="{5D1079F2-C4C4-D432-0ABE-0DE46AD56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779"/>
          <a:stretch/>
        </p:blipFill>
        <p:spPr>
          <a:xfrm>
            <a:off x="6642537" y="2707957"/>
            <a:ext cx="5101085" cy="2352446"/>
          </a:xfrm>
          <a:prstGeom prst="rect">
            <a:avLst/>
          </a:prstGeom>
        </p:spPr>
      </p:pic>
      <p:pic>
        <p:nvPicPr>
          <p:cNvPr id="5" name="Picture 4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2A6FB4A4-00C3-7CE5-5F5D-45AC66EF8B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1467" r="47741"/>
          <a:stretch/>
        </p:blipFill>
        <p:spPr>
          <a:xfrm>
            <a:off x="927778" y="3035492"/>
            <a:ext cx="4061768" cy="1416392"/>
          </a:xfrm>
          <a:prstGeom prst="rect">
            <a:avLst/>
          </a:prstGeom>
        </p:spPr>
      </p:pic>
      <p:pic>
        <p:nvPicPr>
          <p:cNvPr id="11" name="Picture 10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17C5F09C-6CFB-2CB9-ABA6-341098BCC8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955" t="11206" r="52963" b="75039"/>
          <a:stretch/>
        </p:blipFill>
        <p:spPr>
          <a:xfrm>
            <a:off x="2285345" y="4859680"/>
            <a:ext cx="1483112" cy="401445"/>
          </a:xfrm>
          <a:prstGeom prst="rect">
            <a:avLst/>
          </a:prstGeom>
        </p:spPr>
      </p:pic>
      <p:pic>
        <p:nvPicPr>
          <p:cNvPr id="12" name="Picture 11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DCC0205E-8B8E-093D-B07B-809274F802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56" t="11206" r="78453" b="78392"/>
          <a:stretch/>
        </p:blipFill>
        <p:spPr>
          <a:xfrm>
            <a:off x="2881101" y="5417138"/>
            <a:ext cx="869795" cy="3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953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779-8A11-5616-6DC4-599FBC46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B29FB9E8-83C4-FD6E-76EF-FB47E39B6DA3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 for </a:t>
            </a:r>
            <a:r>
              <a:rPr lang="en-US" sz="3200" dirty="0">
                <a:solidFill>
                  <a:srgbClr val="D1011B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multiple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treatment effect estimation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49EDB70-5D0D-7F49-8182-608ABDB1E26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66912C04-9805-DB6F-C74C-667FC8F9F1B5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CE1B51BF-BB6B-A9B8-DAC4-DF97BC941736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81D662AE-B2DC-3D62-B6B0-AAA255E5FEC2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MSE vs covariate dimension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CCB1B5C5-3C30-465E-C140-A60B0BBE6941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004576-C9FE-181B-4170-18DB2684A2EC}"/>
                  </a:ext>
                </a:extLst>
              </p:cNvPr>
              <p:cNvSpPr txBox="1"/>
              <p:nvPr/>
            </p:nvSpPr>
            <p:spPr>
              <a:xfrm>
                <a:off x="112475" y="5860270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𝑋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covariates</a:t>
                </a:r>
              </a:p>
              <a:p>
                <a14:m>
                  <m:oMath xmlns:m="http://schemas.openxmlformats.org/officeDocument/2006/math">
                    <m:r>
                      <a:rPr lang="hu-HU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𝑇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treatment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Y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outcome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004576-C9FE-181B-4170-18DB2684A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5860270"/>
                <a:ext cx="2535105" cy="646331"/>
              </a:xfrm>
              <a:prstGeom prst="rect">
                <a:avLst/>
              </a:prstGeom>
              <a:blipFill>
                <a:blip r:embed="rId3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C3A59769-E616-4797-8911-8E41567C13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467" r="47741"/>
          <a:stretch/>
        </p:blipFill>
        <p:spPr>
          <a:xfrm>
            <a:off x="927778" y="3035492"/>
            <a:ext cx="4061768" cy="1416392"/>
          </a:xfrm>
          <a:prstGeom prst="rect">
            <a:avLst/>
          </a:prstGeom>
        </p:spPr>
      </p:pic>
      <p:pic>
        <p:nvPicPr>
          <p:cNvPr id="11" name="Picture 10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DD6EB6FF-5E80-8580-649C-B6F90AA0E2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55" t="11206" r="52963" b="75039"/>
          <a:stretch/>
        </p:blipFill>
        <p:spPr>
          <a:xfrm>
            <a:off x="2285345" y="4859680"/>
            <a:ext cx="1483112" cy="401445"/>
          </a:xfrm>
          <a:prstGeom prst="rect">
            <a:avLst/>
          </a:prstGeom>
        </p:spPr>
      </p:pic>
      <p:pic>
        <p:nvPicPr>
          <p:cNvPr id="12" name="Picture 11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3E12A3F9-5189-E7F4-630E-7FEBBDB9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56" t="11206" r="78453" b="78392"/>
          <a:stretch/>
        </p:blipFill>
        <p:spPr>
          <a:xfrm>
            <a:off x="2881101" y="5417138"/>
            <a:ext cx="869795" cy="30358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344165A-88AB-D801-BDE0-C2CF8AEC93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8918" y="2525608"/>
            <a:ext cx="5723082" cy="34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744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A1DD2-5F99-524F-33BE-B29A3B1C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57F314C9-74E0-17BC-8850-817B4AB777E1}"/>
              </a:ext>
            </a:extLst>
          </p:cNvPr>
          <p:cNvSpPr txBox="1"/>
          <p:nvPr/>
        </p:nvSpPr>
        <p:spPr>
          <a:xfrm>
            <a:off x="112474" y="201310"/>
            <a:ext cx="1207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Extending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88B9DD1-8E93-32A7-0A92-196F8E58F33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D83E46-544E-AF2B-5750-E196625C762C}"/>
              </a:ext>
            </a:extLst>
          </p:cNvPr>
          <p:cNvSpPr txBox="1"/>
          <p:nvPr/>
        </p:nvSpPr>
        <p:spPr>
          <a:xfrm>
            <a:off x="112475" y="6459444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Reizinger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Identifiable Exchangeable Mechanisms for Causal Structure and Representation Learning.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pic>
        <p:nvPicPr>
          <p:cNvPr id="6" name="Picture 5" descr="A graph with colored lines and dots&#10;&#10;AI-generated content may be incorrect.">
            <a:extLst>
              <a:ext uri="{FF2B5EF4-FFF2-40B4-BE49-F238E27FC236}">
                <a16:creationId xmlns:a16="http://schemas.microsoft.com/office/drawing/2014/main" id="{39D8563F-2CD8-C51A-9A5F-0F1C5708C2E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6765"/>
          <a:stretch/>
        </p:blipFill>
        <p:spPr>
          <a:xfrm>
            <a:off x="-92452" y="2260758"/>
            <a:ext cx="12039399" cy="2825674"/>
          </a:xfrm>
          <a:prstGeom prst="rect">
            <a:avLst/>
          </a:prstGeom>
        </p:spPr>
      </p:pic>
      <p:sp>
        <p:nvSpPr>
          <p:cNvPr id="14" name="Szövegdoboz 6">
            <a:extLst>
              <a:ext uri="{FF2B5EF4-FFF2-40B4-BE49-F238E27FC236}">
                <a16:creationId xmlns:a16="http://schemas.microsoft.com/office/drawing/2014/main" id="{F1F0E3FC-16E4-6475-9323-E9DFF5B851F3}"/>
              </a:ext>
            </a:extLst>
          </p:cNvPr>
          <p:cNvSpPr txBox="1"/>
          <p:nvPr/>
        </p:nvSpPr>
        <p:spPr>
          <a:xfrm>
            <a:off x="8021255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Mechanism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5" name="Egyenes összekötő 10">
            <a:extLst>
              <a:ext uri="{FF2B5EF4-FFF2-40B4-BE49-F238E27FC236}">
                <a16:creationId xmlns:a16="http://schemas.microsoft.com/office/drawing/2014/main" id="{820DCB09-B501-65F5-41CE-F4F9EAC37486}"/>
              </a:ext>
            </a:extLst>
          </p:cNvPr>
          <p:cNvCxnSpPr>
            <a:cxnSpLocks/>
          </p:cNvCxnSpPr>
          <p:nvPr/>
        </p:nvCxnSpPr>
        <p:spPr>
          <a:xfrm flipV="1">
            <a:off x="8021255" y="2381614"/>
            <a:ext cx="3802883" cy="10156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6">
            <a:extLst>
              <a:ext uri="{FF2B5EF4-FFF2-40B4-BE49-F238E27FC236}">
                <a16:creationId xmlns:a16="http://schemas.microsoft.com/office/drawing/2014/main" id="{72C738A0-AA65-1390-388D-8B0373A877E5}"/>
              </a:ext>
            </a:extLst>
          </p:cNvPr>
          <p:cNvSpPr txBox="1"/>
          <p:nvPr/>
        </p:nvSpPr>
        <p:spPr>
          <a:xfrm>
            <a:off x="3900668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Cause variability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8" name="Egyenes összekötő 10">
            <a:extLst>
              <a:ext uri="{FF2B5EF4-FFF2-40B4-BE49-F238E27FC236}">
                <a16:creationId xmlns:a16="http://schemas.microsoft.com/office/drawing/2014/main" id="{0EC7EC8E-BC9C-E4FB-9209-AE2850551971}"/>
              </a:ext>
            </a:extLst>
          </p:cNvPr>
          <p:cNvCxnSpPr>
            <a:cxnSpLocks/>
          </p:cNvCxnSpPr>
          <p:nvPr/>
        </p:nvCxnSpPr>
        <p:spPr>
          <a:xfrm>
            <a:off x="3900668" y="2382497"/>
            <a:ext cx="3472405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zövegdoboz 6">
            <a:extLst>
              <a:ext uri="{FF2B5EF4-FFF2-40B4-BE49-F238E27FC236}">
                <a16:creationId xmlns:a16="http://schemas.microsoft.com/office/drawing/2014/main" id="{801E1D26-B9A4-9C6A-196B-55BE543E6FB7}"/>
              </a:ext>
            </a:extLst>
          </p:cNvPr>
          <p:cNvSpPr txBox="1"/>
          <p:nvPr/>
        </p:nvSpPr>
        <p:spPr>
          <a:xfrm>
            <a:off x="-46300" y="1885661"/>
            <a:ext cx="3883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CdF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0" name="Egyenes összekötő 10">
            <a:extLst>
              <a:ext uri="{FF2B5EF4-FFF2-40B4-BE49-F238E27FC236}">
                <a16:creationId xmlns:a16="http://schemas.microsoft.com/office/drawing/2014/main" id="{50B45986-46ED-290B-9BBA-60181B6E5606}"/>
              </a:ext>
            </a:extLst>
          </p:cNvPr>
          <p:cNvCxnSpPr>
            <a:cxnSpLocks/>
          </p:cNvCxnSpPr>
          <p:nvPr/>
        </p:nvCxnSpPr>
        <p:spPr>
          <a:xfrm flipV="1">
            <a:off x="300211" y="2386413"/>
            <a:ext cx="2848103" cy="2246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D30ED5F-07B6-9565-9FDC-717504AD7D18}"/>
              </a:ext>
            </a:extLst>
          </p:cNvPr>
          <p:cNvSpPr/>
          <p:nvPr/>
        </p:nvSpPr>
        <p:spPr>
          <a:xfrm>
            <a:off x="2210119" y="5461529"/>
            <a:ext cx="7884233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discovery performance is similar across all three cases</a:t>
            </a:r>
            <a:endParaRPr lang="en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8351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2D00C-B510-BA58-45BB-08B54B23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F5E9FA8-138C-EE81-EE5A-F97B99683C81}"/>
              </a:ext>
            </a:extLst>
          </p:cNvPr>
          <p:cNvSpPr txBox="1"/>
          <p:nvPr/>
        </p:nvSpPr>
        <p:spPr>
          <a:xfrm>
            <a:off x="112474" y="201310"/>
            <a:ext cx="1207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 Bayesian view on OOD generalization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686DF02-BD47-6CD4-4AD9-91759F6FB41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3D1486-EB68-2A09-3057-D6B826B9D59B}"/>
              </a:ext>
            </a:extLst>
          </p:cNvPr>
          <p:cNvSpPr txBox="1"/>
          <p:nvPr/>
        </p:nvSpPr>
        <p:spPr>
          <a:xfrm>
            <a:off x="112475" y="6459444"/>
            <a:ext cx="11507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Reizinger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and Krishnan:  Exploring A Bayesian View On Compositional and Counterfactual Generalization. Compositional Learning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Workshop@NeurIPS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FB36832-4658-24E1-EEFF-433F699459A9}"/>
                  </a:ext>
                </a:extLst>
              </p:cNvPr>
              <p:cNvSpPr/>
              <p:nvPr/>
            </p:nvSpPr>
            <p:spPr>
              <a:xfrm>
                <a:off x="2210119" y="5234747"/>
                <a:ext cx="7884233" cy="824156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Compositional and counterfactual generalization relate via a causal Bayesian world model with a parameter prior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  <m:t>𝑥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  <m:t>𝑝𝑟𝑖𝑜𝑟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FB36832-4658-24E1-EEFF-433F69945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119" y="5234747"/>
                <a:ext cx="7884233" cy="824156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 descr="A diagram of a person walking in a forest&#10;&#10;AI-generated content may be incorrect.">
            <a:extLst>
              <a:ext uri="{FF2B5EF4-FFF2-40B4-BE49-F238E27FC236}">
                <a16:creationId xmlns:a16="http://schemas.microsoft.com/office/drawing/2014/main" id="{289CE66A-4C13-8056-A01A-A1618173F7E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5805" y="1186627"/>
            <a:ext cx="6140390" cy="3792594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2AB02D4-76AC-3731-B311-082A04E0D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186" y="111865"/>
            <a:ext cx="1771340" cy="73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7336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0DB15-ADD9-51AA-3098-F75D3E9B6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716F3D4-2E0A-5A6B-EC81-7E8FE94FDB4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373AB69C-F262-B076-08B2-E7140B22AF5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E6B347FD-636E-08F4-91B4-2484EFE78C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8222" y="1295803"/>
            <a:ext cx="3517900" cy="430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2C1B89-BBF7-D9B9-89E0-EC69A7E290E9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2C1B89-BBF7-D9B9-89E0-EC69A7E29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3">
            <a:extLst>
              <a:ext uri="{FF2B5EF4-FFF2-40B4-BE49-F238E27FC236}">
                <a16:creationId xmlns:a16="http://schemas.microsoft.com/office/drawing/2014/main" id="{6F98037A-EB34-DEB2-AD9B-39263C0563F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65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6343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EE6BE-57A5-59D2-87CA-5297F572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03F9205F-0FE7-5B90-F8D7-C43B01488662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D3F2283-55A1-341B-23EE-5E5CFA0AE844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2624A1E0-0B0A-3C61-03AD-C3361A31E4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8222" y="1295803"/>
            <a:ext cx="3517900" cy="430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DAD9D4-BDF5-510A-7E52-4575860F2EED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DAD9D4-BDF5-510A-7E52-4575860F2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zövegdoboz 23">
            <a:extLst>
              <a:ext uri="{FF2B5EF4-FFF2-40B4-BE49-F238E27FC236}">
                <a16:creationId xmlns:a16="http://schemas.microsoft.com/office/drawing/2014/main" id="{77C5F51D-B3BD-FAFA-F4AC-97FCFCFE7C88}"/>
              </a:ext>
            </a:extLst>
          </p:cNvPr>
          <p:cNvSpPr txBox="1"/>
          <p:nvPr/>
        </p:nvSpPr>
        <p:spPr>
          <a:xfrm>
            <a:off x="11512617" y="6502801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15/24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85990E-303B-AA5B-6C46-0E33A5D6BF69}"/>
              </a:ext>
            </a:extLst>
          </p:cNvPr>
          <p:cNvSpPr/>
          <p:nvPr/>
        </p:nvSpPr>
        <p:spPr>
          <a:xfrm>
            <a:off x="7461813" y="2580352"/>
            <a:ext cx="3024851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Quantity of interest</a:t>
            </a:r>
          </a:p>
        </p:txBody>
      </p:sp>
    </p:spTree>
    <p:extLst>
      <p:ext uri="{BB962C8B-B14F-4D97-AF65-F5344CB8AC3E}">
        <p14:creationId xmlns:p14="http://schemas.microsoft.com/office/powerpoint/2010/main" val="38949314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77F5D-486A-3D1A-3EA8-E1A8F3A1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E9B5B67-9868-CCE0-5625-E79F70C5BFA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2EC7EF7-9595-82C4-63A4-85E6729B3DA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8F0DB9F-C586-D9A0-C0D2-AB0B5764834D}"/>
              </a:ext>
            </a:extLst>
          </p:cNvPr>
          <p:cNvSpPr/>
          <p:nvPr/>
        </p:nvSpPr>
        <p:spPr>
          <a:xfrm>
            <a:off x="7461813" y="2580352"/>
            <a:ext cx="3024851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Quantity of interest</a:t>
            </a:r>
          </a:p>
        </p:txBody>
      </p: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357E73FE-0511-3242-9D6B-3166FB0E06F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8222" y="1295803"/>
            <a:ext cx="3517900" cy="430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73CDB0-26A8-157C-2932-C54D38A1CB7D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73CDB0-26A8-157C-2932-C54D38A1C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BE535E8-541C-6110-4898-562DEDC4F5BE}"/>
              </a:ext>
            </a:extLst>
          </p:cNvPr>
          <p:cNvSpPr/>
          <p:nvPr/>
        </p:nvSpPr>
        <p:spPr>
          <a:xfrm>
            <a:off x="7461813" y="3448453"/>
            <a:ext cx="3024851" cy="597373"/>
          </a:xfrm>
          <a:prstGeom prst="rect">
            <a:avLst/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Observed</a:t>
            </a:r>
          </a:p>
        </p:txBody>
      </p:sp>
      <p:sp>
        <p:nvSpPr>
          <p:cNvPr id="3" name="Szövegdoboz 23">
            <a:extLst>
              <a:ext uri="{FF2B5EF4-FFF2-40B4-BE49-F238E27FC236}">
                <a16:creationId xmlns:a16="http://schemas.microsoft.com/office/drawing/2014/main" id="{F3C33487-2110-0436-7EFE-79F154A4DCC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67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3139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BBDDB-2A82-5D24-CEC4-2FDC8D9D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5CAEEDE-BAC9-1756-E7AD-71D067E593B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Independent Exchangeable Mechanisms (IEM) framework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E338491-0D6C-CEA1-3A72-52A8B829B5E5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B4AFF362-6905-F93E-D303-AD2019C3B85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8222" y="1295803"/>
            <a:ext cx="3517900" cy="430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14A185-AF24-343C-BAE5-77997D3DB6ED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14A185-AF24-343C-BAE5-77997D3DB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4C0E847-E329-D694-EDBD-EEBC6662221B}"/>
              </a:ext>
            </a:extLst>
          </p:cNvPr>
          <p:cNvSpPr/>
          <p:nvPr/>
        </p:nvSpPr>
        <p:spPr>
          <a:xfrm>
            <a:off x="7461813" y="3448453"/>
            <a:ext cx="3024851" cy="597373"/>
          </a:xfrm>
          <a:prstGeom prst="rect">
            <a:avLst/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Observed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A94EF5-8191-05E7-5F8A-F47CE104E6E2}"/>
              </a:ext>
            </a:extLst>
          </p:cNvPr>
          <p:cNvSpPr/>
          <p:nvPr/>
        </p:nvSpPr>
        <p:spPr>
          <a:xfrm>
            <a:off x="7461813" y="4316555"/>
            <a:ext cx="3024851" cy="59737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Not modeled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EC9DE4-94BA-23BE-AEFD-BC7D6D444CFD}"/>
              </a:ext>
            </a:extLst>
          </p:cNvPr>
          <p:cNvSpPr/>
          <p:nvPr/>
        </p:nvSpPr>
        <p:spPr>
          <a:xfrm>
            <a:off x="7461813" y="2580352"/>
            <a:ext cx="3024851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Quantity of interest</a:t>
            </a:r>
          </a:p>
        </p:txBody>
      </p:sp>
      <p:sp>
        <p:nvSpPr>
          <p:cNvPr id="5" name="Szövegdoboz 23">
            <a:extLst>
              <a:ext uri="{FF2B5EF4-FFF2-40B4-BE49-F238E27FC236}">
                <a16:creationId xmlns:a16="http://schemas.microsoft.com/office/drawing/2014/main" id="{6507451D-AF81-78BF-5BC5-BE67791C638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68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3436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8BD2F-5CE4-A0A9-4A4A-E7CFB53D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1F7F6B86-8DE2-8C35-59C7-70D973FE37C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Causal Discovery: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36CBACD1-E3B9-8F28-2A94-96D59CEF6B32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40E320-9D7F-F179-ACA4-1925D609A4AA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40E320-9D7F-F179-ACA4-1925D609A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machine&#10;&#10;Description automatically generated">
            <a:extLst>
              <a:ext uri="{FF2B5EF4-FFF2-40B4-BE49-F238E27FC236}">
                <a16:creationId xmlns:a16="http://schemas.microsoft.com/office/drawing/2014/main" id="{6254BECF-A46D-0E65-A7D3-5C3B98DDFE2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306" y="1184638"/>
            <a:ext cx="3517900" cy="4305300"/>
          </a:xfrm>
          <a:prstGeom prst="rect">
            <a:avLst/>
          </a:prstGeom>
        </p:spPr>
      </p:pic>
      <p:sp>
        <p:nvSpPr>
          <p:cNvPr id="13" name="Szövegdoboz 6">
            <a:extLst>
              <a:ext uri="{FF2B5EF4-FFF2-40B4-BE49-F238E27FC236}">
                <a16:creationId xmlns:a16="http://schemas.microsoft.com/office/drawing/2014/main" id="{A48DE7C2-9301-AE44-B14F-FE6A0C5F23B5}"/>
              </a:ext>
            </a:extLst>
          </p:cNvPr>
          <p:cNvSpPr txBox="1"/>
          <p:nvPr/>
        </p:nvSpPr>
        <p:spPr>
          <a:xfrm>
            <a:off x="5197033" y="1885661"/>
            <a:ext cx="6707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de </a:t>
            </a:r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Theorem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BD8846D1-FA3D-5A36-6F82-726D77E45C29}"/>
              </a:ext>
            </a:extLst>
          </p:cNvPr>
          <p:cNvCxnSpPr>
            <a:cxnSpLocks/>
          </p:cNvCxnSpPr>
          <p:nvPr/>
        </p:nvCxnSpPr>
        <p:spPr>
          <a:xfrm flipV="1">
            <a:off x="5197033" y="2381614"/>
            <a:ext cx="6627105" cy="1769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630AA8-D046-BB2B-9BFF-84186DC699CA}"/>
              </a:ext>
            </a:extLst>
          </p:cNvPr>
          <p:cNvSpPr txBox="1"/>
          <p:nvPr/>
        </p:nvSpPr>
        <p:spPr>
          <a:xfrm>
            <a:off x="369659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2" name="Szövegdoboz 23">
            <a:extLst>
              <a:ext uri="{FF2B5EF4-FFF2-40B4-BE49-F238E27FC236}">
                <a16:creationId xmlns:a16="http://schemas.microsoft.com/office/drawing/2014/main" id="{72ED99A8-9B29-D5E5-DA41-EDC9AF42E75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69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985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92D22-0BFE-5FF4-3B80-0D961583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58E3AB1-DF2A-B6D0-3CE4-366E80547A2A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Causal Discovery: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1A0528D-988A-D56A-86DF-F327A4ABC73C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638355-80C4-AD19-E701-CD2646B8A636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638355-80C4-AD19-E701-CD2646B8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machine&#10;&#10;Description automatically generated">
            <a:extLst>
              <a:ext uri="{FF2B5EF4-FFF2-40B4-BE49-F238E27FC236}">
                <a16:creationId xmlns:a16="http://schemas.microsoft.com/office/drawing/2014/main" id="{476E2B19-4365-147D-4647-6E430CEF13A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306" y="1184638"/>
            <a:ext cx="3517900" cy="4305300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4AD80C4-67B4-5802-810E-5B8E4E49C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033" y="3242929"/>
            <a:ext cx="6587764" cy="1063541"/>
          </a:xfrm>
          <a:prstGeom prst="rect">
            <a:avLst/>
          </a:prstGeom>
        </p:spPr>
      </p:pic>
      <p:sp>
        <p:nvSpPr>
          <p:cNvPr id="13" name="Szövegdoboz 6">
            <a:extLst>
              <a:ext uri="{FF2B5EF4-FFF2-40B4-BE49-F238E27FC236}">
                <a16:creationId xmlns:a16="http://schemas.microsoft.com/office/drawing/2014/main" id="{2FDCB7F7-C88F-7727-F7B5-D69A4CF7FE97}"/>
              </a:ext>
            </a:extLst>
          </p:cNvPr>
          <p:cNvSpPr txBox="1"/>
          <p:nvPr/>
        </p:nvSpPr>
        <p:spPr>
          <a:xfrm>
            <a:off x="5197033" y="1885661"/>
            <a:ext cx="6707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de </a:t>
            </a:r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Theorem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D978F7FD-1494-50B0-5242-A2118CEF5BDA}"/>
              </a:ext>
            </a:extLst>
          </p:cNvPr>
          <p:cNvCxnSpPr>
            <a:cxnSpLocks/>
          </p:cNvCxnSpPr>
          <p:nvPr/>
        </p:nvCxnSpPr>
        <p:spPr>
          <a:xfrm flipV="1">
            <a:off x="5197033" y="2381614"/>
            <a:ext cx="6627105" cy="1769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84E377D-0EA1-3632-1D70-48DD2C1D3736}"/>
              </a:ext>
            </a:extLst>
          </p:cNvPr>
          <p:cNvSpPr txBox="1"/>
          <p:nvPr/>
        </p:nvSpPr>
        <p:spPr>
          <a:xfrm>
            <a:off x="369659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2" name="Szövegdoboz 23">
            <a:extLst>
              <a:ext uri="{FF2B5EF4-FFF2-40B4-BE49-F238E27FC236}">
                <a16:creationId xmlns:a16="http://schemas.microsoft.com/office/drawing/2014/main" id="{04AF84EC-23A8-492D-53BA-EE8FC1D9A5B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553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8863B-1908-8C3F-172A-0BE78DD1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7E5DFBD-49AE-EC29-F635-F1F5E6CCF2B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Causal Discovery: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3FA4D0EE-BE8C-21F1-2903-7E0ACC081A94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32E878-D94F-1238-8B86-FB444B6CC89E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32E878-D94F-1238-8B86-FB444B6CC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machine&#10;&#10;Description automatically generated">
            <a:extLst>
              <a:ext uri="{FF2B5EF4-FFF2-40B4-BE49-F238E27FC236}">
                <a16:creationId xmlns:a16="http://schemas.microsoft.com/office/drawing/2014/main" id="{4DC16BD4-D55B-20A0-452C-3906E820FF8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306" y="1184638"/>
            <a:ext cx="3517900" cy="4305300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4CD8E75-64D1-0F02-874B-7C565D368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033" y="3242929"/>
            <a:ext cx="6587764" cy="1063541"/>
          </a:xfrm>
          <a:prstGeom prst="rect">
            <a:avLst/>
          </a:prstGeom>
        </p:spPr>
      </p:pic>
      <p:sp>
        <p:nvSpPr>
          <p:cNvPr id="13" name="Szövegdoboz 6">
            <a:extLst>
              <a:ext uri="{FF2B5EF4-FFF2-40B4-BE49-F238E27FC236}">
                <a16:creationId xmlns:a16="http://schemas.microsoft.com/office/drawing/2014/main" id="{4438139B-BAF0-B895-A754-0F9D2CBD4AFA}"/>
              </a:ext>
            </a:extLst>
          </p:cNvPr>
          <p:cNvSpPr txBox="1"/>
          <p:nvPr/>
        </p:nvSpPr>
        <p:spPr>
          <a:xfrm>
            <a:off x="5197033" y="1885661"/>
            <a:ext cx="6707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de </a:t>
            </a:r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Theorem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4B600FDB-1BC5-C87A-CCCC-FA1353ECF6DA}"/>
              </a:ext>
            </a:extLst>
          </p:cNvPr>
          <p:cNvCxnSpPr>
            <a:cxnSpLocks/>
          </p:cNvCxnSpPr>
          <p:nvPr/>
        </p:nvCxnSpPr>
        <p:spPr>
          <a:xfrm flipV="1">
            <a:off x="5197033" y="2381614"/>
            <a:ext cx="6627105" cy="1769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66E681-CB90-C754-11B5-0AB16CB48A5B}"/>
              </a:ext>
            </a:extLst>
          </p:cNvPr>
          <p:cNvSpPr txBox="1"/>
          <p:nvPr/>
        </p:nvSpPr>
        <p:spPr>
          <a:xfrm>
            <a:off x="369659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884A7-AE13-41AE-49CC-45F861B39BF5}"/>
              </a:ext>
            </a:extLst>
          </p:cNvPr>
          <p:cNvSpPr/>
          <p:nvPr/>
        </p:nvSpPr>
        <p:spPr>
          <a:xfrm>
            <a:off x="8141809" y="3513908"/>
            <a:ext cx="1339417" cy="454695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Cause</a:t>
            </a:r>
          </a:p>
        </p:txBody>
      </p:sp>
      <p:sp>
        <p:nvSpPr>
          <p:cNvPr id="2" name="Szövegdoboz 23">
            <a:extLst>
              <a:ext uri="{FF2B5EF4-FFF2-40B4-BE49-F238E27FC236}">
                <a16:creationId xmlns:a16="http://schemas.microsoft.com/office/drawing/2014/main" id="{6A717F8C-2CB8-C90A-AC79-F0097E2BB07C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4958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8D74D-C7CB-EE43-E460-E2E4632C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BFD83109-0F5A-3069-ED22-91E3646F0D6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Causal Discovery: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DB1B18D0-9C50-5F32-2DD0-37685DC736E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78448-6B93-4C82-DCE0-A85003D3EEA0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78448-6B93-4C82-DCE0-A85003D3E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machine&#10;&#10;Description automatically generated">
            <a:extLst>
              <a:ext uri="{FF2B5EF4-FFF2-40B4-BE49-F238E27FC236}">
                <a16:creationId xmlns:a16="http://schemas.microsoft.com/office/drawing/2014/main" id="{BC20CF25-6D4D-FA20-4B60-045C2E4A546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306" y="1184638"/>
            <a:ext cx="3517900" cy="4305300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95B12B1-8572-E2D3-39DF-A212AD221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033" y="3242929"/>
            <a:ext cx="6587764" cy="1063541"/>
          </a:xfrm>
          <a:prstGeom prst="rect">
            <a:avLst/>
          </a:prstGeom>
        </p:spPr>
      </p:pic>
      <p:sp>
        <p:nvSpPr>
          <p:cNvPr id="13" name="Szövegdoboz 6">
            <a:extLst>
              <a:ext uri="{FF2B5EF4-FFF2-40B4-BE49-F238E27FC236}">
                <a16:creationId xmlns:a16="http://schemas.microsoft.com/office/drawing/2014/main" id="{CFB612F2-40EA-DD5D-9BFD-B659D40C3048}"/>
              </a:ext>
            </a:extLst>
          </p:cNvPr>
          <p:cNvSpPr txBox="1"/>
          <p:nvPr/>
        </p:nvSpPr>
        <p:spPr>
          <a:xfrm>
            <a:off x="5197033" y="1885661"/>
            <a:ext cx="6707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de </a:t>
            </a:r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Theorem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9CD38C7B-64B6-57FA-4218-F2E997D96768}"/>
              </a:ext>
            </a:extLst>
          </p:cNvPr>
          <p:cNvCxnSpPr>
            <a:cxnSpLocks/>
          </p:cNvCxnSpPr>
          <p:nvPr/>
        </p:nvCxnSpPr>
        <p:spPr>
          <a:xfrm flipV="1">
            <a:off x="5197033" y="2381614"/>
            <a:ext cx="6627105" cy="1769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4C7CFA-FBAA-EC08-DD2E-3A1775BD3299}"/>
              </a:ext>
            </a:extLst>
          </p:cNvPr>
          <p:cNvSpPr txBox="1"/>
          <p:nvPr/>
        </p:nvSpPr>
        <p:spPr>
          <a:xfrm>
            <a:off x="369659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6B9C1C-7119-1A84-C826-4BFFE2E709D7}"/>
              </a:ext>
            </a:extLst>
          </p:cNvPr>
          <p:cNvSpPr/>
          <p:nvPr/>
        </p:nvSpPr>
        <p:spPr>
          <a:xfrm>
            <a:off x="6694134" y="3513908"/>
            <a:ext cx="1339417" cy="454695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74BA66-09A4-482D-8A07-13563FF925E7}"/>
              </a:ext>
            </a:extLst>
          </p:cNvPr>
          <p:cNvSpPr/>
          <p:nvPr/>
        </p:nvSpPr>
        <p:spPr>
          <a:xfrm>
            <a:off x="8141809" y="3513908"/>
            <a:ext cx="1339417" cy="454695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Cause</a:t>
            </a:r>
          </a:p>
        </p:txBody>
      </p:sp>
      <p:sp>
        <p:nvSpPr>
          <p:cNvPr id="5" name="Szövegdoboz 23">
            <a:extLst>
              <a:ext uri="{FF2B5EF4-FFF2-40B4-BE49-F238E27FC236}">
                <a16:creationId xmlns:a16="http://schemas.microsoft.com/office/drawing/2014/main" id="{B7F28D92-8C36-E90C-02B6-AD701785353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679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906AC-5847-07F4-4259-1C2E460A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C172385-6837-E81B-AD21-3BC29040F935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Causal Discovery: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B3C3E98-5D91-9789-BF02-4A7D24ABC537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69A8E6-F6B9-D649-D769-9D10EE39B533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69A8E6-F6B9-D649-D769-9D10EE39B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machine&#10;&#10;Description automatically generated">
            <a:extLst>
              <a:ext uri="{FF2B5EF4-FFF2-40B4-BE49-F238E27FC236}">
                <a16:creationId xmlns:a16="http://schemas.microsoft.com/office/drawing/2014/main" id="{8C4EB558-6A9C-65F9-A19E-D82156113F3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306" y="1184638"/>
            <a:ext cx="3517900" cy="4305300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CCFB0A1-FEDB-EC80-41A3-952A82D73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033" y="3242929"/>
            <a:ext cx="6587764" cy="1063541"/>
          </a:xfrm>
          <a:prstGeom prst="rect">
            <a:avLst/>
          </a:prstGeom>
        </p:spPr>
      </p:pic>
      <p:sp>
        <p:nvSpPr>
          <p:cNvPr id="13" name="Szövegdoboz 6">
            <a:extLst>
              <a:ext uri="{FF2B5EF4-FFF2-40B4-BE49-F238E27FC236}">
                <a16:creationId xmlns:a16="http://schemas.microsoft.com/office/drawing/2014/main" id="{8D6BC785-BCE1-3B97-D97C-5D6DBD333CA7}"/>
              </a:ext>
            </a:extLst>
          </p:cNvPr>
          <p:cNvSpPr txBox="1"/>
          <p:nvPr/>
        </p:nvSpPr>
        <p:spPr>
          <a:xfrm>
            <a:off x="5197033" y="1885661"/>
            <a:ext cx="6707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de </a:t>
            </a:r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Theorem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10">
            <a:extLst>
              <a:ext uri="{FF2B5EF4-FFF2-40B4-BE49-F238E27FC236}">
                <a16:creationId xmlns:a16="http://schemas.microsoft.com/office/drawing/2014/main" id="{A50390DA-CC90-91A6-0090-9C3DCF6E2556}"/>
              </a:ext>
            </a:extLst>
          </p:cNvPr>
          <p:cNvCxnSpPr>
            <a:cxnSpLocks/>
          </p:cNvCxnSpPr>
          <p:nvPr/>
        </p:nvCxnSpPr>
        <p:spPr>
          <a:xfrm flipV="1">
            <a:off x="5197033" y="2381614"/>
            <a:ext cx="6627105" cy="1769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7CE32A8-FB20-BACA-8977-A5D112091B50}"/>
              </a:ext>
            </a:extLst>
          </p:cNvPr>
          <p:cNvSpPr/>
          <p:nvPr/>
        </p:nvSpPr>
        <p:spPr>
          <a:xfrm>
            <a:off x="5536945" y="4652369"/>
            <a:ext cx="6027795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mechanisms have independent parameters</a:t>
            </a:r>
            <a:endParaRPr lang="en-DE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7C1ED5-095A-2531-00C5-9A36FE3DFB73}"/>
              </a:ext>
            </a:extLst>
          </p:cNvPr>
          <p:cNvSpPr txBox="1"/>
          <p:nvPr/>
        </p:nvSpPr>
        <p:spPr>
          <a:xfrm>
            <a:off x="369659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2" name="Szövegdoboz 23">
            <a:extLst>
              <a:ext uri="{FF2B5EF4-FFF2-40B4-BE49-F238E27FC236}">
                <a16:creationId xmlns:a16="http://schemas.microsoft.com/office/drawing/2014/main" id="{02007CD1-E749-9044-0788-76130924D12E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0277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4CB8B-7CE4-BE1E-C4E2-64687B9D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3840423D-38AC-CB70-6848-A9F9B07B45B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Causal Discovery: Causal de 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7D7EF96-B6A0-97E7-F2D2-F3051FDF9CEA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diagram of a complex system&#10;&#10;Description automatically generated with medium confidence">
            <a:extLst>
              <a:ext uri="{FF2B5EF4-FFF2-40B4-BE49-F238E27FC236}">
                <a16:creationId xmlns:a16="http://schemas.microsoft.com/office/drawing/2014/main" id="{A0BE5F40-CA76-3A33-A7B7-6FFFD82DE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6" y="1223322"/>
            <a:ext cx="1905000" cy="4203700"/>
          </a:xfrm>
          <a:prstGeom prst="rect">
            <a:avLst/>
          </a:prstGeom>
        </p:spPr>
      </p:pic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81678AF-2EAC-C93E-9555-67654F658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033" y="3242929"/>
            <a:ext cx="6587764" cy="1063541"/>
          </a:xfrm>
          <a:prstGeom prst="rect">
            <a:avLst/>
          </a:prstGeom>
        </p:spPr>
      </p:pic>
      <p:sp>
        <p:nvSpPr>
          <p:cNvPr id="11" name="Szövegdoboz 6">
            <a:extLst>
              <a:ext uri="{FF2B5EF4-FFF2-40B4-BE49-F238E27FC236}">
                <a16:creationId xmlns:a16="http://schemas.microsoft.com/office/drawing/2014/main" id="{D9211186-DA71-070E-EF05-EDA613FA1C98}"/>
              </a:ext>
            </a:extLst>
          </p:cNvPr>
          <p:cNvSpPr txBox="1"/>
          <p:nvPr/>
        </p:nvSpPr>
        <p:spPr>
          <a:xfrm>
            <a:off x="5197033" y="1885661"/>
            <a:ext cx="6707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de </a:t>
            </a:r>
            <a:r>
              <a:rPr lang="en-US" sz="28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Theorem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2" name="Egyenes összekötő 10">
            <a:extLst>
              <a:ext uri="{FF2B5EF4-FFF2-40B4-BE49-F238E27FC236}">
                <a16:creationId xmlns:a16="http://schemas.microsoft.com/office/drawing/2014/main" id="{5F660F0F-DE32-031B-B06F-1DD5D46C1D6F}"/>
              </a:ext>
            </a:extLst>
          </p:cNvPr>
          <p:cNvCxnSpPr>
            <a:cxnSpLocks/>
          </p:cNvCxnSpPr>
          <p:nvPr/>
        </p:nvCxnSpPr>
        <p:spPr>
          <a:xfrm flipV="1">
            <a:off x="5197033" y="2381614"/>
            <a:ext cx="6627105" cy="17698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C2A71-9D42-B0B2-0030-CBF1388C88E5}"/>
              </a:ext>
            </a:extLst>
          </p:cNvPr>
          <p:cNvSpPr/>
          <p:nvPr/>
        </p:nvSpPr>
        <p:spPr>
          <a:xfrm>
            <a:off x="5536945" y="4652369"/>
            <a:ext cx="6027795" cy="5973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mechanisms have independent parameters</a:t>
            </a:r>
            <a:endParaRPr lang="en-DE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258B88-1E40-86F4-ACF9-6CC2C90BFF9E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258B88-1E40-86F4-ACF9-6CC2C90BF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5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16F2F14-B3B4-35FC-43E4-67840150876A}"/>
              </a:ext>
            </a:extLst>
          </p:cNvPr>
          <p:cNvSpPr txBox="1"/>
          <p:nvPr/>
        </p:nvSpPr>
        <p:spPr>
          <a:xfrm>
            <a:off x="369659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Guo et al.: Causal de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On the Identification of Invariant Causal Structure in Exchangeable Data.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p:sp>
        <p:nvSpPr>
          <p:cNvPr id="2" name="Szövegdoboz 23">
            <a:extLst>
              <a:ext uri="{FF2B5EF4-FFF2-40B4-BE49-F238E27FC236}">
                <a16:creationId xmlns:a16="http://schemas.microsoft.com/office/drawing/2014/main" id="{973F6D25-9D50-EFAE-6543-30DB3791052E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2275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25BD5-E52E-4DAF-41B4-190B59D7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BFC0AD80-DA6E-FB0D-1490-59845A98123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Nonlinear Independent Component Analysis: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583B163-98C2-45F3-CEAC-E4D4CC87F1E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C81CE703-6DE8-3AA8-E90B-DAE00BA7F109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Nonlinear ICA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47F4F4AB-8A7A-D5C7-463D-2D40AFB06E5A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DCFF18-95E9-DF55-A6B1-96522213C07F}"/>
                  </a:ext>
                </a:extLst>
              </p:cNvPr>
              <p:cNvSpPr txBox="1"/>
              <p:nvPr/>
            </p:nvSpPr>
            <p:spPr>
              <a:xfrm>
                <a:off x="300211" y="6010359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DCFF18-95E9-DF55-A6B1-96522213C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6010359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2CB8647C-E51A-FC86-DE2F-EE16C5D5ED5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4182" y="1276350"/>
            <a:ext cx="3517900" cy="4305300"/>
          </a:xfrm>
          <a:prstGeom prst="rect">
            <a:avLst/>
          </a:prstGeom>
        </p:spPr>
      </p:pic>
      <p:sp>
        <p:nvSpPr>
          <p:cNvPr id="7" name="Szövegdoboz 23">
            <a:extLst>
              <a:ext uri="{FF2B5EF4-FFF2-40B4-BE49-F238E27FC236}">
                <a16:creationId xmlns:a16="http://schemas.microsoft.com/office/drawing/2014/main" id="{6B3D06D4-CF7D-FB35-092C-AD544D1EB29A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2941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2B7FB-5D1F-CEEB-7FF6-1D008111D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BEFC4A0-2E69-AE79-6F92-EDCBEB10C32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Nonlinear Independent Component Analysis: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4C466F1-F44E-06F4-78CB-29D5484D7BC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0DCD9BA8-4915-A1D4-EA8D-2E9071E6B942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Nonlinear ICA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CC97193A-6D2D-5DC7-699B-F98EBA3DB3A2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3">
            <a:extLst>
              <a:ext uri="{FF2B5EF4-FFF2-40B4-BE49-F238E27FC236}">
                <a16:creationId xmlns:a16="http://schemas.microsoft.com/office/drawing/2014/main" id="{2A5363C3-01CD-4306-0DD8-C516D7B25384}"/>
              </a:ext>
            </a:extLst>
          </p:cNvPr>
          <p:cNvSpPr txBox="1"/>
          <p:nvPr/>
        </p:nvSpPr>
        <p:spPr>
          <a:xfrm>
            <a:off x="6699214" y="2803009"/>
            <a:ext cx="5101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Conditionally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independent sources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Variability across environments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Deterministic mixing function 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8D4D97-D5AF-7559-0AC3-02D088A831F5}"/>
                  </a:ext>
                </a:extLst>
              </p:cNvPr>
              <p:cNvSpPr txBox="1"/>
              <p:nvPr/>
            </p:nvSpPr>
            <p:spPr>
              <a:xfrm>
                <a:off x="300211" y="6010359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8D4D97-D5AF-7559-0AC3-02D088A83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6010359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FA7C1FB5-8856-393A-00B2-D46045EF17A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4182" y="1276350"/>
            <a:ext cx="3517900" cy="4305300"/>
          </a:xfrm>
          <a:prstGeom prst="rect">
            <a:avLst/>
          </a:prstGeom>
        </p:spPr>
      </p:pic>
      <p:sp>
        <p:nvSpPr>
          <p:cNvPr id="10" name="Szövegdoboz 23">
            <a:extLst>
              <a:ext uri="{FF2B5EF4-FFF2-40B4-BE49-F238E27FC236}">
                <a16:creationId xmlns:a16="http://schemas.microsoft.com/office/drawing/2014/main" id="{2D7D8D0B-00B8-EDD0-B954-9087954CB5F6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4656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2AF34-C32D-5385-3948-6C77A39C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1BEE3FE-22CC-5C02-F705-0927073ADA67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Nonlinear Independent Component Analysis: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4FF089B-E32A-A176-829D-C5931534279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849B7502-2772-41D3-F05A-B6FB983ED78D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Nonlinear ICA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79C81E92-4DED-C152-F51D-04FA2D00104E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3">
            <a:extLst>
              <a:ext uri="{FF2B5EF4-FFF2-40B4-BE49-F238E27FC236}">
                <a16:creationId xmlns:a16="http://schemas.microsoft.com/office/drawing/2014/main" id="{CCAF13AF-6AFB-EA4D-E023-0297B75C3AAC}"/>
              </a:ext>
            </a:extLst>
          </p:cNvPr>
          <p:cNvSpPr txBox="1"/>
          <p:nvPr/>
        </p:nvSpPr>
        <p:spPr>
          <a:xfrm>
            <a:off x="6699214" y="2803009"/>
            <a:ext cx="5101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Conditionally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independent sources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Variability across environments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Deterministic mixing function 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B87CB-7DBC-F693-A2D6-8C136942A995}"/>
                  </a:ext>
                </a:extLst>
              </p:cNvPr>
              <p:cNvSpPr txBox="1"/>
              <p:nvPr/>
            </p:nvSpPr>
            <p:spPr>
              <a:xfrm>
                <a:off x="300211" y="6010359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B87CB-7DBC-F693-A2D6-8C136942A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6010359"/>
                <a:ext cx="4051870" cy="1015663"/>
              </a:xfrm>
              <a:prstGeom prst="rect">
                <a:avLst/>
              </a:prstGeom>
              <a:blipFill>
                <a:blip r:embed="rId3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A984E651-F467-C01E-4D41-8CA4CE1A2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495" y="1466850"/>
            <a:ext cx="3060700" cy="3924300"/>
          </a:xfrm>
          <a:prstGeom prst="rect">
            <a:avLst/>
          </a:prstGeom>
        </p:spPr>
      </p:pic>
      <p:sp>
        <p:nvSpPr>
          <p:cNvPr id="2" name="Szövegdoboz 23">
            <a:extLst>
              <a:ext uri="{FF2B5EF4-FFF2-40B4-BE49-F238E27FC236}">
                <a16:creationId xmlns:a16="http://schemas.microsoft.com/office/drawing/2014/main" id="{8F1B84AB-E54D-7D89-D965-0D3807E6C0F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861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BCE14-DE24-AAF8-5646-8FEDD459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4ED9487-2FF6-DAD3-347C-9BDEEA1EE42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CRL: Causal Component Analysis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E16245E-03B7-733B-F8DD-7DFF595E4B17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AF46843C-1997-FFBB-2EB7-6B6E9512326B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4AAB0045-5DA2-762B-34C1-6DEC43C5B2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18222" y="1207788"/>
            <a:ext cx="3517900" cy="4305300"/>
          </a:xfrm>
          <a:prstGeom prst="rect">
            <a:avLst/>
          </a:prstGeom>
        </p:spPr>
      </p:pic>
      <p:sp>
        <p:nvSpPr>
          <p:cNvPr id="12" name="Szövegdoboz 6">
            <a:extLst>
              <a:ext uri="{FF2B5EF4-FFF2-40B4-BE49-F238E27FC236}">
                <a16:creationId xmlns:a16="http://schemas.microsoft.com/office/drawing/2014/main" id="{A36C6963-5185-E006-A041-B037B3209C43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Component Analysis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C08D50-4A6E-4AB0-404F-0B94CADB9E19}"/>
              </a:ext>
            </a:extLst>
          </p:cNvPr>
          <p:cNvSpPr txBox="1"/>
          <p:nvPr/>
        </p:nvSpPr>
        <p:spPr>
          <a:xfrm>
            <a:off x="300211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Wendong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Causal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D0AAE0-2109-BC2C-98FC-BE3035167F26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D0AAE0-2109-BC2C-98FC-BE3035167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3">
            <a:extLst>
              <a:ext uri="{FF2B5EF4-FFF2-40B4-BE49-F238E27FC236}">
                <a16:creationId xmlns:a16="http://schemas.microsoft.com/office/drawing/2014/main" id="{B5E7524A-36CB-8EF0-1F6C-1E8003DB203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707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60863-9EBD-1220-55BE-74D7B7E2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0F629B8B-784A-282F-3C78-E2C3B97B277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CRL: Causal Component Analysis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51007267-A370-EB45-D945-55FCBA3C704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2320A0F7-3C05-5AEB-1AFA-7E3966843E9C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27D2D8DA-5B03-0633-D3D4-3EE9A45E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18222" y="1207788"/>
            <a:ext cx="3517900" cy="4305300"/>
          </a:xfrm>
          <a:prstGeom prst="rect">
            <a:avLst/>
          </a:prstGeom>
        </p:spPr>
      </p:pic>
      <p:sp>
        <p:nvSpPr>
          <p:cNvPr id="10" name="Szövegdoboz 3">
            <a:extLst>
              <a:ext uri="{FF2B5EF4-FFF2-40B4-BE49-F238E27FC236}">
                <a16:creationId xmlns:a16="http://schemas.microsoft.com/office/drawing/2014/main" id="{579025FA-FFE7-51BC-831A-52F3F604792D}"/>
              </a:ext>
            </a:extLst>
          </p:cNvPr>
          <p:cNvSpPr txBox="1"/>
          <p:nvPr/>
        </p:nvSpPr>
        <p:spPr>
          <a:xfrm>
            <a:off x="6699214" y="2803009"/>
            <a:ext cx="5101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High-dimensional mixtures are observed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The graph is known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Access to diverse interventional data sets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Szövegdoboz 6">
            <a:extLst>
              <a:ext uri="{FF2B5EF4-FFF2-40B4-BE49-F238E27FC236}">
                <a16:creationId xmlns:a16="http://schemas.microsoft.com/office/drawing/2014/main" id="{C60F1FCC-9B03-3040-8FE1-B36BAA95CD10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Component Analysis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EE16C3-6D86-7E29-72EF-161DC2AEEBA6}"/>
              </a:ext>
            </a:extLst>
          </p:cNvPr>
          <p:cNvSpPr txBox="1"/>
          <p:nvPr/>
        </p:nvSpPr>
        <p:spPr>
          <a:xfrm>
            <a:off x="300211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Wendong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Causal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7408A3-DFAC-5FAF-76BE-D5D9F8EA256D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7408A3-DFAC-5FAF-76BE-D5D9F8EA2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3">
            <a:extLst>
              <a:ext uri="{FF2B5EF4-FFF2-40B4-BE49-F238E27FC236}">
                <a16:creationId xmlns:a16="http://schemas.microsoft.com/office/drawing/2014/main" id="{16E0CAB8-36F7-A7B5-AA73-71B4876E185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6346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F67B0-08ED-ABBC-9B14-2A42760E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08BDEE94-445C-C3C1-4832-AC8722AFCC1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 for CRL: Causal Component Analysis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0DA8361-F10D-E2B8-C584-1E659D0FA2C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5287738C-204F-9704-333C-D4A0D828F8F0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Causal Component Analysis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59AB7105-CBB9-507C-6506-D93324A0ADFA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3">
            <a:extLst>
              <a:ext uri="{FF2B5EF4-FFF2-40B4-BE49-F238E27FC236}">
                <a16:creationId xmlns:a16="http://schemas.microsoft.com/office/drawing/2014/main" id="{9E268C63-95B3-1D88-9964-584521EE50B7}"/>
              </a:ext>
            </a:extLst>
          </p:cNvPr>
          <p:cNvSpPr txBox="1"/>
          <p:nvPr/>
        </p:nvSpPr>
        <p:spPr>
          <a:xfrm>
            <a:off x="6699214" y="2803009"/>
            <a:ext cx="5101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High-dimensional mixtures are observed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The graph is known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Access to diverse interventional data sets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96ED1A40-287B-F288-D528-03776B95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622" y="1416050"/>
            <a:ext cx="3416300" cy="4025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28B354-5694-2009-B505-B38C86119A46}"/>
              </a:ext>
            </a:extLst>
          </p:cNvPr>
          <p:cNvSpPr txBox="1"/>
          <p:nvPr/>
        </p:nvSpPr>
        <p:spPr>
          <a:xfrm>
            <a:off x="300211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Wendong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et al.: Causal Component Analysis.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NeurIPS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CE70D8-4D60-731E-49D8-7A8C8B124457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CE70D8-4D60-731E-49D8-7A8C8B124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D5FFB99D-F67E-4541-45DC-11BB2C8DFD11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9717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F9ECF-AEAC-5BB5-A511-D3C35AB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E7297BA-C157-9C1D-CB37-8C65B930135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IEM’s potential: Identifying both source and causal variables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B6284C42-EAEC-A4EB-4563-D5DF36E34E1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422CC46E-AF3E-C8DF-9DDF-5B20FBA878A0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ILNCM</a:t>
            </a: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11E81391-75CD-A1CF-A873-867EAF042118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3A5E58-B93C-0921-048F-C0A13F4934DF}"/>
              </a:ext>
            </a:extLst>
          </p:cNvPr>
          <p:cNvSpPr txBox="1"/>
          <p:nvPr/>
        </p:nvSpPr>
        <p:spPr>
          <a:xfrm>
            <a:off x="300211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Liu et al.: Identifiable Latent Neural Causal Models.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9568D5EE-101A-0856-0BF1-A871C044E33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4182" y="1276350"/>
            <a:ext cx="3517900" cy="430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B95F90-4038-8805-CB58-5FF17917F78A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B95F90-4038-8805-CB58-5FF17917F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3">
            <a:extLst>
              <a:ext uri="{FF2B5EF4-FFF2-40B4-BE49-F238E27FC236}">
                <a16:creationId xmlns:a16="http://schemas.microsoft.com/office/drawing/2014/main" id="{CB6724DE-470B-F184-83E5-9693C924A97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951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16560-264B-399D-BD27-9EADD6F6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48C80D22-E328-BE71-EDE1-BD394CE9870A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IEM’s potential: Identifying both source and causal variables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BC7456FA-8A4B-4BE9-4068-A67CAD36184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9B47E591-C330-C859-8EBC-35F9BAC44A84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ILNCM</a:t>
            </a: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4B08AE17-1C57-9098-6501-D8D84DC4B9A8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3">
            <a:extLst>
              <a:ext uri="{FF2B5EF4-FFF2-40B4-BE49-F238E27FC236}">
                <a16:creationId xmlns:a16="http://schemas.microsoft.com/office/drawing/2014/main" id="{9F245C75-F51A-D4B3-9593-27C490134251}"/>
              </a:ext>
            </a:extLst>
          </p:cNvPr>
          <p:cNvSpPr txBox="1"/>
          <p:nvPr/>
        </p:nvSpPr>
        <p:spPr>
          <a:xfrm>
            <a:off x="6699214" y="2803009"/>
            <a:ext cx="51010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High-dimensional mixtures are observed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The SEM is an Additive Noise Model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Access to diverse interventional data sets on </a:t>
            </a: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both the source and causal variable 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levels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66FF7-30E4-365D-3F0A-3E5E6D20E0F3}"/>
              </a:ext>
            </a:extLst>
          </p:cNvPr>
          <p:cNvSpPr txBox="1"/>
          <p:nvPr/>
        </p:nvSpPr>
        <p:spPr>
          <a:xfrm>
            <a:off x="300211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Liu et al.: Identifiable Latent Neural Causal Models.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93FD5250-2EC3-86FB-3297-86FF87D243A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4182" y="1276350"/>
            <a:ext cx="3517900" cy="430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31AC89-2209-7650-E01E-F5A3F9B34F30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31AC89-2209-7650-E01E-F5A3F9B34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3">
            <a:extLst>
              <a:ext uri="{FF2B5EF4-FFF2-40B4-BE49-F238E27FC236}">
                <a16:creationId xmlns:a16="http://schemas.microsoft.com/office/drawing/2014/main" id="{DC78C74F-C06F-E83B-B76B-B901B00D88B3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7831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D20B1-0D19-DCE0-F5EE-C6F67F2D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8C4857D-1AA7-7FEB-63DC-0C82851F11A2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IEM’s potential: Identifying both source and causal variables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3AB74C5-1799-8FAC-20CF-3D869881885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6">
            <a:extLst>
              <a:ext uri="{FF2B5EF4-FFF2-40B4-BE49-F238E27FC236}">
                <a16:creationId xmlns:a16="http://schemas.microsoft.com/office/drawing/2014/main" id="{66EBB4C8-85A8-2F69-2A06-9577BFB52F18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ILNCM</a:t>
            </a:r>
          </a:p>
        </p:txBody>
      </p:sp>
      <p:cxnSp>
        <p:nvCxnSpPr>
          <p:cNvPr id="6" name="Egyenes összekötő 10">
            <a:extLst>
              <a:ext uri="{FF2B5EF4-FFF2-40B4-BE49-F238E27FC236}">
                <a16:creationId xmlns:a16="http://schemas.microsoft.com/office/drawing/2014/main" id="{18D61B17-92A3-6681-EBBB-7558AA3A0806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3">
            <a:extLst>
              <a:ext uri="{FF2B5EF4-FFF2-40B4-BE49-F238E27FC236}">
                <a16:creationId xmlns:a16="http://schemas.microsoft.com/office/drawing/2014/main" id="{854A2139-1EB5-564A-F289-83AEE9991D3F}"/>
              </a:ext>
            </a:extLst>
          </p:cNvPr>
          <p:cNvSpPr txBox="1"/>
          <p:nvPr/>
        </p:nvSpPr>
        <p:spPr>
          <a:xfrm>
            <a:off x="6699214" y="2803009"/>
            <a:ext cx="51010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High-dimensional mixtures are observed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The SEM is an Additive Noise Model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Access to diverse interventional data sets on </a:t>
            </a: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both the source and causal variable 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levels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1786E-F8C0-CF51-BD26-6B9280141E9B}"/>
              </a:ext>
            </a:extLst>
          </p:cNvPr>
          <p:cNvSpPr txBox="1"/>
          <p:nvPr/>
        </p:nvSpPr>
        <p:spPr>
          <a:xfrm>
            <a:off x="300211" y="6524771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Liu et al.: Identifiable Latent Neural Causal Models.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arXiv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2024.</a:t>
            </a:r>
          </a:p>
        </p:txBody>
      </p:sp>
      <p:pic>
        <p:nvPicPr>
          <p:cNvPr id="2" name="Picture 1" descr="A diagram of a machine&#10;&#10;Description automatically generated">
            <a:extLst>
              <a:ext uri="{FF2B5EF4-FFF2-40B4-BE49-F238E27FC236}">
                <a16:creationId xmlns:a16="http://schemas.microsoft.com/office/drawing/2014/main" id="{DCBF9E58-5095-4E8E-0C73-F2D4E0048CB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4182" y="1276350"/>
            <a:ext cx="3517900" cy="43053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2DD1E78-9E05-95B6-E086-361408350E72}"/>
              </a:ext>
            </a:extLst>
          </p:cNvPr>
          <p:cNvSpPr/>
          <p:nvPr/>
        </p:nvSpPr>
        <p:spPr>
          <a:xfrm>
            <a:off x="6470248" y="4882655"/>
            <a:ext cx="5604021" cy="77953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Independent de 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Finetti</a:t>
            </a:r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parameters for sources and mechanisms</a:t>
            </a:r>
            <a:endParaRPr lang="en-DE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619E45-B47D-39B5-13E7-CA5BCF726412}"/>
                  </a:ext>
                </a:extLst>
              </p:cNvPr>
              <p:cNvSpPr txBox="1"/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𝑆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variables</a:t>
                </a:r>
              </a:p>
              <a:p>
                <a:r>
                  <a:rPr lang="en-US" sz="1200" dirty="0">
                    <a:solidFill>
                      <a:srgbClr val="D1011B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Observed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don’t care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, target quantity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619E45-B47D-39B5-13E7-CA5BCF726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11" y="5673362"/>
                <a:ext cx="4051870" cy="1015663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23">
            <a:extLst>
              <a:ext uri="{FF2B5EF4-FFF2-40B4-BE49-F238E27FC236}">
                <a16:creationId xmlns:a16="http://schemas.microsoft.com/office/drawing/2014/main" id="{05BA10CC-EA95-4204-966D-80FAE3AC516A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831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B124A-121D-5676-08F9-FFD232B3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9F22008-BDED-DA80-7BE4-3592EC722D4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48D5520-40D4-B5F0-FB55-C71EB098C5C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4D1BAF54-7F75-60C3-704D-D5CF5C613802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A0EFBA8C-B52A-416C-9BCE-FB7FAB9E1B8D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zövegdoboz 3">
            <a:extLst>
              <a:ext uri="{FF2B5EF4-FFF2-40B4-BE49-F238E27FC236}">
                <a16:creationId xmlns:a16="http://schemas.microsoft.com/office/drawing/2014/main" id="{D6385A7E-431D-76A6-FDB4-276E69E93B91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A6E7A4E7-658A-ABAD-07E1-44CA0F694C6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560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87BF5-714E-7C78-87A7-5ADF497F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11FACF1D-2ED8-ECB2-9154-B32EEBEB117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FFC2ED9-B4CA-EB4A-4257-869DFC015D2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FCF7260A-46A5-1BA7-5CA5-95282CC0DE48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B767314A-9656-0180-3A13-CB37EE8F91E3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1917F0AA-A87E-8305-E96F-7C1A4AC20BCA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3A122591-8A09-1369-74C6-434444DEA5F7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zövegdoboz 3">
            <a:extLst>
              <a:ext uri="{FF2B5EF4-FFF2-40B4-BE49-F238E27FC236}">
                <a16:creationId xmlns:a16="http://schemas.microsoft.com/office/drawing/2014/main" id="{AC0AADB1-6636-C4B2-47DD-2FF704DDC0E9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C73F2776-DD6F-EC12-CD30-00CF64A479B0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367C4563-68EE-E033-08B9-C6A863E1E42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036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38290-615B-71B3-5A04-4973BA63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350C5A50-FAAF-4BF1-6526-424DE0FF757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3090E80D-2152-13CC-4225-7C636DD86D8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3BF99AC4-EACE-EEEE-5FD1-F005C325F243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CA0F6BCB-9FA8-E413-D1EF-732B77C93190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CB923AF5-D549-BA2B-4013-E51E4CCA41D7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AC5B60B2-7563-43F7-4469-464665BA07CC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5">
            <a:extLst>
              <a:ext uri="{FF2B5EF4-FFF2-40B4-BE49-F238E27FC236}">
                <a16:creationId xmlns:a16="http://schemas.microsoft.com/office/drawing/2014/main" id="{132D6B71-EA79-8364-0632-210FD5E224E9}"/>
              </a:ext>
            </a:extLst>
          </p:cNvPr>
          <p:cNvSpPr txBox="1"/>
          <p:nvPr/>
        </p:nvSpPr>
        <p:spPr>
          <a:xfrm>
            <a:off x="916831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6" name="Egyenes összekötő 8">
            <a:extLst>
              <a:ext uri="{FF2B5EF4-FFF2-40B4-BE49-F238E27FC236}">
                <a16:creationId xmlns:a16="http://schemas.microsoft.com/office/drawing/2014/main" id="{75AF9083-A72C-8164-CFAA-53F885D2E80A}"/>
              </a:ext>
            </a:extLst>
          </p:cNvPr>
          <p:cNvCxnSpPr>
            <a:cxnSpLocks/>
          </p:cNvCxnSpPr>
          <p:nvPr/>
        </p:nvCxnSpPr>
        <p:spPr>
          <a:xfrm>
            <a:off x="8897442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zövegdoboz 3">
            <a:extLst>
              <a:ext uri="{FF2B5EF4-FFF2-40B4-BE49-F238E27FC236}">
                <a16:creationId xmlns:a16="http://schemas.microsoft.com/office/drawing/2014/main" id="{F810CC7E-CB0A-349B-B5F2-B175A677AAA6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B54C190A-E92C-44C1-41AF-BAB1BC64FA2E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B0BCBE79-CD65-4ED6-C48B-AB92B713E869}"/>
              </a:ext>
            </a:extLst>
          </p:cNvPr>
          <p:cNvSpPr txBox="1"/>
          <p:nvPr/>
        </p:nvSpPr>
        <p:spPr>
          <a:xfrm>
            <a:off x="9188054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CauCA</a:t>
            </a:r>
            <a:endParaRPr lang="en-US" sz="12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67FF6373-B9E3-494C-334B-E67EDF68D9B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8963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8DB9A-E286-4FD3-A989-5A2BCB22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D892BBE-50C5-3F6A-FD00-F468F20C997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658513E-6D23-8A82-297A-0EC1FAB58CB6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59D713E7-2CAF-002F-0F4E-356C4E6F7638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CAC99854-CBEC-3275-4BA1-8914A8E962A2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8704C9ED-012B-7562-62EC-AE31E0ADF3F4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22EB1D05-04EA-1A3E-7512-204EDD57EB0F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5">
            <a:extLst>
              <a:ext uri="{FF2B5EF4-FFF2-40B4-BE49-F238E27FC236}">
                <a16:creationId xmlns:a16="http://schemas.microsoft.com/office/drawing/2014/main" id="{FB617BD2-071A-E2F7-E415-F8EFA56B839E}"/>
              </a:ext>
            </a:extLst>
          </p:cNvPr>
          <p:cNvSpPr txBox="1"/>
          <p:nvPr/>
        </p:nvSpPr>
        <p:spPr>
          <a:xfrm>
            <a:off x="916831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6" name="Egyenes összekötő 8">
            <a:extLst>
              <a:ext uri="{FF2B5EF4-FFF2-40B4-BE49-F238E27FC236}">
                <a16:creationId xmlns:a16="http://schemas.microsoft.com/office/drawing/2014/main" id="{8973FE2E-7A31-2507-E8DB-4DBF6E506FFA}"/>
              </a:ext>
            </a:extLst>
          </p:cNvPr>
          <p:cNvCxnSpPr>
            <a:cxnSpLocks/>
          </p:cNvCxnSpPr>
          <p:nvPr/>
        </p:nvCxnSpPr>
        <p:spPr>
          <a:xfrm>
            <a:off x="8897442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3">
            <a:extLst>
              <a:ext uri="{FF2B5EF4-FFF2-40B4-BE49-F238E27FC236}">
                <a16:creationId xmlns:a16="http://schemas.microsoft.com/office/drawing/2014/main" id="{8FCEB4AF-6F0B-06DA-D130-8BBCC6231A30}"/>
              </a:ext>
            </a:extLst>
          </p:cNvPr>
          <p:cNvSpPr txBox="1"/>
          <p:nvPr/>
        </p:nvSpPr>
        <p:spPr>
          <a:xfrm>
            <a:off x="112475" y="2986434"/>
            <a:ext cx="2941313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Optimization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Guarantees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6DE2D70D-51ED-05C5-A889-CA823F09F8D6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CB2C991C-0841-BEB8-F1FD-DD903DE62B78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184DF166-34AF-9541-7937-D302714E8701}"/>
              </a:ext>
            </a:extLst>
          </p:cNvPr>
          <p:cNvSpPr txBox="1"/>
          <p:nvPr/>
        </p:nvSpPr>
        <p:spPr>
          <a:xfrm>
            <a:off x="9188054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CauCA</a:t>
            </a:r>
            <a:endParaRPr lang="en-US" sz="12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CA121C44-8E8B-DE27-7754-673A1FE26D5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779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24CF1-4A40-ED49-358E-87EE7F5A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096D6B3-17A6-43A0-CF4C-5CFD027AA339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2CDD75E-9535-B3D7-BE8C-35D5543675A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3527F453-92CD-452A-786B-EA70D5CF0E54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F8FD43EF-2582-AAD4-59A5-5BC95DC5A29D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C023FC3E-BF4F-9AF9-B6FE-AC7FD1B83380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84402BB2-9E7A-DFCD-4750-B90AEB8C95B1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5">
            <a:extLst>
              <a:ext uri="{FF2B5EF4-FFF2-40B4-BE49-F238E27FC236}">
                <a16:creationId xmlns:a16="http://schemas.microsoft.com/office/drawing/2014/main" id="{286F5938-10B6-3834-E6D1-C1F4409DF4AD}"/>
              </a:ext>
            </a:extLst>
          </p:cNvPr>
          <p:cNvSpPr txBox="1"/>
          <p:nvPr/>
        </p:nvSpPr>
        <p:spPr>
          <a:xfrm>
            <a:off x="916831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6" name="Egyenes összekötő 8">
            <a:extLst>
              <a:ext uri="{FF2B5EF4-FFF2-40B4-BE49-F238E27FC236}">
                <a16:creationId xmlns:a16="http://schemas.microsoft.com/office/drawing/2014/main" id="{693EB992-8B03-898B-6403-C8F16CEEF560}"/>
              </a:ext>
            </a:extLst>
          </p:cNvPr>
          <p:cNvCxnSpPr>
            <a:cxnSpLocks/>
          </p:cNvCxnSpPr>
          <p:nvPr/>
        </p:nvCxnSpPr>
        <p:spPr>
          <a:xfrm>
            <a:off x="8897442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3">
            <a:extLst>
              <a:ext uri="{FF2B5EF4-FFF2-40B4-BE49-F238E27FC236}">
                <a16:creationId xmlns:a16="http://schemas.microsoft.com/office/drawing/2014/main" id="{33BE6CB7-726C-9AAB-D176-D1FE3F54A79E}"/>
              </a:ext>
            </a:extLst>
          </p:cNvPr>
          <p:cNvSpPr txBox="1"/>
          <p:nvPr/>
        </p:nvSpPr>
        <p:spPr>
          <a:xfrm>
            <a:off x="2893952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Implicit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2" name="Szövegdoboz 3">
            <a:extLst>
              <a:ext uri="{FF2B5EF4-FFF2-40B4-BE49-F238E27FC236}">
                <a16:creationId xmlns:a16="http://schemas.microsoft.com/office/drawing/2014/main" id="{36296A7F-5A9C-D8F3-5023-FC265E5EB05A}"/>
              </a:ext>
            </a:extLst>
          </p:cNvPr>
          <p:cNvSpPr txBox="1"/>
          <p:nvPr/>
        </p:nvSpPr>
        <p:spPr>
          <a:xfrm>
            <a:off x="6001326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but trivial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3" name="Szövegdoboz 3">
            <a:extLst>
              <a:ext uri="{FF2B5EF4-FFF2-40B4-BE49-F238E27FC236}">
                <a16:creationId xmlns:a16="http://schemas.microsoft.com/office/drawing/2014/main" id="{CF11FEBC-C4A9-A371-7557-D98339278BF2}"/>
              </a:ext>
            </a:extLst>
          </p:cNvPr>
          <p:cNvSpPr txBox="1"/>
          <p:nvPr/>
        </p:nvSpPr>
        <p:spPr>
          <a:xfrm>
            <a:off x="9268536" y="2986797"/>
            <a:ext cx="2608701" cy="234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</a:t>
            </a: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non-trivial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3">
            <a:extLst>
              <a:ext uri="{FF2B5EF4-FFF2-40B4-BE49-F238E27FC236}">
                <a16:creationId xmlns:a16="http://schemas.microsoft.com/office/drawing/2014/main" id="{E7E23D4C-2E59-7FBB-0FC3-EEDBA2DF3B08}"/>
              </a:ext>
            </a:extLst>
          </p:cNvPr>
          <p:cNvSpPr txBox="1"/>
          <p:nvPr/>
        </p:nvSpPr>
        <p:spPr>
          <a:xfrm>
            <a:off x="112475" y="2986434"/>
            <a:ext cx="2941313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Optimization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Guarantees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C1ECA3B0-58F8-6ED6-FC0A-79ACC8477AE1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B22DC257-0825-238C-F85B-D51BD4BE8F78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848F08DD-F350-6D7D-23DC-236C13FF699C}"/>
              </a:ext>
            </a:extLst>
          </p:cNvPr>
          <p:cNvSpPr txBox="1"/>
          <p:nvPr/>
        </p:nvSpPr>
        <p:spPr>
          <a:xfrm>
            <a:off x="9188054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CauCA</a:t>
            </a:r>
            <a:endParaRPr lang="en-US" sz="12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C9288B1F-680E-0BC3-F27A-8B958636D44A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0011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A9969-8B9A-32C0-CE37-BB63A2157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98EEBD3-1F32-33CF-F87C-F9C40BE4C2A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864B6C7-39A6-7DA4-564D-C721DDE1788A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0E847C2D-136D-9166-9FDC-223612F28863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246B372D-C179-706F-7ED2-620E43F6D292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9C5EBC25-E329-E442-7145-5C082EE708E9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974C0D56-08DA-63D4-BA11-000ED214543A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5">
            <a:extLst>
              <a:ext uri="{FF2B5EF4-FFF2-40B4-BE49-F238E27FC236}">
                <a16:creationId xmlns:a16="http://schemas.microsoft.com/office/drawing/2014/main" id="{7453D15A-856B-B0A1-3A69-80C2A8251491}"/>
              </a:ext>
            </a:extLst>
          </p:cNvPr>
          <p:cNvSpPr txBox="1"/>
          <p:nvPr/>
        </p:nvSpPr>
        <p:spPr>
          <a:xfrm>
            <a:off x="916831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6" name="Egyenes összekötő 8">
            <a:extLst>
              <a:ext uri="{FF2B5EF4-FFF2-40B4-BE49-F238E27FC236}">
                <a16:creationId xmlns:a16="http://schemas.microsoft.com/office/drawing/2014/main" id="{F1753C96-A6AD-DC95-E277-D5EFEEADD7B7}"/>
              </a:ext>
            </a:extLst>
          </p:cNvPr>
          <p:cNvCxnSpPr>
            <a:cxnSpLocks/>
          </p:cNvCxnSpPr>
          <p:nvPr/>
        </p:nvCxnSpPr>
        <p:spPr>
          <a:xfrm>
            <a:off x="8897442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3">
            <a:extLst>
              <a:ext uri="{FF2B5EF4-FFF2-40B4-BE49-F238E27FC236}">
                <a16:creationId xmlns:a16="http://schemas.microsoft.com/office/drawing/2014/main" id="{B148AE6F-68F5-F331-F835-E6ADC4A7D7A4}"/>
              </a:ext>
            </a:extLst>
          </p:cNvPr>
          <p:cNvSpPr txBox="1"/>
          <p:nvPr/>
        </p:nvSpPr>
        <p:spPr>
          <a:xfrm>
            <a:off x="2893952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Implicit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Good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2" name="Szövegdoboz 3">
            <a:extLst>
              <a:ext uri="{FF2B5EF4-FFF2-40B4-BE49-F238E27FC236}">
                <a16:creationId xmlns:a16="http://schemas.microsoft.com/office/drawing/2014/main" id="{E22FC727-7727-8223-359B-F33BD7309A91}"/>
              </a:ext>
            </a:extLst>
          </p:cNvPr>
          <p:cNvSpPr txBox="1"/>
          <p:nvPr/>
        </p:nvSpPr>
        <p:spPr>
          <a:xfrm>
            <a:off x="6001326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but 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OK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3" name="Szövegdoboz 3">
            <a:extLst>
              <a:ext uri="{FF2B5EF4-FFF2-40B4-BE49-F238E27FC236}">
                <a16:creationId xmlns:a16="http://schemas.microsoft.com/office/drawing/2014/main" id="{867DEE32-50B3-5358-6E4F-08F5AC2CC57A}"/>
              </a:ext>
            </a:extLst>
          </p:cNvPr>
          <p:cNvSpPr txBox="1"/>
          <p:nvPr/>
        </p:nvSpPr>
        <p:spPr>
          <a:xfrm>
            <a:off x="9268536" y="2986797"/>
            <a:ext cx="2608701" cy="234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</a:t>
            </a: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Bad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3">
            <a:extLst>
              <a:ext uri="{FF2B5EF4-FFF2-40B4-BE49-F238E27FC236}">
                <a16:creationId xmlns:a16="http://schemas.microsoft.com/office/drawing/2014/main" id="{F52E5CF1-4007-4ECC-3AF8-17ED838DEE15}"/>
              </a:ext>
            </a:extLst>
          </p:cNvPr>
          <p:cNvSpPr txBox="1"/>
          <p:nvPr/>
        </p:nvSpPr>
        <p:spPr>
          <a:xfrm>
            <a:off x="112475" y="2986434"/>
            <a:ext cx="2941313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Optimization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Guarantees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A577BE86-E729-5830-BCA3-54CB6C751534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51E38478-9D67-573E-E89C-603CFA217F78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5C249C08-A3A5-3354-2030-EA432CAA407D}"/>
              </a:ext>
            </a:extLst>
          </p:cNvPr>
          <p:cNvSpPr txBox="1"/>
          <p:nvPr/>
        </p:nvSpPr>
        <p:spPr>
          <a:xfrm>
            <a:off x="9188054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CauCA</a:t>
            </a:r>
            <a:endParaRPr lang="en-US" sz="12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CA2307E5-9C16-9F2A-A4EA-02F9D33AFAF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595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01B21-16B5-0DA6-538B-AC52A6AA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19B71EE2-E10D-86E9-1770-4B0A41F1D60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87D3DFC-D7C3-E7B8-D96C-AFCCF74DE36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E5E3A142-A6E9-11B9-C9B6-AF8A9C24E648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EDEC7A50-F866-06FD-0560-7C27E1A9F632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9E014172-F59C-4DEF-BE58-D695ED838C88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51A7120D-7AB8-AA32-DF2E-31E675E8B579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5">
            <a:extLst>
              <a:ext uri="{FF2B5EF4-FFF2-40B4-BE49-F238E27FC236}">
                <a16:creationId xmlns:a16="http://schemas.microsoft.com/office/drawing/2014/main" id="{6AB7C0BE-E975-487A-F8C7-BD9636FD9142}"/>
              </a:ext>
            </a:extLst>
          </p:cNvPr>
          <p:cNvSpPr txBox="1"/>
          <p:nvPr/>
        </p:nvSpPr>
        <p:spPr>
          <a:xfrm>
            <a:off x="916831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6" name="Egyenes összekötő 8">
            <a:extLst>
              <a:ext uri="{FF2B5EF4-FFF2-40B4-BE49-F238E27FC236}">
                <a16:creationId xmlns:a16="http://schemas.microsoft.com/office/drawing/2014/main" id="{7EEC43C7-1D22-0F9E-9584-A431D5620461}"/>
              </a:ext>
            </a:extLst>
          </p:cNvPr>
          <p:cNvCxnSpPr>
            <a:cxnSpLocks/>
          </p:cNvCxnSpPr>
          <p:nvPr/>
        </p:nvCxnSpPr>
        <p:spPr>
          <a:xfrm>
            <a:off x="8897442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3">
            <a:extLst>
              <a:ext uri="{FF2B5EF4-FFF2-40B4-BE49-F238E27FC236}">
                <a16:creationId xmlns:a16="http://schemas.microsoft.com/office/drawing/2014/main" id="{9496E44B-49E8-F835-2600-C0B29A1CD7CE}"/>
              </a:ext>
            </a:extLst>
          </p:cNvPr>
          <p:cNvSpPr txBox="1"/>
          <p:nvPr/>
        </p:nvSpPr>
        <p:spPr>
          <a:xfrm>
            <a:off x="2893952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Implicit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Good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 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2" name="Szövegdoboz 3">
            <a:extLst>
              <a:ext uri="{FF2B5EF4-FFF2-40B4-BE49-F238E27FC236}">
                <a16:creationId xmlns:a16="http://schemas.microsoft.com/office/drawing/2014/main" id="{665963FE-D52C-8986-C7A0-E28582C65058}"/>
              </a:ext>
            </a:extLst>
          </p:cNvPr>
          <p:cNvSpPr txBox="1"/>
          <p:nvPr/>
        </p:nvSpPr>
        <p:spPr>
          <a:xfrm>
            <a:off x="6001326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but 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OK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3" name="Szövegdoboz 3">
            <a:extLst>
              <a:ext uri="{FF2B5EF4-FFF2-40B4-BE49-F238E27FC236}">
                <a16:creationId xmlns:a16="http://schemas.microsoft.com/office/drawing/2014/main" id="{401AF16A-9355-D0F6-BF34-54E7017E25DE}"/>
              </a:ext>
            </a:extLst>
          </p:cNvPr>
          <p:cNvSpPr txBox="1"/>
          <p:nvPr/>
        </p:nvSpPr>
        <p:spPr>
          <a:xfrm>
            <a:off x="9268536" y="2986797"/>
            <a:ext cx="2608701" cy="234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</a:t>
            </a: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Bad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B05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3">
            <a:extLst>
              <a:ext uri="{FF2B5EF4-FFF2-40B4-BE49-F238E27FC236}">
                <a16:creationId xmlns:a16="http://schemas.microsoft.com/office/drawing/2014/main" id="{3948DB71-7B33-13D3-6C63-9E87BE34363E}"/>
              </a:ext>
            </a:extLst>
          </p:cNvPr>
          <p:cNvSpPr txBox="1"/>
          <p:nvPr/>
        </p:nvSpPr>
        <p:spPr>
          <a:xfrm>
            <a:off x="112475" y="2986434"/>
            <a:ext cx="2941313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Optimization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Guarantees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FDA61BD6-B806-9BD7-5EA2-65D097110C34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253E2B86-37C0-EE8E-AE1D-832A61BCD87F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58E09B27-7A52-1FB1-A8AD-28C31B30AC23}"/>
              </a:ext>
            </a:extLst>
          </p:cNvPr>
          <p:cNvSpPr txBox="1"/>
          <p:nvPr/>
        </p:nvSpPr>
        <p:spPr>
          <a:xfrm>
            <a:off x="9188054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CauCA</a:t>
            </a:r>
            <a:endParaRPr lang="en-US" sz="12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D0B6956C-4C61-01F4-009D-2EEA2144E35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1200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8286D-E9D3-F0BC-FDDB-7BEDD38BF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423A521-12AE-D607-67B9-AC93D10CCF0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AFCB6C9-CBD0-408A-5241-8D80179DB9B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6466DD57-2B71-5B7C-D14E-5785A4D6C133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A69D5E08-800E-0ABA-B583-B468BBE23420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FEA1D8C6-0B9C-8D4E-595D-D24872A9C2B2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48CEDD68-7E8E-2B2E-83EE-471335D01163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5">
            <a:extLst>
              <a:ext uri="{FF2B5EF4-FFF2-40B4-BE49-F238E27FC236}">
                <a16:creationId xmlns:a16="http://schemas.microsoft.com/office/drawing/2014/main" id="{645BB17C-8B75-1AB1-58A6-4A7FF534F0E7}"/>
              </a:ext>
            </a:extLst>
          </p:cNvPr>
          <p:cNvSpPr txBox="1"/>
          <p:nvPr/>
        </p:nvSpPr>
        <p:spPr>
          <a:xfrm>
            <a:off x="916831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6" name="Egyenes összekötő 8">
            <a:extLst>
              <a:ext uri="{FF2B5EF4-FFF2-40B4-BE49-F238E27FC236}">
                <a16:creationId xmlns:a16="http://schemas.microsoft.com/office/drawing/2014/main" id="{0AB59636-AD25-C98C-4059-ACE88FD736E8}"/>
              </a:ext>
            </a:extLst>
          </p:cNvPr>
          <p:cNvCxnSpPr>
            <a:cxnSpLocks/>
          </p:cNvCxnSpPr>
          <p:nvPr/>
        </p:nvCxnSpPr>
        <p:spPr>
          <a:xfrm>
            <a:off x="8897442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3">
            <a:extLst>
              <a:ext uri="{FF2B5EF4-FFF2-40B4-BE49-F238E27FC236}">
                <a16:creationId xmlns:a16="http://schemas.microsoft.com/office/drawing/2014/main" id="{CBB88F80-F8EA-5C25-026D-AF4FBA43610E}"/>
              </a:ext>
            </a:extLst>
          </p:cNvPr>
          <p:cNvSpPr txBox="1"/>
          <p:nvPr/>
        </p:nvSpPr>
        <p:spPr>
          <a:xfrm>
            <a:off x="2893952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Implicit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Good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</a:t>
            </a:r>
          </a:p>
        </p:txBody>
      </p:sp>
      <p:sp>
        <p:nvSpPr>
          <p:cNvPr id="22" name="Szövegdoboz 3">
            <a:extLst>
              <a:ext uri="{FF2B5EF4-FFF2-40B4-BE49-F238E27FC236}">
                <a16:creationId xmlns:a16="http://schemas.microsoft.com/office/drawing/2014/main" id="{9E7C6CB7-649E-E90C-A41F-7E6C6B8F62B4}"/>
              </a:ext>
            </a:extLst>
          </p:cNvPr>
          <p:cNvSpPr txBox="1"/>
          <p:nvPr/>
        </p:nvSpPr>
        <p:spPr>
          <a:xfrm>
            <a:off x="6001326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but 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OK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Sometimes</a:t>
            </a:r>
          </a:p>
        </p:txBody>
      </p:sp>
      <p:sp>
        <p:nvSpPr>
          <p:cNvPr id="23" name="Szövegdoboz 3">
            <a:extLst>
              <a:ext uri="{FF2B5EF4-FFF2-40B4-BE49-F238E27FC236}">
                <a16:creationId xmlns:a16="http://schemas.microsoft.com/office/drawing/2014/main" id="{D598DF3B-8BF9-746D-C603-3710070C13E7}"/>
              </a:ext>
            </a:extLst>
          </p:cNvPr>
          <p:cNvSpPr txBox="1"/>
          <p:nvPr/>
        </p:nvSpPr>
        <p:spPr>
          <a:xfrm>
            <a:off x="9268536" y="2986797"/>
            <a:ext cx="2608701" cy="234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</a:t>
            </a: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Bad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3">
            <a:extLst>
              <a:ext uri="{FF2B5EF4-FFF2-40B4-BE49-F238E27FC236}">
                <a16:creationId xmlns:a16="http://schemas.microsoft.com/office/drawing/2014/main" id="{A1340EEC-0E52-DC3B-689C-DDEFED6F9D3E}"/>
              </a:ext>
            </a:extLst>
          </p:cNvPr>
          <p:cNvSpPr txBox="1"/>
          <p:nvPr/>
        </p:nvSpPr>
        <p:spPr>
          <a:xfrm>
            <a:off x="112475" y="2986434"/>
            <a:ext cx="2941313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Optimization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Guarantees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18B98A15-043F-F1A9-C7EE-FCC554BF9C17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9A0D7BD1-3D13-78C0-2C49-1B58C0C24E80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2FE8C10E-4572-8FAC-F3FA-3C9DD8327408}"/>
              </a:ext>
            </a:extLst>
          </p:cNvPr>
          <p:cNvSpPr txBox="1"/>
          <p:nvPr/>
        </p:nvSpPr>
        <p:spPr>
          <a:xfrm>
            <a:off x="9188054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CauCA</a:t>
            </a:r>
            <a:endParaRPr lang="en-US" sz="12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C5D34966-C5AC-34E0-8461-517C383FFFCC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2936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8F6C0-2AEE-F998-F0DA-50E5BB6A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370EB826-5403-636A-38E7-DAF8D9D46CA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Why should we learn causal representations?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5287839E-2E15-AB11-B4A9-F8D37739026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12DC6C91-86CA-FCE9-4DF9-8CD06CB36035}"/>
              </a:ext>
            </a:extLst>
          </p:cNvPr>
          <p:cNvSpPr txBox="1"/>
          <p:nvPr/>
        </p:nvSpPr>
        <p:spPr>
          <a:xfrm>
            <a:off x="242490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Deep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126BBCAB-1837-EA1E-0340-53FF1E050106}"/>
              </a:ext>
            </a:extLst>
          </p:cNvPr>
          <p:cNvCxnSpPr>
            <a:cxnSpLocks/>
          </p:cNvCxnSpPr>
          <p:nvPr/>
        </p:nvCxnSpPr>
        <p:spPr>
          <a:xfrm>
            <a:off x="2166144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5">
            <a:extLst>
              <a:ext uri="{FF2B5EF4-FFF2-40B4-BE49-F238E27FC236}">
                <a16:creationId xmlns:a16="http://schemas.microsoft.com/office/drawing/2014/main" id="{2973E5BC-49D8-9BFB-2F78-990310A25059}"/>
              </a:ext>
            </a:extLst>
          </p:cNvPr>
          <p:cNvSpPr txBox="1"/>
          <p:nvPr/>
        </p:nvSpPr>
        <p:spPr>
          <a:xfrm>
            <a:off x="5545185" y="2022145"/>
            <a:ext cx="28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Representation Learning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4" name="Egyenes összekötő 8">
            <a:extLst>
              <a:ext uri="{FF2B5EF4-FFF2-40B4-BE49-F238E27FC236}">
                <a16:creationId xmlns:a16="http://schemas.microsoft.com/office/drawing/2014/main" id="{2733AF22-BF1E-663B-CCAF-1EC8DEDA495E}"/>
              </a:ext>
            </a:extLst>
          </p:cNvPr>
          <p:cNvCxnSpPr>
            <a:cxnSpLocks/>
          </p:cNvCxnSpPr>
          <p:nvPr/>
        </p:nvCxnSpPr>
        <p:spPr>
          <a:xfrm>
            <a:off x="5545185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5">
            <a:extLst>
              <a:ext uri="{FF2B5EF4-FFF2-40B4-BE49-F238E27FC236}">
                <a16:creationId xmlns:a16="http://schemas.microsoft.com/office/drawing/2014/main" id="{CB5CCD96-B3E4-5333-1000-C2317048AF30}"/>
              </a:ext>
            </a:extLst>
          </p:cNvPr>
          <p:cNvSpPr txBox="1"/>
          <p:nvPr/>
        </p:nvSpPr>
        <p:spPr>
          <a:xfrm>
            <a:off x="9168318" y="2028481"/>
            <a:ext cx="25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CRL</a:t>
            </a:r>
            <a:endParaRPr lang="hu-HU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6" name="Egyenes összekötő 8">
            <a:extLst>
              <a:ext uri="{FF2B5EF4-FFF2-40B4-BE49-F238E27FC236}">
                <a16:creationId xmlns:a16="http://schemas.microsoft.com/office/drawing/2014/main" id="{5D55520E-EE4E-9F8C-6F33-08F8B7464085}"/>
              </a:ext>
            </a:extLst>
          </p:cNvPr>
          <p:cNvCxnSpPr>
            <a:cxnSpLocks/>
          </p:cNvCxnSpPr>
          <p:nvPr/>
        </p:nvCxnSpPr>
        <p:spPr>
          <a:xfrm>
            <a:off x="8897442" y="2415479"/>
            <a:ext cx="2941313" cy="0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3">
            <a:extLst>
              <a:ext uri="{FF2B5EF4-FFF2-40B4-BE49-F238E27FC236}">
                <a16:creationId xmlns:a16="http://schemas.microsoft.com/office/drawing/2014/main" id="{A3D88D68-1286-E5F9-9913-85B1DEEAB09D}"/>
              </a:ext>
            </a:extLst>
          </p:cNvPr>
          <p:cNvSpPr txBox="1"/>
          <p:nvPr/>
        </p:nvSpPr>
        <p:spPr>
          <a:xfrm>
            <a:off x="2893952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Implicit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Good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</a:t>
            </a:r>
          </a:p>
        </p:txBody>
      </p:sp>
      <p:sp>
        <p:nvSpPr>
          <p:cNvPr id="22" name="Szövegdoboz 3">
            <a:extLst>
              <a:ext uri="{FF2B5EF4-FFF2-40B4-BE49-F238E27FC236}">
                <a16:creationId xmlns:a16="http://schemas.microsoft.com/office/drawing/2014/main" id="{0AB12FA2-E942-448C-028D-A937C72816D1}"/>
              </a:ext>
            </a:extLst>
          </p:cNvPr>
          <p:cNvSpPr txBox="1"/>
          <p:nvPr/>
        </p:nvSpPr>
        <p:spPr>
          <a:xfrm>
            <a:off x="6001326" y="2986434"/>
            <a:ext cx="2608701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but 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OK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Sometimes</a:t>
            </a:r>
          </a:p>
        </p:txBody>
      </p:sp>
      <p:sp>
        <p:nvSpPr>
          <p:cNvPr id="23" name="Szövegdoboz 3">
            <a:extLst>
              <a:ext uri="{FF2B5EF4-FFF2-40B4-BE49-F238E27FC236}">
                <a16:creationId xmlns:a16="http://schemas.microsoft.com/office/drawing/2014/main" id="{52459B32-386C-711F-1EDC-8E08CE08672D}"/>
              </a:ext>
            </a:extLst>
          </p:cNvPr>
          <p:cNvSpPr txBox="1"/>
          <p:nvPr/>
        </p:nvSpPr>
        <p:spPr>
          <a:xfrm>
            <a:off x="9268536" y="2986797"/>
            <a:ext cx="2608701" cy="234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Explicit </a:t>
            </a: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non-trivial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Bad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B05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3">
            <a:extLst>
              <a:ext uri="{FF2B5EF4-FFF2-40B4-BE49-F238E27FC236}">
                <a16:creationId xmlns:a16="http://schemas.microsoft.com/office/drawing/2014/main" id="{EB503225-3FC8-83F0-5836-7DD91F6B59E9}"/>
              </a:ext>
            </a:extLst>
          </p:cNvPr>
          <p:cNvSpPr txBox="1"/>
          <p:nvPr/>
        </p:nvSpPr>
        <p:spPr>
          <a:xfrm>
            <a:off x="112475" y="2986434"/>
            <a:ext cx="2941313" cy="187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Optimization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Interpretability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Guarantees</a:t>
            </a:r>
          </a:p>
        </p:txBody>
      </p:sp>
      <p:sp>
        <p:nvSpPr>
          <p:cNvPr id="26" name="Szövegdoboz 3">
            <a:extLst>
              <a:ext uri="{FF2B5EF4-FFF2-40B4-BE49-F238E27FC236}">
                <a16:creationId xmlns:a16="http://schemas.microsoft.com/office/drawing/2014/main" id="{BE903EB1-8DE8-D369-D964-52C9050E22F2}"/>
              </a:ext>
            </a:extLst>
          </p:cNvPr>
          <p:cNvSpPr txBox="1"/>
          <p:nvPr/>
        </p:nvSpPr>
        <p:spPr>
          <a:xfrm>
            <a:off x="2354998" y="2433146"/>
            <a:ext cx="2674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ResNet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LLMs, Diffusion models</a:t>
            </a:r>
          </a:p>
        </p:txBody>
      </p:sp>
      <p:sp>
        <p:nvSpPr>
          <p:cNvPr id="27" name="Szövegdoboz 3">
            <a:extLst>
              <a:ext uri="{FF2B5EF4-FFF2-40B4-BE49-F238E27FC236}">
                <a16:creationId xmlns:a16="http://schemas.microsoft.com/office/drawing/2014/main" id="{A06B752F-3FD6-9169-0D63-77206F677F9A}"/>
              </a:ext>
            </a:extLst>
          </p:cNvPr>
          <p:cNvSpPr txBox="1"/>
          <p:nvPr/>
        </p:nvSpPr>
        <p:spPr>
          <a:xfrm>
            <a:off x="5730290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VAEs,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SimCLR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CLIP, ICA</a:t>
            </a:r>
          </a:p>
        </p:txBody>
      </p:sp>
      <p:sp>
        <p:nvSpPr>
          <p:cNvPr id="29" name="Szövegdoboz 3">
            <a:extLst>
              <a:ext uri="{FF2B5EF4-FFF2-40B4-BE49-F238E27FC236}">
                <a16:creationId xmlns:a16="http://schemas.microsoft.com/office/drawing/2014/main" id="{1F9927DF-ACD0-7B59-31CB-10AF7B28026B}"/>
              </a:ext>
            </a:extLst>
          </p:cNvPr>
          <p:cNvSpPr txBox="1"/>
          <p:nvPr/>
        </p:nvSpPr>
        <p:spPr>
          <a:xfrm>
            <a:off x="9188054" y="2463924"/>
            <a:ext cx="2402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CauCA</a:t>
            </a:r>
            <a:endParaRPr lang="en-US" sz="12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D82CB9-952B-1272-1B04-4FBC8EAFA8C4}"/>
              </a:ext>
            </a:extLst>
          </p:cNvPr>
          <p:cNvSpPr/>
          <p:nvPr/>
        </p:nvSpPr>
        <p:spPr>
          <a:xfrm>
            <a:off x="2084371" y="5277944"/>
            <a:ext cx="7741353" cy="950597"/>
          </a:xfrm>
          <a:prstGeom prst="rect">
            <a:avLst/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Implicit structures are easier to optimize (as of now), but are not inherently interpretable or controllable</a:t>
            </a:r>
          </a:p>
        </p:txBody>
      </p:sp>
      <p:sp>
        <p:nvSpPr>
          <p:cNvPr id="31" name="Szövegdoboz 23">
            <a:extLst>
              <a:ext uri="{FF2B5EF4-FFF2-40B4-BE49-F238E27FC236}">
                <a16:creationId xmlns:a16="http://schemas.microsoft.com/office/drawing/2014/main" id="{529DAA85-CE4D-2613-A74C-4D7DD9FFECFA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3227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56FD9-E497-768D-591A-76BD7B84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0A30FFCE-071D-F889-7557-FAEF3552DF3A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LiNGAM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 Independent Component Analysis meets causality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76E86F3-1A15-825F-F622-508DDB3E9B36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3C60FEB-0BAB-C715-B0E8-1C9650423BB1}"/>
              </a:ext>
            </a:extLst>
          </p:cNvPr>
          <p:cNvSpPr txBox="1"/>
          <p:nvPr/>
        </p:nvSpPr>
        <p:spPr>
          <a:xfrm>
            <a:off x="112475" y="6459444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Shimizu et al.: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DirectLiNGAM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A Direct Method for Learning a Linear Non-Gaussian Structural Equation Model. JMLR, 2011.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A857B035-7BFA-1479-4E07-934963AA020F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41D6DDC9-36D5-423C-F2DF-B379331A8AEB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6D22111F-DC2E-D84B-A833-F04F9320510B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 (inverse DGP)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6194CC5D-1E2D-0C24-BAF0-90B9795422B8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4ECFDC-472F-8320-1B55-99C9029242FA}"/>
                  </a:ext>
                </a:extLst>
              </p:cNvPr>
              <p:cNvSpPr txBox="1"/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𝑁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𝑋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causal variables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4ECFDC-472F-8320-1B55-99C902924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1229065-A4DA-143F-9732-357618328DAA}"/>
                  </a:ext>
                </a:extLst>
              </p14:cNvPr>
              <p14:cNvContentPartPr/>
              <p14:nvPr/>
            </p14:nvContentPartPr>
            <p14:xfrm>
              <a:off x="2962445" y="4810420"/>
              <a:ext cx="381960" cy="131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1229065-A4DA-143F-9732-357618328D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26479" y="4774321"/>
                <a:ext cx="453533" cy="20287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723EC107-73A8-AEF5-C1F8-B2DA4750113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8294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3EB14-B909-48D1-617B-D0AE509F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45FE120D-1CE9-32ED-6BAA-2EADF81D526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LiNGAM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 Independent Component Analysis meets causality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9F3996B-08D8-F320-39CB-6A82219EE9C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CA0F1D7-4B54-7FFE-F734-FA3E4F7FB7B0}"/>
              </a:ext>
            </a:extLst>
          </p:cNvPr>
          <p:cNvSpPr txBox="1"/>
          <p:nvPr/>
        </p:nvSpPr>
        <p:spPr>
          <a:xfrm>
            <a:off x="112475" y="6459444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Shimizu et al.: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DirectLiNGAM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A Direct Method for Learning a Linear Non-Gaussian Structural Equation Model. JMLR, 2011.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2F919781-A627-5BF4-6907-5657F6FBFE4C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59EC84EC-27A8-9874-646E-0D36039A9200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4461372B-CC07-BBAA-4F09-BD090C6C825A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 (inverse DGP)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A549C6E7-B963-48D5-F193-0A6CD2326159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network&#10;&#10;Description automatically generated">
            <a:extLst>
              <a:ext uri="{FF2B5EF4-FFF2-40B4-BE49-F238E27FC236}">
                <a16:creationId xmlns:a16="http://schemas.microsoft.com/office/drawing/2014/main" id="{1BD69226-A74B-6990-F6B4-3FED22AD64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3942" t="13385" r="56893" b="53672"/>
          <a:stretch/>
        </p:blipFill>
        <p:spPr>
          <a:xfrm>
            <a:off x="1527828" y="4442522"/>
            <a:ext cx="1891846" cy="15661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1A983-9346-6CC8-A3BC-9A6B27DBBE33}"/>
                  </a:ext>
                </a:extLst>
              </p:cNvPr>
              <p:cNvSpPr txBox="1"/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𝑁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𝑋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causal variables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1A983-9346-6CC8-A3BC-9A6B27DBB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FB6711AA-964A-AA26-D466-2A1617EF74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002"/>
          <a:stretch/>
        </p:blipFill>
        <p:spPr>
          <a:xfrm>
            <a:off x="1157438" y="2810655"/>
            <a:ext cx="3315771" cy="13160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B262394-4472-5658-B9A4-55192183668F}"/>
                  </a:ext>
                </a:extLst>
              </p14:cNvPr>
              <p14:cNvContentPartPr/>
              <p14:nvPr/>
            </p14:nvContentPartPr>
            <p14:xfrm>
              <a:off x="2962445" y="4810420"/>
              <a:ext cx="381960" cy="131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B262394-4472-5658-B9A4-5519218366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26479" y="4774321"/>
                <a:ext cx="453533" cy="202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79AC212-DB40-6F28-96F5-50460EA072B3}"/>
                  </a:ext>
                </a:extLst>
              </p14:cNvPr>
              <p14:cNvContentPartPr/>
              <p14:nvPr/>
            </p14:nvContentPartPr>
            <p14:xfrm>
              <a:off x="3076077" y="5585642"/>
              <a:ext cx="183240" cy="451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79AC212-DB40-6F28-96F5-50460EA072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0077" y="5549671"/>
                <a:ext cx="254880" cy="523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18F9F9-43B7-3932-426E-9430D3BC1616}"/>
                  </a:ext>
                </a:extLst>
              </p:cNvPr>
              <p:cNvSpPr txBox="1"/>
              <p:nvPr/>
            </p:nvSpPr>
            <p:spPr>
              <a:xfrm>
                <a:off x="2982686" y="4737440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18F9F9-43B7-3932-426E-9430D3BC1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86" y="4737440"/>
                <a:ext cx="182999" cy="276999"/>
              </a:xfrm>
              <a:prstGeom prst="rect">
                <a:avLst/>
              </a:prstGeom>
              <a:blipFill>
                <a:blip r:embed="rId10"/>
                <a:stretch>
                  <a:fillRect l="-25000" r="-25000" b="-41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FC5589-78AB-B7A0-DF33-45FA91CE485C}"/>
                  </a:ext>
                </a:extLst>
              </p:cNvPr>
              <p:cNvSpPr txBox="1"/>
              <p:nvPr/>
            </p:nvSpPr>
            <p:spPr>
              <a:xfrm>
                <a:off x="3002967" y="5507617"/>
                <a:ext cx="1867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D1011B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DE" dirty="0">
                  <a:solidFill>
                    <a:srgbClr val="D1011B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FC5589-78AB-B7A0-DF33-45FA91CE4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967" y="5507617"/>
                <a:ext cx="186782" cy="276999"/>
              </a:xfrm>
              <a:prstGeom prst="rect">
                <a:avLst/>
              </a:prstGeom>
              <a:blipFill>
                <a:blip r:embed="rId11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zövegdoboz 23">
            <a:extLst>
              <a:ext uri="{FF2B5EF4-FFF2-40B4-BE49-F238E27FC236}">
                <a16:creationId xmlns:a16="http://schemas.microsoft.com/office/drawing/2014/main" id="{FF05619C-C595-5AE7-1048-451F508E3AB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9340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E3AF7-AF78-1AFE-394E-00DB16F9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2CBBF62-ACBA-3721-47AB-89EC45FD3B0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LiNGAM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 Independent Component Analysis meets causality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4D7397A0-511F-AE2F-9E54-D3B22B68605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1861A8-AB38-BAEF-D710-F81C103D905C}"/>
              </a:ext>
            </a:extLst>
          </p:cNvPr>
          <p:cNvSpPr txBox="1"/>
          <p:nvPr/>
        </p:nvSpPr>
        <p:spPr>
          <a:xfrm>
            <a:off x="112475" y="6459444"/>
            <a:ext cx="10384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Shimizu et al.: </a:t>
            </a:r>
            <a:r>
              <a:rPr lang="en-US" sz="12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DirectLiNGAM</a:t>
            </a:r>
            <a:r>
              <a:rPr lang="en-US" sz="12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: A Direct Method for Learning a Linear Non-Gaussian Structural Equation Model. JMLR, 2011.</a:t>
            </a:r>
          </a:p>
        </p:txBody>
      </p:sp>
      <p:sp>
        <p:nvSpPr>
          <p:cNvPr id="18" name="Szövegdoboz 5">
            <a:extLst>
              <a:ext uri="{FF2B5EF4-FFF2-40B4-BE49-F238E27FC236}">
                <a16:creationId xmlns:a16="http://schemas.microsoft.com/office/drawing/2014/main" id="{3F1FE08A-A853-BC23-7B6E-B014107368E1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40CFCD44-FD33-AA68-C122-C8B496CC142C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21ADC8EC-0F45-C6E6-D708-2BA3D74299A0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ICA (inverse DGP)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2D63BCB2-116A-9FBD-C957-E17B4F4516AB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diagram of a network&#10;&#10;Description automatically generated">
            <a:extLst>
              <a:ext uri="{FF2B5EF4-FFF2-40B4-BE49-F238E27FC236}">
                <a16:creationId xmlns:a16="http://schemas.microsoft.com/office/drawing/2014/main" id="{EBECFE59-EBF4-2C13-5610-E7A16A005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3942" t="13385" r="56893" b="53672"/>
          <a:stretch/>
        </p:blipFill>
        <p:spPr>
          <a:xfrm>
            <a:off x="1527828" y="4442522"/>
            <a:ext cx="1891846" cy="15661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F15806-99A1-B774-DC1F-4FC79C382DAC}"/>
                  </a:ext>
                </a:extLst>
              </p:cNvPr>
              <p:cNvSpPr txBox="1"/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𝑁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𝑋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observed causal variables</a:t>
                </a:r>
              </a:p>
              <a:p>
                <a:endParaRPr lang="en-US" sz="120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0F15806-99A1-B774-DC1F-4FC79C382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5959457"/>
                <a:ext cx="2535105" cy="646331"/>
              </a:xfrm>
              <a:prstGeom prst="rect">
                <a:avLst/>
              </a:prstGeom>
              <a:blipFill>
                <a:blip r:embed="rId4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4D1ACF6B-EE3B-5902-48D8-DD37DB3294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509" b="-4833"/>
          <a:stretch/>
        </p:blipFill>
        <p:spPr>
          <a:xfrm>
            <a:off x="7149406" y="2904834"/>
            <a:ext cx="3718430" cy="1379685"/>
          </a:xfrm>
          <a:prstGeom prst="rect">
            <a:avLst/>
          </a:prstGeom>
        </p:spPr>
      </p:pic>
      <p:pic>
        <p:nvPicPr>
          <p:cNvPr id="35" name="Picture 34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8B303AAE-266B-BC74-238C-24D73B1F89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002"/>
          <a:stretch/>
        </p:blipFill>
        <p:spPr>
          <a:xfrm>
            <a:off x="1157438" y="2810655"/>
            <a:ext cx="3315771" cy="13160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EB90188-C862-1186-01AF-11726C5761FE}"/>
                  </a:ext>
                </a:extLst>
              </p14:cNvPr>
              <p14:cNvContentPartPr/>
              <p14:nvPr/>
            </p14:nvContentPartPr>
            <p14:xfrm>
              <a:off x="2962445" y="4810420"/>
              <a:ext cx="381960" cy="131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EB90188-C862-1186-01AF-11726C5761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26479" y="4774321"/>
                <a:ext cx="453533" cy="202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5B233D3-A18D-21E5-C5AD-681BE85BDAAB}"/>
                  </a:ext>
                </a:extLst>
              </p14:cNvPr>
              <p14:cNvContentPartPr/>
              <p14:nvPr/>
            </p14:nvContentPartPr>
            <p14:xfrm>
              <a:off x="3076077" y="5585642"/>
              <a:ext cx="183240" cy="451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5B233D3-A18D-21E5-C5AD-681BE85BDA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0077" y="5549671"/>
                <a:ext cx="254880" cy="523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C80A0-1786-8226-859D-8CEF616367F8}"/>
                  </a:ext>
                </a:extLst>
              </p:cNvPr>
              <p:cNvSpPr txBox="1"/>
              <p:nvPr/>
            </p:nvSpPr>
            <p:spPr>
              <a:xfrm>
                <a:off x="2982686" y="4737440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A8FE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dirty="0">
                  <a:solidFill>
                    <a:srgbClr val="4A8FE3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C80A0-1786-8226-859D-8CEF61636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686" y="4737440"/>
                <a:ext cx="182999" cy="276999"/>
              </a:xfrm>
              <a:prstGeom prst="rect">
                <a:avLst/>
              </a:prstGeom>
              <a:blipFill>
                <a:blip r:embed="rId10"/>
                <a:stretch>
                  <a:fillRect l="-25000" r="-25000" b="-41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081FA5-07B1-3384-1850-D07F8653AF7D}"/>
                  </a:ext>
                </a:extLst>
              </p:cNvPr>
              <p:cNvSpPr txBox="1"/>
              <p:nvPr/>
            </p:nvSpPr>
            <p:spPr>
              <a:xfrm>
                <a:off x="3002967" y="5507617"/>
                <a:ext cx="1867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D1011B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DE" dirty="0">
                  <a:solidFill>
                    <a:srgbClr val="D1011B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081FA5-07B1-3384-1850-D07F8653A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967" y="5507617"/>
                <a:ext cx="186782" cy="276999"/>
              </a:xfrm>
              <a:prstGeom prst="rect">
                <a:avLst/>
              </a:prstGeom>
              <a:blipFill>
                <a:blip r:embed="rId11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zövegdoboz 23">
            <a:extLst>
              <a:ext uri="{FF2B5EF4-FFF2-40B4-BE49-F238E27FC236}">
                <a16:creationId xmlns:a16="http://schemas.microsoft.com/office/drawing/2014/main" id="{6B76F438-1AB9-0EBE-3D82-53A355551E99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097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00DA3-06AD-6729-6DA4-96F43490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993F276-F8CE-0BB0-C0A8-F50A042D1CE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Misc.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B40DE43E-93A1-D6D3-3981-A94574A6789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3074E386-0993-816E-0296-CEAF70848566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88681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1D6D2-6052-144A-4A0B-0A62DD21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A6F35D71-7840-98C7-FCD7-F104FD17118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Misc.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AF57D84-3249-F897-7D20-472122AAB7F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1DBBEF8-9740-7272-1B17-BDB41FB7E054}"/>
              </a:ext>
            </a:extLst>
          </p:cNvPr>
          <p:cNvSpPr/>
          <p:nvPr/>
        </p:nvSpPr>
        <p:spPr>
          <a:xfrm>
            <a:off x="814679" y="1193589"/>
            <a:ext cx="277148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Abstraction/grouping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517781C6-EB23-21D6-294E-DA443832A2D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6" name="Szövegdoboz 3">
            <a:extLst>
              <a:ext uri="{FF2B5EF4-FFF2-40B4-BE49-F238E27FC236}">
                <a16:creationId xmlns:a16="http://schemas.microsoft.com/office/drawing/2014/main" id="{6C18F595-963F-4FF4-3AB5-531D7C31AB57}"/>
              </a:ext>
            </a:extLst>
          </p:cNvPr>
          <p:cNvSpPr txBox="1"/>
          <p:nvPr/>
        </p:nvSpPr>
        <p:spPr>
          <a:xfrm>
            <a:off x="866195" y="1782478"/>
            <a:ext cx="2958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IEM, ILNCM, Morioka and Hyvärinen</a:t>
            </a:r>
          </a:p>
        </p:txBody>
      </p:sp>
    </p:spTree>
    <p:extLst>
      <p:ext uri="{BB962C8B-B14F-4D97-AF65-F5344CB8AC3E}">
        <p14:creationId xmlns:p14="http://schemas.microsoft.com/office/powerpoint/2010/main" val="3338105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B4741C-2E1F-AAEE-AE43-872EAA69E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2926B5A-9432-3996-668F-39162C8AD1CA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Misc.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36B5BC8-F094-3C9C-8C9F-1455FB91C8A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9BA0906-8B27-D6B1-6A2D-F2B7E02D1150}"/>
              </a:ext>
            </a:extLst>
          </p:cNvPr>
          <p:cNvSpPr/>
          <p:nvPr/>
        </p:nvSpPr>
        <p:spPr>
          <a:xfrm>
            <a:off x="814679" y="1193589"/>
            <a:ext cx="277148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Abstraction/grouping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12B51A-62AB-532F-DAC4-4A27C3D2DBAA}"/>
              </a:ext>
            </a:extLst>
          </p:cNvPr>
          <p:cNvSpPr/>
          <p:nvPr/>
        </p:nvSpPr>
        <p:spPr>
          <a:xfrm>
            <a:off x="814679" y="2426302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Confounders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92001A92-8B88-5E2A-D38F-C2258E78AF2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Szövegdoboz 3">
            <a:extLst>
              <a:ext uri="{FF2B5EF4-FFF2-40B4-BE49-F238E27FC236}">
                <a16:creationId xmlns:a16="http://schemas.microsoft.com/office/drawing/2014/main" id="{54D6DB0E-7B66-AB03-2003-A3F226C2011C}"/>
              </a:ext>
            </a:extLst>
          </p:cNvPr>
          <p:cNvSpPr txBox="1"/>
          <p:nvPr/>
        </p:nvSpPr>
        <p:spPr>
          <a:xfrm>
            <a:off x="814679" y="2967334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Liu et al., 2024</a:t>
            </a:r>
          </a:p>
        </p:txBody>
      </p:sp>
      <p:sp>
        <p:nvSpPr>
          <p:cNvPr id="6" name="Szövegdoboz 3">
            <a:extLst>
              <a:ext uri="{FF2B5EF4-FFF2-40B4-BE49-F238E27FC236}">
                <a16:creationId xmlns:a16="http://schemas.microsoft.com/office/drawing/2014/main" id="{23EF38AE-4D3F-FD6C-3977-97D2FC728055}"/>
              </a:ext>
            </a:extLst>
          </p:cNvPr>
          <p:cNvSpPr txBox="1"/>
          <p:nvPr/>
        </p:nvSpPr>
        <p:spPr>
          <a:xfrm>
            <a:off x="866195" y="1782478"/>
            <a:ext cx="2958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IEM, ILNCM, Morioka and Hyvärinen</a:t>
            </a:r>
          </a:p>
        </p:txBody>
      </p:sp>
    </p:spTree>
    <p:extLst>
      <p:ext uri="{BB962C8B-B14F-4D97-AF65-F5344CB8AC3E}">
        <p14:creationId xmlns:p14="http://schemas.microsoft.com/office/powerpoint/2010/main" val="3833812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D6C09-E787-456A-2FE9-1B89801B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00DFD2DC-AA2F-38B8-01B8-1F9D7C0C3605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Misc.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44BEB555-01AF-3042-0126-AFB7AE62D8EC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0B81047-011E-C53D-897B-45901C8345BB}"/>
              </a:ext>
            </a:extLst>
          </p:cNvPr>
          <p:cNvSpPr/>
          <p:nvPr/>
        </p:nvSpPr>
        <p:spPr>
          <a:xfrm>
            <a:off x="814679" y="1193589"/>
            <a:ext cx="277148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Abstraction/grouping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734930-EF56-6B51-5DA3-A556F2F859EE}"/>
              </a:ext>
            </a:extLst>
          </p:cNvPr>
          <p:cNvSpPr/>
          <p:nvPr/>
        </p:nvSpPr>
        <p:spPr>
          <a:xfrm>
            <a:off x="814679" y="2426302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Confounders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2A815-3273-3864-7F0F-126B342012F5}"/>
              </a:ext>
            </a:extLst>
          </p:cNvPr>
          <p:cNvSpPr/>
          <p:nvPr/>
        </p:nvSpPr>
        <p:spPr>
          <a:xfrm>
            <a:off x="6421582" y="1165538"/>
            <a:ext cx="294885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Multi-task (supervised)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65520873-1665-241F-C439-7D2906DBF493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Szövegdoboz 3">
            <a:extLst>
              <a:ext uri="{FF2B5EF4-FFF2-40B4-BE49-F238E27FC236}">
                <a16:creationId xmlns:a16="http://schemas.microsoft.com/office/drawing/2014/main" id="{C0A3850D-0B63-B125-9EA9-28DB757CBBFA}"/>
              </a:ext>
            </a:extLst>
          </p:cNvPr>
          <p:cNvSpPr txBox="1"/>
          <p:nvPr/>
        </p:nvSpPr>
        <p:spPr>
          <a:xfrm>
            <a:off x="814679" y="2967334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Liu et al., 2024</a:t>
            </a:r>
          </a:p>
        </p:txBody>
      </p:sp>
      <p:sp>
        <p:nvSpPr>
          <p:cNvPr id="6" name="Szövegdoboz 3">
            <a:extLst>
              <a:ext uri="{FF2B5EF4-FFF2-40B4-BE49-F238E27FC236}">
                <a16:creationId xmlns:a16="http://schemas.microsoft.com/office/drawing/2014/main" id="{2294864A-BAAC-43E2-89ED-99AC3D941442}"/>
              </a:ext>
            </a:extLst>
          </p:cNvPr>
          <p:cNvSpPr txBox="1"/>
          <p:nvPr/>
        </p:nvSpPr>
        <p:spPr>
          <a:xfrm>
            <a:off x="866195" y="1782478"/>
            <a:ext cx="2958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IEM, ILNCM, Morioka and Hyvärinen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8B548ECB-5AB4-A0A3-2753-E049C0EB9007}"/>
              </a:ext>
            </a:extLst>
          </p:cNvPr>
          <p:cNvSpPr txBox="1"/>
          <p:nvPr/>
        </p:nvSpPr>
        <p:spPr>
          <a:xfrm>
            <a:off x="6429868" y="1769599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Fumero et al., 2024</a:t>
            </a:r>
          </a:p>
        </p:txBody>
      </p:sp>
    </p:spTree>
    <p:extLst>
      <p:ext uri="{BB962C8B-B14F-4D97-AF65-F5344CB8AC3E}">
        <p14:creationId xmlns:p14="http://schemas.microsoft.com/office/powerpoint/2010/main" val="329288082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6E90E-E663-ACD8-2440-1BC8C965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4C4A7109-9CC2-08F2-97F1-B59EB7556AC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Misc.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55622168-B0B4-34D6-AE77-D759F1066C1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039A703-237E-2075-90D7-E7EE351458FE}"/>
              </a:ext>
            </a:extLst>
          </p:cNvPr>
          <p:cNvSpPr/>
          <p:nvPr/>
        </p:nvSpPr>
        <p:spPr>
          <a:xfrm>
            <a:off x="814679" y="1193589"/>
            <a:ext cx="277148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Abstraction/grouping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66FC98-9A97-B1A7-4A24-7D45248CD9A1}"/>
              </a:ext>
            </a:extLst>
          </p:cNvPr>
          <p:cNvSpPr/>
          <p:nvPr/>
        </p:nvSpPr>
        <p:spPr>
          <a:xfrm>
            <a:off x="814679" y="2426302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Confounders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D33FA-95E5-F8FA-7B17-135A9C114171}"/>
              </a:ext>
            </a:extLst>
          </p:cNvPr>
          <p:cNvSpPr/>
          <p:nvPr/>
        </p:nvSpPr>
        <p:spPr>
          <a:xfrm>
            <a:off x="6421582" y="1165538"/>
            <a:ext cx="294885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Multi-task (supervised)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1881C0-032C-8A21-8B21-8D4C6B1D11DA}"/>
              </a:ext>
            </a:extLst>
          </p:cNvPr>
          <p:cNvSpPr/>
          <p:nvPr/>
        </p:nvSpPr>
        <p:spPr>
          <a:xfrm>
            <a:off x="6370352" y="2426302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Temporal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03601C4B-141A-DFB4-98AF-0068BAB1B65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Szövegdoboz 3">
            <a:extLst>
              <a:ext uri="{FF2B5EF4-FFF2-40B4-BE49-F238E27FC236}">
                <a16:creationId xmlns:a16="http://schemas.microsoft.com/office/drawing/2014/main" id="{4A55919D-CF8F-0C8E-7820-D4CE63A0225E}"/>
              </a:ext>
            </a:extLst>
          </p:cNvPr>
          <p:cNvSpPr txBox="1"/>
          <p:nvPr/>
        </p:nvSpPr>
        <p:spPr>
          <a:xfrm>
            <a:off x="814679" y="2967334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Liu et al., 2024</a:t>
            </a:r>
          </a:p>
        </p:txBody>
      </p:sp>
      <p:sp>
        <p:nvSpPr>
          <p:cNvPr id="6" name="Szövegdoboz 3">
            <a:extLst>
              <a:ext uri="{FF2B5EF4-FFF2-40B4-BE49-F238E27FC236}">
                <a16:creationId xmlns:a16="http://schemas.microsoft.com/office/drawing/2014/main" id="{0F070DBE-CB8A-0704-24F9-2F1DFF206813}"/>
              </a:ext>
            </a:extLst>
          </p:cNvPr>
          <p:cNvSpPr txBox="1"/>
          <p:nvPr/>
        </p:nvSpPr>
        <p:spPr>
          <a:xfrm>
            <a:off x="866195" y="1782478"/>
            <a:ext cx="2958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IEM, ILNCM, Morioka and Hyvärinen</a:t>
            </a:r>
          </a:p>
        </p:txBody>
      </p:sp>
      <p:sp>
        <p:nvSpPr>
          <p:cNvPr id="7" name="Szövegdoboz 3">
            <a:extLst>
              <a:ext uri="{FF2B5EF4-FFF2-40B4-BE49-F238E27FC236}">
                <a16:creationId xmlns:a16="http://schemas.microsoft.com/office/drawing/2014/main" id="{AFF78F8E-4256-FB7C-5C17-ECB1DC289C72}"/>
              </a:ext>
            </a:extLst>
          </p:cNvPr>
          <p:cNvSpPr txBox="1"/>
          <p:nvPr/>
        </p:nvSpPr>
        <p:spPr>
          <a:xfrm>
            <a:off x="6378353" y="3109002"/>
            <a:ext cx="2052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Markov models, CITRIS, </a:t>
            </a:r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iCITRIS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BISCUIT, LTI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B50D8F42-86AC-84C5-F6A1-45BF2042696C}"/>
              </a:ext>
            </a:extLst>
          </p:cNvPr>
          <p:cNvSpPr txBox="1"/>
          <p:nvPr/>
        </p:nvSpPr>
        <p:spPr>
          <a:xfrm>
            <a:off x="6429868" y="1769599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Fumero et al., 2024</a:t>
            </a:r>
          </a:p>
        </p:txBody>
      </p:sp>
    </p:spTree>
    <p:extLst>
      <p:ext uri="{BB962C8B-B14F-4D97-AF65-F5344CB8AC3E}">
        <p14:creationId xmlns:p14="http://schemas.microsoft.com/office/powerpoint/2010/main" val="394946009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69B79-28AD-0BA5-7878-AB1FA26A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056279E-4CC4-86E5-F46E-43524238B73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Misc.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24A419F-5A62-1AB1-6191-0FE8C13669B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592A43-2329-76F4-46FE-C30030D016EC}"/>
              </a:ext>
            </a:extLst>
          </p:cNvPr>
          <p:cNvSpPr/>
          <p:nvPr/>
        </p:nvSpPr>
        <p:spPr>
          <a:xfrm>
            <a:off x="814679" y="1193589"/>
            <a:ext cx="277148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Abstraction/grouping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D56AD5-48FC-AD66-80FC-B948F0F6D7E4}"/>
              </a:ext>
            </a:extLst>
          </p:cNvPr>
          <p:cNvSpPr/>
          <p:nvPr/>
        </p:nvSpPr>
        <p:spPr>
          <a:xfrm>
            <a:off x="814679" y="2426302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Confounders</a:t>
            </a:r>
          </a:p>
        </p:txBody>
      </p:sp>
      <p:sp>
        <p:nvSpPr>
          <p:cNvPr id="2" name="Szövegdoboz 5">
            <a:extLst>
              <a:ext uri="{FF2B5EF4-FFF2-40B4-BE49-F238E27FC236}">
                <a16:creationId xmlns:a16="http://schemas.microsoft.com/office/drawing/2014/main" id="{B9FC0B3A-88C6-BD25-DCF5-87CDB7E5BC80}"/>
              </a:ext>
            </a:extLst>
          </p:cNvPr>
          <p:cNvSpPr txBox="1"/>
          <p:nvPr/>
        </p:nvSpPr>
        <p:spPr>
          <a:xfrm>
            <a:off x="367862" y="3933425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Additional technical details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0" name="Egyenes összekötő 8">
            <a:extLst>
              <a:ext uri="{FF2B5EF4-FFF2-40B4-BE49-F238E27FC236}">
                <a16:creationId xmlns:a16="http://schemas.microsoft.com/office/drawing/2014/main" id="{BD9FE52A-5DC4-8440-44E8-AF5ACEEC7068}"/>
              </a:ext>
            </a:extLst>
          </p:cNvPr>
          <p:cNvCxnSpPr>
            <a:cxnSpLocks/>
          </p:cNvCxnSpPr>
          <p:nvPr/>
        </p:nvCxnSpPr>
        <p:spPr>
          <a:xfrm flipV="1">
            <a:off x="504340" y="4449770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3">
            <a:extLst>
              <a:ext uri="{FF2B5EF4-FFF2-40B4-BE49-F238E27FC236}">
                <a16:creationId xmlns:a16="http://schemas.microsoft.com/office/drawing/2014/main" id="{FA89E365-B898-F87F-3763-A970DF24C3AD}"/>
              </a:ext>
            </a:extLst>
          </p:cNvPr>
          <p:cNvSpPr txBox="1"/>
          <p:nvPr/>
        </p:nvSpPr>
        <p:spPr>
          <a:xfrm>
            <a:off x="609985" y="4694185"/>
            <a:ext cx="40405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Number of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Injective generative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Edge cases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2810A-ED53-E7FF-0EC7-A0F443FF199E}"/>
              </a:ext>
            </a:extLst>
          </p:cNvPr>
          <p:cNvSpPr/>
          <p:nvPr/>
        </p:nvSpPr>
        <p:spPr>
          <a:xfrm>
            <a:off x="6421582" y="1165538"/>
            <a:ext cx="294885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Multi-task (supervised)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879079-1286-6DFE-855F-71EA0109C2C4}"/>
              </a:ext>
            </a:extLst>
          </p:cNvPr>
          <p:cNvSpPr/>
          <p:nvPr/>
        </p:nvSpPr>
        <p:spPr>
          <a:xfrm>
            <a:off x="6370352" y="2426302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Temporal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78254F00-3A98-2B18-BB21-FE01F30F6C0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5" name="Szövegdoboz 3">
            <a:extLst>
              <a:ext uri="{FF2B5EF4-FFF2-40B4-BE49-F238E27FC236}">
                <a16:creationId xmlns:a16="http://schemas.microsoft.com/office/drawing/2014/main" id="{F55226CC-77A3-CD9D-2EC9-75B076258BDB}"/>
              </a:ext>
            </a:extLst>
          </p:cNvPr>
          <p:cNvSpPr txBox="1"/>
          <p:nvPr/>
        </p:nvSpPr>
        <p:spPr>
          <a:xfrm>
            <a:off x="814679" y="2967334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Liu et al., 2024</a:t>
            </a:r>
          </a:p>
        </p:txBody>
      </p:sp>
      <p:sp>
        <p:nvSpPr>
          <p:cNvPr id="6" name="Szövegdoboz 3">
            <a:extLst>
              <a:ext uri="{FF2B5EF4-FFF2-40B4-BE49-F238E27FC236}">
                <a16:creationId xmlns:a16="http://schemas.microsoft.com/office/drawing/2014/main" id="{68140307-3ECD-B58C-16EA-97AE47AA6982}"/>
              </a:ext>
            </a:extLst>
          </p:cNvPr>
          <p:cNvSpPr txBox="1"/>
          <p:nvPr/>
        </p:nvSpPr>
        <p:spPr>
          <a:xfrm>
            <a:off x="866195" y="1782478"/>
            <a:ext cx="2958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IEM, ILNCM, Morioka and Hyvärinen</a:t>
            </a:r>
          </a:p>
        </p:txBody>
      </p:sp>
      <p:sp>
        <p:nvSpPr>
          <p:cNvPr id="7" name="Szövegdoboz 3">
            <a:extLst>
              <a:ext uri="{FF2B5EF4-FFF2-40B4-BE49-F238E27FC236}">
                <a16:creationId xmlns:a16="http://schemas.microsoft.com/office/drawing/2014/main" id="{46F9A749-ED67-0E2B-B2BF-56757E26D6A4}"/>
              </a:ext>
            </a:extLst>
          </p:cNvPr>
          <p:cNvSpPr txBox="1"/>
          <p:nvPr/>
        </p:nvSpPr>
        <p:spPr>
          <a:xfrm>
            <a:off x="6378353" y="3109002"/>
            <a:ext cx="2052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Markov models, CITRIS, </a:t>
            </a:r>
            <a:r>
              <a:rPr lang="en-US" sz="14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iCITRIS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, BISCUIT, LTI</a:t>
            </a:r>
          </a:p>
        </p:txBody>
      </p:sp>
      <p:sp>
        <p:nvSpPr>
          <p:cNvPr id="11" name="Szövegdoboz 3">
            <a:extLst>
              <a:ext uri="{FF2B5EF4-FFF2-40B4-BE49-F238E27FC236}">
                <a16:creationId xmlns:a16="http://schemas.microsoft.com/office/drawing/2014/main" id="{535C163D-0FD5-D5EC-C8F5-A3542A67E006}"/>
              </a:ext>
            </a:extLst>
          </p:cNvPr>
          <p:cNvSpPr txBox="1"/>
          <p:nvPr/>
        </p:nvSpPr>
        <p:spPr>
          <a:xfrm>
            <a:off x="6429868" y="1769599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Fumero et al., 2024</a:t>
            </a:r>
          </a:p>
        </p:txBody>
      </p:sp>
    </p:spTree>
    <p:extLst>
      <p:ext uri="{BB962C8B-B14F-4D97-AF65-F5344CB8AC3E}">
        <p14:creationId xmlns:p14="http://schemas.microsoft.com/office/powerpoint/2010/main" val="32664236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47EC-DCEC-D9A7-87E5-A9935D6C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168F55-E806-C262-B6F5-C4D9641D21BC}"/>
              </a:ext>
            </a:extLst>
          </p:cNvPr>
          <p:cNvSpPr/>
          <p:nvPr/>
        </p:nvSpPr>
        <p:spPr>
          <a:xfrm>
            <a:off x="0" y="4281715"/>
            <a:ext cx="12192000" cy="2576284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10C16E6F-516C-9238-C2F5-05333D40B94F}"/>
              </a:ext>
            </a:extLst>
          </p:cNvPr>
          <p:cNvSpPr txBox="1"/>
          <p:nvPr/>
        </p:nvSpPr>
        <p:spPr>
          <a:xfrm>
            <a:off x="2253343" y="4644091"/>
            <a:ext cx="7685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Estimation</a:t>
            </a:r>
            <a:endParaRPr lang="hu-HU" sz="3200" dirty="0">
              <a:solidFill>
                <a:schemeClr val="bg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ED0EE-42F3-4D39-4A3C-55F0CD4FB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342900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DE6EF2B8-BE0D-A9E8-F579-3FC52CCC5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351167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A434689F-5778-B0F9-F5D5-DBA7D09896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351920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950E0721-BE2E-EF1D-A36F-730614B635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347764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CFEAB336-625F-3068-F6A4-63F74098B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65" y="3565567"/>
            <a:ext cx="2261067" cy="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848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F97D1-8114-0E35-B5DE-1B550225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AA9E12D-4522-4556-3BAC-E0DCDBDF68A7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 causal representations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3D790FA-6F71-4C6A-1328-4E6465D74C5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8A50B0-270C-372B-961F-FDE97BE4D4D3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8A50B0-270C-372B-961F-FDE97BE4D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3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CE03A7D-AE03-C05F-10CC-FC9171A8E8FB}"/>
                  </a:ext>
                </a:extLst>
              </p:cNvPr>
              <p:cNvSpPr/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CE03A7D-AE03-C05F-10CC-FC9171A8E8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822577-EE4D-0EC0-0330-6538C77E3E1D}"/>
              </a:ext>
            </a:extLst>
          </p:cNvPr>
          <p:cNvCxnSpPr>
            <a:cxnSpLocks/>
          </p:cNvCxnSpPr>
          <p:nvPr/>
        </p:nvCxnSpPr>
        <p:spPr>
          <a:xfrm>
            <a:off x="3560483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6D7C20-3612-7EED-1DB4-442DC4A22652}"/>
              </a:ext>
            </a:extLst>
          </p:cNvPr>
          <p:cNvCxnSpPr>
            <a:cxnSpLocks/>
          </p:cNvCxnSpPr>
          <p:nvPr/>
        </p:nvCxnSpPr>
        <p:spPr>
          <a:xfrm>
            <a:off x="7118071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3">
            <a:extLst>
              <a:ext uri="{FF2B5EF4-FFF2-40B4-BE49-F238E27FC236}">
                <a16:creationId xmlns:a16="http://schemas.microsoft.com/office/drawing/2014/main" id="{51EE6897-7151-41B3-24DD-549A707AD9BE}"/>
              </a:ext>
            </a:extLst>
          </p:cNvPr>
          <p:cNvSpPr txBox="1"/>
          <p:nvPr/>
        </p:nvSpPr>
        <p:spPr>
          <a:xfrm>
            <a:off x="3555604" y="1774739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4B108E-2D11-FCA4-094E-9AD2270DD0D5}"/>
                  </a:ext>
                </a:extLst>
              </p:cNvPr>
              <p:cNvSpPr/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4B108E-2D11-FCA4-094E-9AD2270DD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DFFD86A-B695-2C32-54FC-1BB2D09A0A61}"/>
                  </a:ext>
                </a:extLst>
              </p:cNvPr>
              <p:cNvSpPr/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DFFD86A-B695-2C32-54FC-1BB2D09A0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blipFill>
                <a:blip r:embed="rId6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3">
            <a:extLst>
              <a:ext uri="{FF2B5EF4-FFF2-40B4-BE49-F238E27FC236}">
                <a16:creationId xmlns:a16="http://schemas.microsoft.com/office/drawing/2014/main" id="{2327D3B1-96E2-0471-7DAE-B91AFC8B5D33}"/>
              </a:ext>
            </a:extLst>
          </p:cNvPr>
          <p:cNvSpPr txBox="1"/>
          <p:nvPr/>
        </p:nvSpPr>
        <p:spPr>
          <a:xfrm>
            <a:off x="7008108" y="1749500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23" name="Szövegdoboz 5">
            <a:extLst>
              <a:ext uri="{FF2B5EF4-FFF2-40B4-BE49-F238E27FC236}">
                <a16:creationId xmlns:a16="http://schemas.microsoft.com/office/drawing/2014/main" id="{08A68CAB-A66A-5522-76C2-9CFC4538F499}"/>
              </a:ext>
            </a:extLst>
          </p:cNvPr>
          <p:cNvSpPr txBox="1"/>
          <p:nvPr/>
        </p:nvSpPr>
        <p:spPr>
          <a:xfrm>
            <a:off x="112475" y="1181097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7" name="Szövegdoboz 23">
            <a:extLst>
              <a:ext uri="{FF2B5EF4-FFF2-40B4-BE49-F238E27FC236}">
                <a16:creationId xmlns:a16="http://schemas.microsoft.com/office/drawing/2014/main" id="{E1EB3768-F4E3-87E6-0520-D1B0932AC3E9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69668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72D15-9608-0EB9-5311-BECB6224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56F6DA69-8E78-0F23-F9B6-4EC6A803DE7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 causal representations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70F1985-2C1A-C80B-678E-24660EECFBB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408819-9DE9-C8D4-4F98-F5742CF37F0C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408819-9DE9-C8D4-4F98-F5742CF37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3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ECF8C81-E48E-EF6A-E1A3-9DB5C373101A}"/>
                  </a:ext>
                </a:extLst>
              </p:cNvPr>
              <p:cNvSpPr/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ECF8C81-E48E-EF6A-E1A3-9DB5C3731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644AD6-3FF7-9A02-0CAC-3B143B930E5D}"/>
              </a:ext>
            </a:extLst>
          </p:cNvPr>
          <p:cNvCxnSpPr>
            <a:cxnSpLocks/>
          </p:cNvCxnSpPr>
          <p:nvPr/>
        </p:nvCxnSpPr>
        <p:spPr>
          <a:xfrm>
            <a:off x="3560483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94576C-5E13-0804-4392-201069861616}"/>
              </a:ext>
            </a:extLst>
          </p:cNvPr>
          <p:cNvCxnSpPr>
            <a:cxnSpLocks/>
          </p:cNvCxnSpPr>
          <p:nvPr/>
        </p:nvCxnSpPr>
        <p:spPr>
          <a:xfrm>
            <a:off x="7118071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3">
            <a:extLst>
              <a:ext uri="{FF2B5EF4-FFF2-40B4-BE49-F238E27FC236}">
                <a16:creationId xmlns:a16="http://schemas.microsoft.com/office/drawing/2014/main" id="{B91F714C-4382-C2DE-2B1F-B2108301BE4B}"/>
              </a:ext>
            </a:extLst>
          </p:cNvPr>
          <p:cNvSpPr txBox="1"/>
          <p:nvPr/>
        </p:nvSpPr>
        <p:spPr>
          <a:xfrm>
            <a:off x="3555604" y="1774739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197299-A27C-8579-46CE-3324BD177C23}"/>
                  </a:ext>
                </a:extLst>
              </p:cNvPr>
              <p:cNvSpPr/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197299-A27C-8579-46CE-3324BD177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EBB2B48-F9C1-C9CC-5A5D-E29710494C69}"/>
                  </a:ext>
                </a:extLst>
              </p:cNvPr>
              <p:cNvSpPr/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EBB2B48-F9C1-C9CC-5A5D-E29710494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blipFill>
                <a:blip r:embed="rId6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3">
            <a:extLst>
              <a:ext uri="{FF2B5EF4-FFF2-40B4-BE49-F238E27FC236}">
                <a16:creationId xmlns:a16="http://schemas.microsoft.com/office/drawing/2014/main" id="{CF2AA109-50BB-9875-DF7D-DE88DC79E95A}"/>
              </a:ext>
            </a:extLst>
          </p:cNvPr>
          <p:cNvSpPr txBox="1"/>
          <p:nvPr/>
        </p:nvSpPr>
        <p:spPr>
          <a:xfrm>
            <a:off x="7008108" y="1749500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23" name="Szövegdoboz 5">
            <a:extLst>
              <a:ext uri="{FF2B5EF4-FFF2-40B4-BE49-F238E27FC236}">
                <a16:creationId xmlns:a16="http://schemas.microsoft.com/office/drawing/2014/main" id="{CACF365E-F2E4-C9CC-E532-4F6571DC9B01}"/>
              </a:ext>
            </a:extLst>
          </p:cNvPr>
          <p:cNvSpPr txBox="1"/>
          <p:nvPr/>
        </p:nvSpPr>
        <p:spPr>
          <a:xfrm>
            <a:off x="112475" y="1181097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5">
            <a:extLst>
              <a:ext uri="{FF2B5EF4-FFF2-40B4-BE49-F238E27FC236}">
                <a16:creationId xmlns:a16="http://schemas.microsoft.com/office/drawing/2014/main" id="{A7B6CA3F-83A5-FD1B-08D6-E523D21D25CE}"/>
              </a:ext>
            </a:extLst>
          </p:cNvPr>
          <p:cNvSpPr txBox="1"/>
          <p:nvPr/>
        </p:nvSpPr>
        <p:spPr>
          <a:xfrm>
            <a:off x="112475" y="3508779"/>
            <a:ext cx="3959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 pipeline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7" name="Szövegdoboz 23">
            <a:extLst>
              <a:ext uri="{FF2B5EF4-FFF2-40B4-BE49-F238E27FC236}">
                <a16:creationId xmlns:a16="http://schemas.microsoft.com/office/drawing/2014/main" id="{4BDE3C7B-F762-85F2-FB9A-24D30C96ACF6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31290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A3197-2793-BD48-23FA-FFEB40F2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CD78BC5-E062-98BA-C62F-4A6AF66AF55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 causal representations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ED0B744-36D8-6373-E98E-99AB8817F26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907B2F-D69A-D8B8-B8B3-11191E98F6A2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907B2F-D69A-D8B8-B8B3-11191E98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3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ACA0C9D-8746-368A-05C4-936A310F419B}"/>
                  </a:ext>
                </a:extLst>
              </p:cNvPr>
              <p:cNvSpPr/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ACA0C9D-8746-368A-05C4-936A310F41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9C6FB7-230A-FF67-3BCF-D677249A7A7D}"/>
              </a:ext>
            </a:extLst>
          </p:cNvPr>
          <p:cNvCxnSpPr>
            <a:cxnSpLocks/>
          </p:cNvCxnSpPr>
          <p:nvPr/>
        </p:nvCxnSpPr>
        <p:spPr>
          <a:xfrm>
            <a:off x="3560483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7D938E-1840-C1F3-3365-866CE5EE040E}"/>
              </a:ext>
            </a:extLst>
          </p:cNvPr>
          <p:cNvCxnSpPr>
            <a:cxnSpLocks/>
          </p:cNvCxnSpPr>
          <p:nvPr/>
        </p:nvCxnSpPr>
        <p:spPr>
          <a:xfrm>
            <a:off x="7118071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3">
            <a:extLst>
              <a:ext uri="{FF2B5EF4-FFF2-40B4-BE49-F238E27FC236}">
                <a16:creationId xmlns:a16="http://schemas.microsoft.com/office/drawing/2014/main" id="{BAF1D470-349C-51C7-0CE5-DAE223598782}"/>
              </a:ext>
            </a:extLst>
          </p:cNvPr>
          <p:cNvSpPr txBox="1"/>
          <p:nvPr/>
        </p:nvSpPr>
        <p:spPr>
          <a:xfrm>
            <a:off x="3555604" y="1774739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9680D1D-71D0-2766-863E-71D5E1A20A06}"/>
                  </a:ext>
                </a:extLst>
              </p:cNvPr>
              <p:cNvSpPr/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9680D1D-71D0-2766-863E-71D5E1A20A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70C1579-77B4-3C70-8E5D-33296D5A8C75}"/>
                  </a:ext>
                </a:extLst>
              </p:cNvPr>
              <p:cNvSpPr/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70C1579-77B4-3C70-8E5D-33296D5A8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blipFill>
                <a:blip r:embed="rId6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3">
            <a:extLst>
              <a:ext uri="{FF2B5EF4-FFF2-40B4-BE49-F238E27FC236}">
                <a16:creationId xmlns:a16="http://schemas.microsoft.com/office/drawing/2014/main" id="{6E3A0DFF-82B8-549F-CA48-F570033F6FA5}"/>
              </a:ext>
            </a:extLst>
          </p:cNvPr>
          <p:cNvSpPr txBox="1"/>
          <p:nvPr/>
        </p:nvSpPr>
        <p:spPr>
          <a:xfrm>
            <a:off x="7008108" y="1749500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C906483-3375-82BA-1869-10DBE2B3170E}"/>
                  </a:ext>
                </a:extLst>
              </p:cNvPr>
              <p:cNvSpPr/>
              <p:nvPr/>
            </p:nvSpPr>
            <p:spPr>
              <a:xfrm>
                <a:off x="973873" y="4188714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C906483-3375-82BA-1869-10DBE2B317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73" y="4188714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B6A679-AB4A-A4DB-0F45-543624C8DC7A}"/>
              </a:ext>
            </a:extLst>
          </p:cNvPr>
          <p:cNvCxnSpPr>
            <a:cxnSpLocks/>
          </p:cNvCxnSpPr>
          <p:nvPr/>
        </p:nvCxnSpPr>
        <p:spPr>
          <a:xfrm>
            <a:off x="3603346" y="450147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34FA2F-5A56-2DBD-D9C4-C6832FF85526}"/>
                  </a:ext>
                </a:extLst>
              </p:cNvPr>
              <p:cNvSpPr/>
              <p:nvPr/>
            </p:nvSpPr>
            <p:spPr>
              <a:xfrm>
                <a:off x="7989034" y="4188500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  <m:t>Z</m:t>
                        </m:r>
                      </m:e>
                    </m:acc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34FA2F-5A56-2DBD-D9C4-C6832FF855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4" y="4188500"/>
                <a:ext cx="2500503" cy="597373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9F9B84-D7E1-13E9-0B7F-B6DBD3D2760D}"/>
              </a:ext>
            </a:extLst>
          </p:cNvPr>
          <p:cNvCxnSpPr>
            <a:cxnSpLocks/>
          </p:cNvCxnSpPr>
          <p:nvPr/>
        </p:nvCxnSpPr>
        <p:spPr>
          <a:xfrm>
            <a:off x="7118071" y="443718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513E0E5-1B78-D52D-1E36-4861334A9F47}"/>
              </a:ext>
            </a:extLst>
          </p:cNvPr>
          <p:cNvSpPr/>
          <p:nvPr/>
        </p:nvSpPr>
        <p:spPr>
          <a:xfrm>
            <a:off x="4447885" y="4188501"/>
            <a:ext cx="2500503" cy="597373"/>
          </a:xfrm>
          <a:prstGeom prst="rect">
            <a:avLst/>
          </a:pr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Unmixing (DNN)</a:t>
            </a:r>
          </a:p>
        </p:txBody>
      </p:sp>
      <p:sp>
        <p:nvSpPr>
          <p:cNvPr id="23" name="Szövegdoboz 5">
            <a:extLst>
              <a:ext uri="{FF2B5EF4-FFF2-40B4-BE49-F238E27FC236}">
                <a16:creationId xmlns:a16="http://schemas.microsoft.com/office/drawing/2014/main" id="{DE0324AC-F83E-2F51-17BE-78844D8B646E}"/>
              </a:ext>
            </a:extLst>
          </p:cNvPr>
          <p:cNvSpPr txBox="1"/>
          <p:nvPr/>
        </p:nvSpPr>
        <p:spPr>
          <a:xfrm>
            <a:off x="112475" y="1181097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5">
            <a:extLst>
              <a:ext uri="{FF2B5EF4-FFF2-40B4-BE49-F238E27FC236}">
                <a16:creationId xmlns:a16="http://schemas.microsoft.com/office/drawing/2014/main" id="{FFB8FD8E-676A-2E7F-E3CF-7119A6911E28}"/>
              </a:ext>
            </a:extLst>
          </p:cNvPr>
          <p:cNvSpPr txBox="1"/>
          <p:nvPr/>
        </p:nvSpPr>
        <p:spPr>
          <a:xfrm>
            <a:off x="112475" y="3508779"/>
            <a:ext cx="3959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 pipeline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7" name="Szövegdoboz 23">
            <a:extLst>
              <a:ext uri="{FF2B5EF4-FFF2-40B4-BE49-F238E27FC236}">
                <a16:creationId xmlns:a16="http://schemas.microsoft.com/office/drawing/2014/main" id="{D21C0609-B18E-2356-1C4C-93ADAE8E06E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1610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6573B-12A1-2DAF-FDD1-F2B66F91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ED5D7BD-7279-85BE-13E4-6C13054F9A5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 causal representations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4FF468AB-16B2-31DF-F2AE-DA81DEE3134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3E848E-46BE-D1C1-F5ED-57778CE0FD0C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3E848E-46BE-D1C1-F5ED-57778CE0F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3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5125272-7EDF-9F9F-4A90-2923FC3A77B4}"/>
                  </a:ext>
                </a:extLst>
              </p:cNvPr>
              <p:cNvSpPr/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5125272-7EDF-9F9F-4A90-2923FC3A77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1946585"/>
                <a:ext cx="2500503" cy="597373"/>
              </a:xfrm>
              <a:prstGeom prst="rect">
                <a:avLst/>
              </a:prstGeom>
              <a:blipFill>
                <a:blip r:embed="rId4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7FBBB4-701B-192E-A4F9-73176E7FBAF9}"/>
              </a:ext>
            </a:extLst>
          </p:cNvPr>
          <p:cNvCxnSpPr>
            <a:cxnSpLocks/>
          </p:cNvCxnSpPr>
          <p:nvPr/>
        </p:nvCxnSpPr>
        <p:spPr>
          <a:xfrm>
            <a:off x="3560483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5559B2-9F7E-2764-FCC6-3F78DAD4C28D}"/>
              </a:ext>
            </a:extLst>
          </p:cNvPr>
          <p:cNvCxnSpPr>
            <a:cxnSpLocks/>
          </p:cNvCxnSpPr>
          <p:nvPr/>
        </p:nvCxnSpPr>
        <p:spPr>
          <a:xfrm>
            <a:off x="7118071" y="224527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3">
            <a:extLst>
              <a:ext uri="{FF2B5EF4-FFF2-40B4-BE49-F238E27FC236}">
                <a16:creationId xmlns:a16="http://schemas.microsoft.com/office/drawing/2014/main" id="{EC53A2C7-C350-2278-1759-8A07D2A771C6}"/>
              </a:ext>
            </a:extLst>
          </p:cNvPr>
          <p:cNvSpPr txBox="1"/>
          <p:nvPr/>
        </p:nvSpPr>
        <p:spPr>
          <a:xfrm>
            <a:off x="3555604" y="1774739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4AEC82D-E1EE-C68D-0A6A-1E6981419DAB}"/>
                  </a:ext>
                </a:extLst>
              </p:cNvPr>
              <p:cNvSpPr/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4AEC82D-E1EE-C68D-0A6A-1E6981419D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1946585"/>
                <a:ext cx="2500503" cy="597373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442EC03-9E3C-3D58-C9C1-3EBE3D99337E}"/>
                  </a:ext>
                </a:extLst>
              </p:cNvPr>
              <p:cNvSpPr/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442EC03-9E3C-3D58-C9C1-3EBE3D993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1946585"/>
                <a:ext cx="2500503" cy="597373"/>
              </a:xfrm>
              <a:prstGeom prst="rect">
                <a:avLst/>
              </a:prstGeom>
              <a:blipFill>
                <a:blip r:embed="rId6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zövegdoboz 3">
            <a:extLst>
              <a:ext uri="{FF2B5EF4-FFF2-40B4-BE49-F238E27FC236}">
                <a16:creationId xmlns:a16="http://schemas.microsoft.com/office/drawing/2014/main" id="{9086A914-F868-8400-5E75-C3FA6183CE59}"/>
              </a:ext>
            </a:extLst>
          </p:cNvPr>
          <p:cNvSpPr txBox="1"/>
          <p:nvPr/>
        </p:nvSpPr>
        <p:spPr>
          <a:xfrm>
            <a:off x="7008108" y="1749500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3BC4D8D-09A1-99B4-C8AF-9CDC7F8673DE}"/>
                  </a:ext>
                </a:extLst>
              </p:cNvPr>
              <p:cNvSpPr/>
              <p:nvPr/>
            </p:nvSpPr>
            <p:spPr>
              <a:xfrm>
                <a:off x="973873" y="4188714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3BC4D8D-09A1-99B4-C8AF-9CDC7F867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73" y="4188714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E46594-531F-5B03-3F55-A16E2C427678}"/>
              </a:ext>
            </a:extLst>
          </p:cNvPr>
          <p:cNvCxnSpPr>
            <a:cxnSpLocks/>
          </p:cNvCxnSpPr>
          <p:nvPr/>
        </p:nvCxnSpPr>
        <p:spPr>
          <a:xfrm>
            <a:off x="3603346" y="450147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94F816-E3CB-E471-AF7F-3ED1DA9452C7}"/>
                  </a:ext>
                </a:extLst>
              </p:cNvPr>
              <p:cNvSpPr/>
              <p:nvPr/>
            </p:nvSpPr>
            <p:spPr>
              <a:xfrm>
                <a:off x="7989034" y="4188500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Helvetica Neue Light" panose="02000403000000020004" pitchFamily="2" charset="0"/>
                            <a:cs typeface="Helvetica Neue Medium" panose="02000503000000020004" pitchFamily="2" charset="0"/>
                          </a:rPr>
                          <m:t>Z</m:t>
                        </m:r>
                      </m:e>
                    </m:acc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94F816-E3CB-E471-AF7F-3ED1DA945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4" y="4188500"/>
                <a:ext cx="2500503" cy="597373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221A8E-D189-194B-F136-1C9C0A8BBE27}"/>
              </a:ext>
            </a:extLst>
          </p:cNvPr>
          <p:cNvCxnSpPr>
            <a:cxnSpLocks/>
          </p:cNvCxnSpPr>
          <p:nvPr/>
        </p:nvCxnSpPr>
        <p:spPr>
          <a:xfrm>
            <a:off x="7118071" y="4437181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627C122-A253-87CC-25E6-28803FCF5D93}"/>
              </a:ext>
            </a:extLst>
          </p:cNvPr>
          <p:cNvSpPr/>
          <p:nvPr/>
        </p:nvSpPr>
        <p:spPr>
          <a:xfrm>
            <a:off x="4447885" y="4188501"/>
            <a:ext cx="2500503" cy="597373"/>
          </a:xfrm>
          <a:prstGeom prst="rect">
            <a:avLst/>
          </a:prstGeom>
          <a:noFill/>
          <a:ln w="28575">
            <a:solidFill>
              <a:srgbClr val="4A8F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Unmixing (DNN)</a:t>
            </a:r>
          </a:p>
        </p:txBody>
      </p:sp>
      <p:sp>
        <p:nvSpPr>
          <p:cNvPr id="23" name="Szövegdoboz 5">
            <a:extLst>
              <a:ext uri="{FF2B5EF4-FFF2-40B4-BE49-F238E27FC236}">
                <a16:creationId xmlns:a16="http://schemas.microsoft.com/office/drawing/2014/main" id="{68A58D23-0107-E2F8-8C13-151DEDBE6B97}"/>
              </a:ext>
            </a:extLst>
          </p:cNvPr>
          <p:cNvSpPr txBox="1"/>
          <p:nvPr/>
        </p:nvSpPr>
        <p:spPr>
          <a:xfrm>
            <a:off x="112475" y="1181097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Data Generating Process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5" name="Szövegdoboz 5">
            <a:extLst>
              <a:ext uri="{FF2B5EF4-FFF2-40B4-BE49-F238E27FC236}">
                <a16:creationId xmlns:a16="http://schemas.microsoft.com/office/drawing/2014/main" id="{8420DC22-EE5F-15C4-AD30-458682A24492}"/>
              </a:ext>
            </a:extLst>
          </p:cNvPr>
          <p:cNvSpPr txBox="1"/>
          <p:nvPr/>
        </p:nvSpPr>
        <p:spPr>
          <a:xfrm>
            <a:off x="112475" y="3508779"/>
            <a:ext cx="3959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Learning pipeline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64E324-7152-09C6-AE09-F5634A212AF3}"/>
              </a:ext>
            </a:extLst>
          </p:cNvPr>
          <p:cNvSpPr/>
          <p:nvPr/>
        </p:nvSpPr>
        <p:spPr>
          <a:xfrm>
            <a:off x="3086183" y="5276080"/>
            <a:ext cx="5223905" cy="498273"/>
          </a:xfrm>
          <a:prstGeom prst="rect">
            <a:avLst/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How can we learn causal representations?</a:t>
            </a:r>
          </a:p>
        </p:txBody>
      </p:sp>
      <p:sp>
        <p:nvSpPr>
          <p:cNvPr id="27" name="Szövegdoboz 23">
            <a:extLst>
              <a:ext uri="{FF2B5EF4-FFF2-40B4-BE49-F238E27FC236}">
                <a16:creationId xmlns:a16="http://schemas.microsoft.com/office/drawing/2014/main" id="{7C14273F-AE21-136C-F97D-F5573DAB9A51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6186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C5FA3-7422-6508-EB68-2ED1F7200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1D5BCED-7107-EB5E-FED9-FE9C99FCF603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Encoding causal information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85D1411-380F-F9AB-5C39-F3D0596E21F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C6BB0B0-EE92-C5DC-C0EB-61479ECCDD81}"/>
              </a:ext>
            </a:extLst>
          </p:cNvPr>
          <p:cNvSpPr/>
          <p:nvPr/>
        </p:nvSpPr>
        <p:spPr>
          <a:xfrm>
            <a:off x="4746979" y="1224754"/>
            <a:ext cx="227171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information</a:t>
            </a:r>
          </a:p>
        </p:txBody>
      </p:sp>
      <p:sp>
        <p:nvSpPr>
          <p:cNvPr id="21" name="Szövegdoboz 23">
            <a:extLst>
              <a:ext uri="{FF2B5EF4-FFF2-40B4-BE49-F238E27FC236}">
                <a16:creationId xmlns:a16="http://schemas.microsoft.com/office/drawing/2014/main" id="{EF6449FD-6A00-1235-3573-0CD88B5E1024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01965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28DB5-9181-263B-CA11-1CBC3797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D94FB3E-6F91-94BE-EA3D-40CF7054957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Encoding causal information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FB481729-9EE0-5772-F76D-7F042F98D79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38EBA59-7222-F29D-A5D1-29D9B694E6AD}"/>
              </a:ext>
            </a:extLst>
          </p:cNvPr>
          <p:cNvSpPr/>
          <p:nvPr/>
        </p:nvSpPr>
        <p:spPr>
          <a:xfrm>
            <a:off x="4746979" y="1224754"/>
            <a:ext cx="227171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information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CD60D0-1A4C-8B82-8F0E-D7F4FBB6CC97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FB6C9E-DEF0-D6B4-EEEC-9DF6782A2BEF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Loss</a:t>
            </a:r>
          </a:p>
        </p:txBody>
      </p:sp>
      <p:sp>
        <p:nvSpPr>
          <p:cNvPr id="21" name="Szövegdoboz 23">
            <a:extLst>
              <a:ext uri="{FF2B5EF4-FFF2-40B4-BE49-F238E27FC236}">
                <a16:creationId xmlns:a16="http://schemas.microsoft.com/office/drawing/2014/main" id="{D0F27C41-F183-6A9A-8BB4-CB3FEF5355C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9230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04A66-4237-3646-0D8D-A6A49E32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52BB622-D307-11F4-DE77-CF312A26CBB8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Encoding causal information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E2B4878F-0E5D-52E2-96EE-F3AACC4BC494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ECFB02B-91D8-C866-E396-07F643D57CCE}"/>
              </a:ext>
            </a:extLst>
          </p:cNvPr>
          <p:cNvSpPr/>
          <p:nvPr/>
        </p:nvSpPr>
        <p:spPr>
          <a:xfrm>
            <a:off x="4746979" y="1224754"/>
            <a:ext cx="227171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information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A6BCD0-3F8E-5F34-14EA-620F5C49E050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BBEE898-9D49-97A9-C48E-337A11385482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D532FC-C097-3C01-50D8-FD88702F8442}"/>
              </a:ext>
            </a:extLst>
          </p:cNvPr>
          <p:cNvCxnSpPr>
            <a:cxnSpLocks/>
          </p:cNvCxnSpPr>
          <p:nvPr/>
        </p:nvCxnSpPr>
        <p:spPr>
          <a:xfrm flipH="1">
            <a:off x="1574961" y="32909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D7514DB-36A2-4412-5451-685D716C6012}"/>
              </a:ext>
            </a:extLst>
          </p:cNvPr>
          <p:cNvSpPr/>
          <p:nvPr/>
        </p:nvSpPr>
        <p:spPr>
          <a:xfrm>
            <a:off x="464635" y="371573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Score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3D0DF441-CF26-7937-CD7B-64FEE297A42C}"/>
              </a:ext>
            </a:extLst>
          </p:cNvPr>
          <p:cNvSpPr txBox="1"/>
          <p:nvPr/>
        </p:nvSpPr>
        <p:spPr>
          <a:xfrm>
            <a:off x="711523" y="4275682"/>
            <a:ext cx="2085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Diffusion models</a:t>
            </a:r>
          </a:p>
        </p:txBody>
      </p:sp>
      <p:sp>
        <p:nvSpPr>
          <p:cNvPr id="21" name="Szövegdoboz 23">
            <a:extLst>
              <a:ext uri="{FF2B5EF4-FFF2-40B4-BE49-F238E27FC236}">
                <a16:creationId xmlns:a16="http://schemas.microsoft.com/office/drawing/2014/main" id="{9EF56DFE-8441-9AD0-F504-590F4273BBF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0751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81512-10AC-CC38-9461-E21037BC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4294348-04D7-8522-F9DE-0F9555502D2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Encoding causal information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A03EA2E-587D-9DA0-D480-822A5AE1B0D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3CF7F74-769B-F5A3-ED98-F0310587C4EE}"/>
              </a:ext>
            </a:extLst>
          </p:cNvPr>
          <p:cNvSpPr/>
          <p:nvPr/>
        </p:nvSpPr>
        <p:spPr>
          <a:xfrm>
            <a:off x="4746979" y="1224754"/>
            <a:ext cx="227171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information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D9C091-907A-3AEE-84A6-22F0ECF7613B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FB7B3B7-9368-D83E-5443-EA658288D02B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AD0541-C848-C7D5-CAAF-FA3244879FA8}"/>
              </a:ext>
            </a:extLst>
          </p:cNvPr>
          <p:cNvCxnSpPr>
            <a:cxnSpLocks/>
          </p:cNvCxnSpPr>
          <p:nvPr/>
        </p:nvCxnSpPr>
        <p:spPr>
          <a:xfrm flipH="1">
            <a:off x="1574961" y="32909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407CAE-F056-F93A-BB7A-AE7067F5D1C7}"/>
              </a:ext>
            </a:extLst>
          </p:cNvPr>
          <p:cNvCxnSpPr>
            <a:cxnSpLocks/>
          </p:cNvCxnSpPr>
          <p:nvPr/>
        </p:nvCxnSpPr>
        <p:spPr>
          <a:xfrm>
            <a:off x="4049837" y="3278355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0AB3A-995E-9094-017A-6E69EC4CB992}"/>
              </a:ext>
            </a:extLst>
          </p:cNvPr>
          <p:cNvSpPr/>
          <p:nvPr/>
        </p:nvSpPr>
        <p:spPr>
          <a:xfrm>
            <a:off x="4010314" y="381788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Log-likelihood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58876E-C0EC-1C9E-4BAD-F791F1A5B7A5}"/>
              </a:ext>
            </a:extLst>
          </p:cNvPr>
          <p:cNvSpPr/>
          <p:nvPr/>
        </p:nvSpPr>
        <p:spPr>
          <a:xfrm>
            <a:off x="464635" y="371573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Score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0F012D31-BA60-BCD4-1EEC-A8160AEB9F6B}"/>
              </a:ext>
            </a:extLst>
          </p:cNvPr>
          <p:cNvSpPr txBox="1"/>
          <p:nvPr/>
        </p:nvSpPr>
        <p:spPr>
          <a:xfrm>
            <a:off x="711523" y="4275682"/>
            <a:ext cx="2085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Diffusion models</a:t>
            </a:r>
          </a:p>
        </p:txBody>
      </p:sp>
      <p:sp>
        <p:nvSpPr>
          <p:cNvPr id="21" name="Szövegdoboz 23">
            <a:extLst>
              <a:ext uri="{FF2B5EF4-FFF2-40B4-BE49-F238E27FC236}">
                <a16:creationId xmlns:a16="http://schemas.microsoft.com/office/drawing/2014/main" id="{9E2FB2AF-AB19-41F7-0A76-B844098B3D0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82998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EE0B5-E359-9A5F-F8F1-6EBE322E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8BB4810-562D-D785-7F02-C4C97751434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Encoding causal information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B02C3FE-29D0-5D51-1F6C-9ECA29293537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ADD7069-BBEF-78C2-C965-5BF462E29B16}"/>
              </a:ext>
            </a:extLst>
          </p:cNvPr>
          <p:cNvSpPr/>
          <p:nvPr/>
        </p:nvSpPr>
        <p:spPr>
          <a:xfrm>
            <a:off x="4746979" y="1224754"/>
            <a:ext cx="227171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information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916383-6178-55CE-C867-C6B926803EEB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E86BCF0-3CD8-B9E3-584E-4B43CDE7917A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1E58D4-06A3-4078-6E89-E23C46DDDC7E}"/>
              </a:ext>
            </a:extLst>
          </p:cNvPr>
          <p:cNvCxnSpPr>
            <a:cxnSpLocks/>
          </p:cNvCxnSpPr>
          <p:nvPr/>
        </p:nvCxnSpPr>
        <p:spPr>
          <a:xfrm flipH="1">
            <a:off x="1574961" y="32909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F9AD4F-BB58-E21E-F482-D2FB7C84DD9E}"/>
              </a:ext>
            </a:extLst>
          </p:cNvPr>
          <p:cNvCxnSpPr>
            <a:cxnSpLocks/>
          </p:cNvCxnSpPr>
          <p:nvPr/>
        </p:nvCxnSpPr>
        <p:spPr>
          <a:xfrm>
            <a:off x="4049837" y="3278355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1E42A-956F-6809-0521-BE7949C13FA5}"/>
              </a:ext>
            </a:extLst>
          </p:cNvPr>
          <p:cNvSpPr/>
          <p:nvPr/>
        </p:nvSpPr>
        <p:spPr>
          <a:xfrm>
            <a:off x="4010314" y="381788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Log-likelihood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8C4C68-1ECF-C92C-A228-609BFCF668C9}"/>
              </a:ext>
            </a:extLst>
          </p:cNvPr>
          <p:cNvSpPr/>
          <p:nvPr/>
        </p:nvSpPr>
        <p:spPr>
          <a:xfrm>
            <a:off x="464635" y="371573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Score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2B444920-4A46-EC08-6705-410F019890AA}"/>
              </a:ext>
            </a:extLst>
          </p:cNvPr>
          <p:cNvSpPr txBox="1"/>
          <p:nvPr/>
        </p:nvSpPr>
        <p:spPr>
          <a:xfrm>
            <a:off x="711523" y="4275682"/>
            <a:ext cx="2085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Diffusion models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256C2A-0157-A7A8-B78A-53BA809759D3}"/>
              </a:ext>
            </a:extLst>
          </p:cNvPr>
          <p:cNvCxnSpPr>
            <a:cxnSpLocks/>
          </p:cNvCxnSpPr>
          <p:nvPr/>
        </p:nvCxnSpPr>
        <p:spPr>
          <a:xfrm flipH="1">
            <a:off x="4003836" y="4576783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8230EDF-E2A8-9E6D-D8B3-A869B1D4C06F}"/>
              </a:ext>
            </a:extLst>
          </p:cNvPr>
          <p:cNvSpPr/>
          <p:nvPr/>
        </p:nvSpPr>
        <p:spPr>
          <a:xfrm>
            <a:off x="2845882" y="5082328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Regularized</a:t>
            </a:r>
          </a:p>
        </p:txBody>
      </p:sp>
      <p:sp>
        <p:nvSpPr>
          <p:cNvPr id="21" name="Szövegdoboz 23">
            <a:extLst>
              <a:ext uri="{FF2B5EF4-FFF2-40B4-BE49-F238E27FC236}">
                <a16:creationId xmlns:a16="http://schemas.microsoft.com/office/drawing/2014/main" id="{F3AFF06D-57F6-2AA2-A095-F7C1464AA77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13961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BE000-9EE1-9B3A-EC76-B5E3E943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66003157-BABE-0ADA-D24C-EB26E415E88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Encoding causal information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516ABA3-790B-D420-5719-3E6FA835F376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B492E92-2A34-24A7-7A18-AE891F0323FF}"/>
              </a:ext>
            </a:extLst>
          </p:cNvPr>
          <p:cNvSpPr/>
          <p:nvPr/>
        </p:nvSpPr>
        <p:spPr>
          <a:xfrm>
            <a:off x="4746979" y="1224754"/>
            <a:ext cx="227171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information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0DED7E-A6B7-B221-828D-5643539B63EC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F5FCE00-46CC-5C2E-3B2C-E7ECDC2CF0BA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65DCCA-BFAF-4892-8C01-C722CCD29680}"/>
              </a:ext>
            </a:extLst>
          </p:cNvPr>
          <p:cNvCxnSpPr>
            <a:cxnSpLocks/>
          </p:cNvCxnSpPr>
          <p:nvPr/>
        </p:nvCxnSpPr>
        <p:spPr>
          <a:xfrm flipH="1">
            <a:off x="1574961" y="32909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BBA872-6885-C58C-3637-37EBA59E2F96}"/>
              </a:ext>
            </a:extLst>
          </p:cNvPr>
          <p:cNvCxnSpPr>
            <a:cxnSpLocks/>
          </p:cNvCxnSpPr>
          <p:nvPr/>
        </p:nvCxnSpPr>
        <p:spPr>
          <a:xfrm>
            <a:off x="4049837" y="3278355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2918E73-F528-8A59-A009-12DCC6463080}"/>
              </a:ext>
            </a:extLst>
          </p:cNvPr>
          <p:cNvSpPr/>
          <p:nvPr/>
        </p:nvSpPr>
        <p:spPr>
          <a:xfrm>
            <a:off x="4010314" y="381788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Log-likelihood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891E4B-0145-4629-588A-3AF73E7977B4}"/>
              </a:ext>
            </a:extLst>
          </p:cNvPr>
          <p:cNvSpPr/>
          <p:nvPr/>
        </p:nvSpPr>
        <p:spPr>
          <a:xfrm>
            <a:off x="464635" y="371573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Score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E4ABC73C-8289-C149-E042-DD3B134FCB2B}"/>
              </a:ext>
            </a:extLst>
          </p:cNvPr>
          <p:cNvSpPr txBox="1"/>
          <p:nvPr/>
        </p:nvSpPr>
        <p:spPr>
          <a:xfrm>
            <a:off x="711523" y="4275682"/>
            <a:ext cx="2085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Diffusion models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39703A-7FBE-642F-628C-D58F38332EAC}"/>
              </a:ext>
            </a:extLst>
          </p:cNvPr>
          <p:cNvCxnSpPr>
            <a:cxnSpLocks/>
          </p:cNvCxnSpPr>
          <p:nvPr/>
        </p:nvCxnSpPr>
        <p:spPr>
          <a:xfrm flipH="1">
            <a:off x="4003836" y="4576783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B8E23-DA30-662B-55E4-09EC744D8941}"/>
              </a:ext>
            </a:extLst>
          </p:cNvPr>
          <p:cNvCxnSpPr>
            <a:cxnSpLocks/>
          </p:cNvCxnSpPr>
          <p:nvPr/>
        </p:nvCxnSpPr>
        <p:spPr>
          <a:xfrm>
            <a:off x="5771481" y="4614236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27D2D3D-7681-6C13-F3C0-9CFE21FD15BF}"/>
              </a:ext>
            </a:extLst>
          </p:cNvPr>
          <p:cNvSpPr/>
          <p:nvPr/>
        </p:nvSpPr>
        <p:spPr>
          <a:xfrm>
            <a:off x="2845882" y="5082328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Regularized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F4D37A-D582-962D-FD75-66CDC5082C64}"/>
              </a:ext>
            </a:extLst>
          </p:cNvPr>
          <p:cNvSpPr/>
          <p:nvPr/>
        </p:nvSpPr>
        <p:spPr>
          <a:xfrm>
            <a:off x="5646232" y="5082328"/>
            <a:ext cx="233686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sp>
        <p:nvSpPr>
          <p:cNvPr id="21" name="Szövegdoboz 23">
            <a:extLst>
              <a:ext uri="{FF2B5EF4-FFF2-40B4-BE49-F238E27FC236}">
                <a16:creationId xmlns:a16="http://schemas.microsoft.com/office/drawing/2014/main" id="{7832F3DA-739B-9A49-4195-00FECA950200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02644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BA8CF-9156-BF39-FED6-0D172501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C6FF3C4-CF91-3A85-4EA1-61A4902A4F5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Encoding causal information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51F19149-6A8A-DBA1-AF64-8B1C8189D624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doboz 3">
            <a:extLst>
              <a:ext uri="{FF2B5EF4-FFF2-40B4-BE49-F238E27FC236}">
                <a16:creationId xmlns:a16="http://schemas.microsoft.com/office/drawing/2014/main" id="{F0B936B4-1D6B-F77F-515B-20743F60C8DB}"/>
              </a:ext>
            </a:extLst>
          </p:cNvPr>
          <p:cNvSpPr txBox="1"/>
          <p:nvPr/>
        </p:nvSpPr>
        <p:spPr>
          <a:xfrm>
            <a:off x="7555993" y="3072868"/>
            <a:ext cx="11312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StrNN</a:t>
            </a:r>
            <a:endParaRPr lang="en-US" sz="16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Normalizing flow</a:t>
            </a:r>
          </a:p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Bayesian Network</a:t>
            </a:r>
          </a:p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 encoders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1429C1-4545-1AA2-4987-C3BBE2EAE5F4}"/>
              </a:ext>
            </a:extLst>
          </p:cNvPr>
          <p:cNvSpPr/>
          <p:nvPr/>
        </p:nvSpPr>
        <p:spPr>
          <a:xfrm>
            <a:off x="4746979" y="1224754"/>
            <a:ext cx="2271715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Causal information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711036-E987-45B7-19A5-0A085790765D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4BCD5D9-3006-C094-0CCE-7BF68317C9B6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Structural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0A2CCC-5F99-9D4F-4713-059D224BB819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7C45EA8-F120-9508-B8F9-B828578E5D49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0ABE9F-0FFB-8B30-311B-58EA227E70E9}"/>
              </a:ext>
            </a:extLst>
          </p:cNvPr>
          <p:cNvCxnSpPr>
            <a:cxnSpLocks/>
          </p:cNvCxnSpPr>
          <p:nvPr/>
        </p:nvCxnSpPr>
        <p:spPr>
          <a:xfrm flipH="1">
            <a:off x="1574961" y="32909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68DAA7-D2A2-0E60-930C-06C2CFB518FD}"/>
              </a:ext>
            </a:extLst>
          </p:cNvPr>
          <p:cNvCxnSpPr>
            <a:cxnSpLocks/>
          </p:cNvCxnSpPr>
          <p:nvPr/>
        </p:nvCxnSpPr>
        <p:spPr>
          <a:xfrm>
            <a:off x="4049837" y="3278355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E40310E-8312-E037-1635-92259BD5875E}"/>
              </a:ext>
            </a:extLst>
          </p:cNvPr>
          <p:cNvSpPr/>
          <p:nvPr/>
        </p:nvSpPr>
        <p:spPr>
          <a:xfrm>
            <a:off x="4010314" y="381788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Log-likelihood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7B0D78-7E95-82B4-9FE8-C22978A61F68}"/>
              </a:ext>
            </a:extLst>
          </p:cNvPr>
          <p:cNvSpPr/>
          <p:nvPr/>
        </p:nvSpPr>
        <p:spPr>
          <a:xfrm>
            <a:off x="464635" y="371573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Score</a:t>
            </a:r>
          </a:p>
        </p:txBody>
      </p:sp>
      <p:sp>
        <p:nvSpPr>
          <p:cNvPr id="16" name="Szövegdoboz 3">
            <a:extLst>
              <a:ext uri="{FF2B5EF4-FFF2-40B4-BE49-F238E27FC236}">
                <a16:creationId xmlns:a16="http://schemas.microsoft.com/office/drawing/2014/main" id="{753B3A44-8E70-5B45-A95E-3950C45DE98C}"/>
              </a:ext>
            </a:extLst>
          </p:cNvPr>
          <p:cNvSpPr txBox="1"/>
          <p:nvPr/>
        </p:nvSpPr>
        <p:spPr>
          <a:xfrm>
            <a:off x="711523" y="4275682"/>
            <a:ext cx="2085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Diffusion models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072924-5075-F02E-8DE3-4CF8527480A7}"/>
              </a:ext>
            </a:extLst>
          </p:cNvPr>
          <p:cNvCxnSpPr>
            <a:cxnSpLocks/>
          </p:cNvCxnSpPr>
          <p:nvPr/>
        </p:nvCxnSpPr>
        <p:spPr>
          <a:xfrm flipH="1">
            <a:off x="4003836" y="4576783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9D482F-CCB6-7F5E-50BA-C2029DA6C456}"/>
              </a:ext>
            </a:extLst>
          </p:cNvPr>
          <p:cNvCxnSpPr>
            <a:cxnSpLocks/>
          </p:cNvCxnSpPr>
          <p:nvPr/>
        </p:nvCxnSpPr>
        <p:spPr>
          <a:xfrm>
            <a:off x="5771481" y="4614236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B3802F6-0830-2332-8FCC-E30A9D002D72}"/>
              </a:ext>
            </a:extLst>
          </p:cNvPr>
          <p:cNvSpPr/>
          <p:nvPr/>
        </p:nvSpPr>
        <p:spPr>
          <a:xfrm>
            <a:off x="2845882" y="5082328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Regularized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B32ADF-CF68-45E0-8046-5D2D71B5E8D8}"/>
              </a:ext>
            </a:extLst>
          </p:cNvPr>
          <p:cNvSpPr/>
          <p:nvPr/>
        </p:nvSpPr>
        <p:spPr>
          <a:xfrm>
            <a:off x="5646232" y="5082328"/>
            <a:ext cx="233686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sp>
        <p:nvSpPr>
          <p:cNvPr id="21" name="Szövegdoboz 23">
            <a:extLst>
              <a:ext uri="{FF2B5EF4-FFF2-40B4-BE49-F238E27FC236}">
                <a16:creationId xmlns:a16="http://schemas.microsoft.com/office/drawing/2014/main" id="{EF059682-873F-5808-7290-FDB4D95E50CD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46540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22734-F5AC-3E35-80AD-BC6B9B0A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A2F418-905A-7AEE-BDD3-5FDF517FA80A}"/>
              </a:ext>
            </a:extLst>
          </p:cNvPr>
          <p:cNvSpPr/>
          <p:nvPr/>
        </p:nvSpPr>
        <p:spPr>
          <a:xfrm>
            <a:off x="0" y="4281715"/>
            <a:ext cx="12192000" cy="2576284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9CB91C7D-5E86-B08A-E0C7-DCF992498C55}"/>
              </a:ext>
            </a:extLst>
          </p:cNvPr>
          <p:cNvSpPr txBox="1"/>
          <p:nvPr/>
        </p:nvSpPr>
        <p:spPr>
          <a:xfrm>
            <a:off x="2253343" y="4644091"/>
            <a:ext cx="7685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Open </a:t>
            </a:r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questions</a:t>
            </a:r>
            <a:endParaRPr lang="hu-HU" sz="3200" dirty="0">
              <a:solidFill>
                <a:schemeClr val="bg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E8AAC-781B-33A8-5DB3-14C29B2EB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342900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DCF283EF-1C8E-2288-2938-6605AA72C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351167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A55BEAAD-4F61-5C73-9345-9BD02E4C48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351920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EF9D573C-6DF0-21FE-9224-E83CA517F54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347764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682C0590-2CE4-7C9A-04EC-438AC7001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65" y="3565567"/>
            <a:ext cx="2261067" cy="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2760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2B01E-A093-C71C-1C64-278AB544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43A7619B-26BD-169E-687C-8FFC2895D62D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Open questions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5807C61-F368-A4FE-F533-985DBA5954D2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FC2ADC1E-8AF4-ACB0-E58F-B3180A2E3B58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Theory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10E2526D-AF6E-6FBE-5C00-C26124D724C4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50DDC46B-312E-9A6B-F9FB-8BC72F313481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Practice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5EE4C022-5EDE-8904-6128-86E78EAD5A4A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3">
            <a:extLst>
              <a:ext uri="{FF2B5EF4-FFF2-40B4-BE49-F238E27FC236}">
                <a16:creationId xmlns:a16="http://schemas.microsoft.com/office/drawing/2014/main" id="{34CEF212-BF28-8A59-3EE1-27CDD7DBE2D7}"/>
              </a:ext>
            </a:extLst>
          </p:cNvPr>
          <p:cNvSpPr txBox="1"/>
          <p:nvPr/>
        </p:nvSpPr>
        <p:spPr>
          <a:xfrm>
            <a:off x="439567" y="2732871"/>
            <a:ext cx="5109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What are necessary conditions for identifiability?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How can we develop selective identifiability methods?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Is it possible to automatically select the level of abstraction and discover concepts?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What are realistic and necessary and sufficient equivalence classes?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Szövegdoboz 23">
            <a:extLst>
              <a:ext uri="{FF2B5EF4-FFF2-40B4-BE49-F238E27FC236}">
                <a16:creationId xmlns:a16="http://schemas.microsoft.com/office/drawing/2014/main" id="{F544EC05-A804-873B-55DB-1B12F97A4EE9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0104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29422-9365-BF37-EF20-BA2ED3E1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7791970-0EB8-280E-F0E2-6308AFABB58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Open questions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D5AB0935-0EEF-89F7-66DE-3CD05AE91EC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5">
            <a:extLst>
              <a:ext uri="{FF2B5EF4-FFF2-40B4-BE49-F238E27FC236}">
                <a16:creationId xmlns:a16="http://schemas.microsoft.com/office/drawing/2014/main" id="{788DAC16-6C45-B1A6-3D90-58E68C3CBD24}"/>
              </a:ext>
            </a:extLst>
          </p:cNvPr>
          <p:cNvSpPr txBox="1"/>
          <p:nvPr/>
        </p:nvSpPr>
        <p:spPr>
          <a:xfrm>
            <a:off x="367862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Theory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19" name="Egyenes összekötő 8">
            <a:extLst>
              <a:ext uri="{FF2B5EF4-FFF2-40B4-BE49-F238E27FC236}">
                <a16:creationId xmlns:a16="http://schemas.microsoft.com/office/drawing/2014/main" id="{C1E21D07-E934-1886-4B03-DE7BBE3CF4FB}"/>
              </a:ext>
            </a:extLst>
          </p:cNvPr>
          <p:cNvCxnSpPr>
            <a:cxnSpLocks/>
          </p:cNvCxnSpPr>
          <p:nvPr/>
        </p:nvCxnSpPr>
        <p:spPr>
          <a:xfrm flipV="1">
            <a:off x="504340" y="2402006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6">
            <a:extLst>
              <a:ext uri="{FF2B5EF4-FFF2-40B4-BE49-F238E27FC236}">
                <a16:creationId xmlns:a16="http://schemas.microsoft.com/office/drawing/2014/main" id="{D9D45298-57A0-B5E6-5AF8-D63568A5E756}"/>
              </a:ext>
            </a:extLst>
          </p:cNvPr>
          <p:cNvSpPr txBox="1"/>
          <p:nvPr/>
        </p:nvSpPr>
        <p:spPr>
          <a:xfrm>
            <a:off x="6723053" y="1885661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Practice</a:t>
            </a:r>
            <a:endParaRPr lang="hu-HU" sz="28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1" name="Egyenes összekötő 10">
            <a:extLst>
              <a:ext uri="{FF2B5EF4-FFF2-40B4-BE49-F238E27FC236}">
                <a16:creationId xmlns:a16="http://schemas.microsoft.com/office/drawing/2014/main" id="{C78C5D83-37E2-D26D-81B0-D0FE6B2B92F9}"/>
              </a:ext>
            </a:extLst>
          </p:cNvPr>
          <p:cNvCxnSpPr>
            <a:cxnSpLocks/>
          </p:cNvCxnSpPr>
          <p:nvPr/>
        </p:nvCxnSpPr>
        <p:spPr>
          <a:xfrm flipV="1">
            <a:off x="6779016" y="2381614"/>
            <a:ext cx="5045122" cy="13473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3">
            <a:extLst>
              <a:ext uri="{FF2B5EF4-FFF2-40B4-BE49-F238E27FC236}">
                <a16:creationId xmlns:a16="http://schemas.microsoft.com/office/drawing/2014/main" id="{74C143BA-F242-0A7F-DA8D-81EC1EA53D70}"/>
              </a:ext>
            </a:extLst>
          </p:cNvPr>
          <p:cNvSpPr txBox="1"/>
          <p:nvPr/>
        </p:nvSpPr>
        <p:spPr>
          <a:xfrm>
            <a:off x="439567" y="2732871"/>
            <a:ext cx="5109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What are necessary conditions for identifiability?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How can we develop selective identifiability methods?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Is it possible to automatically select the level of abstraction and discover concepts?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What are realistic and necessary and sufficient equivalence classes?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Szövegdoboz 3">
            <a:extLst>
              <a:ext uri="{FF2B5EF4-FFF2-40B4-BE49-F238E27FC236}">
                <a16:creationId xmlns:a16="http://schemas.microsoft.com/office/drawing/2014/main" id="{58EA72D8-F072-A85A-DECA-F68EE91DFD9E}"/>
              </a:ext>
            </a:extLst>
          </p:cNvPr>
          <p:cNvSpPr txBox="1"/>
          <p:nvPr/>
        </p:nvSpPr>
        <p:spPr>
          <a:xfrm>
            <a:off x="6737422" y="2732871"/>
            <a:ext cx="51098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How can we make CRL scalable?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How can we efficiently incorporate prior knowledge?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Can we develop optimizers for CRL?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What are realistic and necessary and sufficient equivalence classes?</a:t>
            </a:r>
          </a:p>
          <a:p>
            <a:endParaRPr lang="en-US" sz="20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Szövegdoboz 23">
            <a:extLst>
              <a:ext uri="{FF2B5EF4-FFF2-40B4-BE49-F238E27FC236}">
                <a16:creationId xmlns:a16="http://schemas.microsoft.com/office/drawing/2014/main" id="{2EA39B01-B7D0-DCAA-FB72-1107BB7337A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8566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AF2D6-105E-3E91-738C-5EF59E64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318447-4043-EB11-26B1-366A2AE13CEE}"/>
              </a:ext>
            </a:extLst>
          </p:cNvPr>
          <p:cNvSpPr/>
          <p:nvPr/>
        </p:nvSpPr>
        <p:spPr>
          <a:xfrm>
            <a:off x="0" y="4281715"/>
            <a:ext cx="12192000" cy="2576284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Szövegdoboz 5">
            <a:extLst>
              <a:ext uri="{FF2B5EF4-FFF2-40B4-BE49-F238E27FC236}">
                <a16:creationId xmlns:a16="http://schemas.microsoft.com/office/drawing/2014/main" id="{E224FC7D-4962-FCFE-46D7-BA8315C519C9}"/>
              </a:ext>
            </a:extLst>
          </p:cNvPr>
          <p:cNvSpPr txBox="1"/>
          <p:nvPr/>
        </p:nvSpPr>
        <p:spPr>
          <a:xfrm>
            <a:off x="2253343" y="4644091"/>
            <a:ext cx="7685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Resources</a:t>
            </a:r>
            <a:endParaRPr lang="hu-HU" sz="3200" dirty="0">
              <a:solidFill>
                <a:schemeClr val="bg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E93D6-8E54-C05E-89C8-DC35F73E8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18" y="3429000"/>
            <a:ext cx="2946364" cy="739836"/>
          </a:xfrm>
          <a:prstGeom prst="rect">
            <a:avLst/>
          </a:prstGeom>
        </p:spPr>
      </p:pic>
      <p:pic>
        <p:nvPicPr>
          <p:cNvPr id="5" name="Picture 4" descr="A picture containing clock, screenshot, digital clock&#10;&#10;Description automatically generated">
            <a:extLst>
              <a:ext uri="{FF2B5EF4-FFF2-40B4-BE49-F238E27FC236}">
                <a16:creationId xmlns:a16="http://schemas.microsoft.com/office/drawing/2014/main" id="{BECDACC0-6574-384F-2FA1-E8D7C1462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42" y="3511672"/>
            <a:ext cx="2404215" cy="565698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B4ADABEF-85A3-0000-DD37-0EDA8FB71B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07" y="3519203"/>
            <a:ext cx="1802633" cy="528872"/>
          </a:xfrm>
          <a:prstGeom prst="rect">
            <a:avLst/>
          </a:prstGeom>
        </p:spPr>
      </p:pic>
      <p:pic>
        <p:nvPicPr>
          <p:cNvPr id="10" name="Picture 9" descr="A picture containing text, screenshot, logo, symbol&#10;&#10;Description automatically generated">
            <a:extLst>
              <a:ext uri="{FF2B5EF4-FFF2-40B4-BE49-F238E27FC236}">
                <a16:creationId xmlns:a16="http://schemas.microsoft.com/office/drawing/2014/main" id="{40C9604C-5ED2-0F1E-D654-A73E2D0A8E0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33430"/>
          <a:stretch/>
        </p:blipFill>
        <p:spPr>
          <a:xfrm>
            <a:off x="90160" y="3477643"/>
            <a:ext cx="1873815" cy="626149"/>
          </a:xfrm>
          <a:prstGeom prst="rect">
            <a:avLst/>
          </a:prstGeom>
        </p:spPr>
      </p:pic>
      <p:pic>
        <p:nvPicPr>
          <p:cNvPr id="16" name="Picture 1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59600730-557D-7F7E-1183-56B687B2C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965" y="3565567"/>
            <a:ext cx="2261067" cy="5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4338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2DE05-2D77-EB44-3E39-19936A96F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5AD20D8-BBDA-C7F4-384D-CD7B4693270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Resources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8D3063C-348C-5087-A938-C229D006407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3">
            <a:extLst>
              <a:ext uri="{FF2B5EF4-FFF2-40B4-BE49-F238E27FC236}">
                <a16:creationId xmlns:a16="http://schemas.microsoft.com/office/drawing/2014/main" id="{5730DADA-2E5C-D092-5D9E-3BA30B02E883}"/>
              </a:ext>
            </a:extLst>
          </p:cNvPr>
          <p:cNvSpPr txBox="1"/>
          <p:nvPr/>
        </p:nvSpPr>
        <p:spPr>
          <a:xfrm>
            <a:off x="439567" y="1582944"/>
            <a:ext cx="88429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Unfortunately, </a:t>
            </a:r>
            <a:r>
              <a:rPr lang="en-US" sz="20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 textbook 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yet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Overview works: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Julius von Kügelgen’s and Luigi </a:t>
            </a:r>
            <a:r>
              <a:rPr lang="en-US" sz="2000" dirty="0" err="1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Gresele’s</a:t>
            </a: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theses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Unifying frameworks: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Yao et al.,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Our IEM paper with Siyuan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Sparsity: Sébastien Lachapelle, Kun Zhang’s group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Abstraction: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Temporal models: 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Philipp Lippe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Scientific applications: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Francesco Locatello’s group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D1011B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" name="Szövegdoboz 23">
            <a:extLst>
              <a:ext uri="{FF2B5EF4-FFF2-40B4-BE49-F238E27FC236}">
                <a16:creationId xmlns:a16="http://schemas.microsoft.com/office/drawing/2014/main" id="{483C64CD-911F-0C0E-0CBA-C4A77E7C43B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92630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33506-410C-75C4-7B0D-3F8FFC07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26A95E57-812A-F6E5-BC07-CFE9FF759B6A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common principle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C33BF804-B27B-DE76-EED1-E25C16B19AB2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4C36E2D-252E-1D52-7534-71361587DFA1}"/>
                  </a:ext>
                </a:extLst>
              </p:cNvPr>
              <p:cNvSpPr/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4C36E2D-252E-1D52-7534-71361587D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1D5536-171F-CEBC-CD73-042122CC07CF}"/>
              </a:ext>
            </a:extLst>
          </p:cNvPr>
          <p:cNvCxnSpPr>
            <a:cxnSpLocks/>
          </p:cNvCxnSpPr>
          <p:nvPr/>
        </p:nvCxnSpPr>
        <p:spPr>
          <a:xfrm>
            <a:off x="3560483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33913E-D449-49F8-8FD6-757B923FE522}"/>
              </a:ext>
            </a:extLst>
          </p:cNvPr>
          <p:cNvCxnSpPr>
            <a:cxnSpLocks/>
          </p:cNvCxnSpPr>
          <p:nvPr/>
        </p:nvCxnSpPr>
        <p:spPr>
          <a:xfrm>
            <a:off x="7118071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526AD87C-DA5B-D39B-6BE2-E33677DB930C}"/>
                  </a:ext>
                </a:extLst>
              </p:cNvPr>
              <p:cNvSpPr txBox="1"/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Directed Acyclic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𝐺</m:t>
                    </m:r>
                  </m:oMath>
                </a14:m>
                <a:endParaRPr lang="en-US" sz="2000" b="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526AD87C-DA5B-D39B-6BE2-E33677DB9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C9BF88B6-1604-6FFC-FAC4-3329A126BED3}"/>
              </a:ext>
            </a:extLst>
          </p:cNvPr>
          <p:cNvSpPr/>
          <p:nvPr/>
        </p:nvSpPr>
        <p:spPr>
          <a:xfrm>
            <a:off x="2084371" y="5084164"/>
            <a:ext cx="7741353" cy="950597"/>
          </a:xfrm>
          <a:prstGeom prst="rect">
            <a:avLst/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To identify a variable, it needs to leave a ”footprint” in the data</a:t>
            </a: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3556EA96-59EF-6FA8-A382-0505033ADC62}"/>
              </a:ext>
            </a:extLst>
          </p:cNvPr>
          <p:cNvSpPr txBox="1"/>
          <p:nvPr/>
        </p:nvSpPr>
        <p:spPr>
          <a:xfrm>
            <a:off x="3555604" y="1996153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30E06A26-2A07-2F1A-1846-06419D832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7288" y="3134353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E0A918-6BCD-82A2-05A2-5D541FD4E2A1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E0A918-6BCD-82A2-05A2-5D541FD4E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7D3CB8-953D-1A61-C2EF-A9DEEE94E80E}"/>
                  </a:ext>
                </a:extLst>
              </p:cNvPr>
              <p:cNvSpPr/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7D3CB8-953D-1A61-C2EF-A9DEEE94E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3">
            <a:extLst>
              <a:ext uri="{FF2B5EF4-FFF2-40B4-BE49-F238E27FC236}">
                <a16:creationId xmlns:a16="http://schemas.microsoft.com/office/drawing/2014/main" id="{FB6664F2-068B-7B1D-E6FB-800C28055790}"/>
              </a:ext>
            </a:extLst>
          </p:cNvPr>
          <p:cNvSpPr txBox="1"/>
          <p:nvPr/>
        </p:nvSpPr>
        <p:spPr>
          <a:xfrm>
            <a:off x="7008108" y="1970914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463FA2CD-EAAF-8961-72CB-03B87332F6F9}"/>
              </a:ext>
            </a:extLst>
          </p:cNvPr>
          <p:cNvSpPr/>
          <p:nvPr/>
        </p:nvSpPr>
        <p:spPr>
          <a:xfrm rot="2699970">
            <a:off x="5390747" y="2793772"/>
            <a:ext cx="467482" cy="467482"/>
          </a:xfrm>
          <a:prstGeom prst="mathMultiply">
            <a:avLst>
              <a:gd name="adj1" fmla="val 3697"/>
            </a:avLst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21E165-203E-8F6F-C658-A4B52833886E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21E165-203E-8F6F-C658-A4B52833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9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EBF45C85-7022-6A4A-0219-A020906ED896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119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68126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0D3D4-9338-B288-6138-6E9EFC84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B99FE4D-B7F8-B56E-8819-90DE2085CD94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The common principle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55107B04-2D0F-CED3-F824-3B4780B2130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CBE52A-0062-F66B-080B-B8957637D65E}"/>
                  </a:ext>
                </a:extLst>
              </p:cNvPr>
              <p:cNvSpPr/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Causal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Z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5CBE52A-0062-F66B-080B-B8957637D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5" y="2167999"/>
                <a:ext cx="2500503" cy="597373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DD4DCD-8ED9-2C98-DC37-03649924ED10}"/>
              </a:ext>
            </a:extLst>
          </p:cNvPr>
          <p:cNvCxnSpPr>
            <a:cxnSpLocks/>
          </p:cNvCxnSpPr>
          <p:nvPr/>
        </p:nvCxnSpPr>
        <p:spPr>
          <a:xfrm>
            <a:off x="3560483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48D542-A2DA-17F5-1F67-DB4ACCBCAB12}"/>
              </a:ext>
            </a:extLst>
          </p:cNvPr>
          <p:cNvCxnSpPr>
            <a:cxnSpLocks/>
          </p:cNvCxnSpPr>
          <p:nvPr/>
        </p:nvCxnSpPr>
        <p:spPr>
          <a:xfrm>
            <a:off x="7118071" y="2466685"/>
            <a:ext cx="717720" cy="0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57B6220E-C73B-956A-94B7-2C2747E7D212}"/>
                  </a:ext>
                </a:extLst>
              </p:cNvPr>
              <p:cNvSpPr txBox="1"/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Directed Acyclic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𝐺</m:t>
                    </m:r>
                  </m:oMath>
                </a14:m>
                <a:endParaRPr lang="en-US" sz="2000" b="0" dirty="0">
                  <a:solidFill>
                    <a:srgbClr val="4A8FE3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28" name="Szövegdoboz 3">
                <a:extLst>
                  <a:ext uri="{FF2B5EF4-FFF2-40B4-BE49-F238E27FC236}">
                    <a16:creationId xmlns:a16="http://schemas.microsoft.com/office/drawing/2014/main" id="{57B6220E-C73B-956A-94B7-2C2747E7D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24" y="3972227"/>
                <a:ext cx="3517900" cy="400110"/>
              </a:xfrm>
              <a:prstGeom prst="rect">
                <a:avLst/>
              </a:prstGeom>
              <a:blipFill>
                <a:blip r:embed="rId4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zövegdoboz 3">
            <a:extLst>
              <a:ext uri="{FF2B5EF4-FFF2-40B4-BE49-F238E27FC236}">
                <a16:creationId xmlns:a16="http://schemas.microsoft.com/office/drawing/2014/main" id="{4D611329-CD8F-B047-7748-C3B355076DCB}"/>
              </a:ext>
            </a:extLst>
          </p:cNvPr>
          <p:cNvSpPr txBox="1"/>
          <p:nvPr/>
        </p:nvSpPr>
        <p:spPr>
          <a:xfrm>
            <a:off x="3555604" y="1996153"/>
            <a:ext cx="880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SEM</a:t>
            </a:r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3FF472B4-8FBC-4D96-ECC2-7C1517C4E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7288" y="3134353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7797135-1A74-9B83-5237-D249B0A4B97D}"/>
                  </a:ext>
                </a:extLst>
              </p:cNvPr>
              <p:cNvSpPr/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Source variables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7797135-1A74-9B83-5237-D249B0A4B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8" y="2167999"/>
                <a:ext cx="2500503" cy="597373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7A57DB-CB90-5BCF-F704-12FC394E8D68}"/>
                  </a:ext>
                </a:extLst>
              </p:cNvPr>
              <p:cNvSpPr/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solidFill>
                <a:srgbClr val="4A8F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Observations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O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7A57DB-CB90-5BCF-F704-12FC394E8D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35" y="2167999"/>
                <a:ext cx="2500503" cy="597373"/>
              </a:xfrm>
              <a:prstGeom prst="rect">
                <a:avLst/>
              </a:prstGeom>
              <a:blipFill>
                <a:blip r:embed="rId8"/>
                <a:stretch>
                  <a:fillRect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zövegdoboz 3">
            <a:extLst>
              <a:ext uri="{FF2B5EF4-FFF2-40B4-BE49-F238E27FC236}">
                <a16:creationId xmlns:a16="http://schemas.microsoft.com/office/drawing/2014/main" id="{D1421FF6-44D7-CE59-2037-07F4DEE3FE76}"/>
              </a:ext>
            </a:extLst>
          </p:cNvPr>
          <p:cNvSpPr txBox="1"/>
          <p:nvPr/>
        </p:nvSpPr>
        <p:spPr>
          <a:xfrm>
            <a:off x="7008108" y="1970914"/>
            <a:ext cx="1111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Mixing</a:t>
            </a:r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1C7B3017-E3B1-7F89-334B-6E05464A86A8}"/>
              </a:ext>
            </a:extLst>
          </p:cNvPr>
          <p:cNvSpPr/>
          <p:nvPr/>
        </p:nvSpPr>
        <p:spPr>
          <a:xfrm rot="2699970">
            <a:off x="5390747" y="2793772"/>
            <a:ext cx="467482" cy="467482"/>
          </a:xfrm>
          <a:prstGeom prst="mathMultiply">
            <a:avLst>
              <a:gd name="adj1" fmla="val 3697"/>
            </a:avLst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2B80E7-3D70-7685-A3DC-C26E040E350E}"/>
                  </a:ext>
                </a:extLst>
              </p:cNvPr>
              <p:cNvSpPr txBox="1"/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S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b="0" i="1" dirty="0">
                    <a:solidFill>
                      <a:srgbClr val="4A8FE3"/>
                    </a:solidFill>
                    <a:latin typeface="Cambria Math" panose="02040503050406030204" pitchFamily="18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</a:t>
                </a:r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exogenous source variables</a:t>
                </a:r>
                <a:endParaRPr lang="en-US" sz="1200" b="0" i="1" dirty="0">
                  <a:solidFill>
                    <a:srgbClr val="4A8FE3"/>
                  </a:solidFill>
                  <a:latin typeface="Cambria Math" panose="02040503050406030204" pitchFamily="18" charset="0"/>
                  <a:ea typeface="Helvetica Neue Light" panose="02000403000000020004" pitchFamily="2" charset="0"/>
                  <a:cs typeface="Helvetica Neue Medium" panose="02000503000000020004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𝑍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causal variables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𝑂</m:t>
                    </m:r>
                    <m:r>
                      <a:rPr lang="en-US" sz="1200" b="0" i="1" smtClean="0">
                        <a:solidFill>
                          <a:srgbClr val="4A8FE3"/>
                        </a:solidFill>
                        <a:latin typeface="Cambria Math" panose="02040503050406030204" pitchFamily="18" charset="0"/>
                        <a:ea typeface="Helvetica Neue Light" panose="02000403000000020004" pitchFamily="2" charset="0"/>
                        <a:cs typeface="Helvetica Neue Medium" panose="02000503000000020004" pitchFamily="2" charset="0"/>
                      </a:rPr>
                      <m:t>−</m:t>
                    </m:r>
                  </m:oMath>
                </a14:m>
                <a:r>
                  <a:rPr lang="en-US" sz="1200" dirty="0">
                    <a:solidFill>
                      <a:srgbClr val="4A8FE3"/>
                    </a:solidFill>
                    <a:latin typeface="Helvetica Neue Light" panose="02000403000000020004" pitchFamily="2" charset="0"/>
                    <a:ea typeface="Helvetica Neue Light" panose="02000403000000020004" pitchFamily="2" charset="0"/>
                    <a:cs typeface="Helvetica Neue Medium" panose="02000503000000020004" pitchFamily="2" charset="0"/>
                  </a:rPr>
                  <a:t> observations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2B80E7-3D70-7685-A3DC-C26E040E3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75" y="6100257"/>
                <a:ext cx="2535105" cy="646331"/>
              </a:xfrm>
              <a:prstGeom prst="rect">
                <a:avLst/>
              </a:prstGeom>
              <a:blipFill>
                <a:blip r:embed="rId9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23">
            <a:extLst>
              <a:ext uri="{FF2B5EF4-FFF2-40B4-BE49-F238E27FC236}">
                <a16:creationId xmlns:a16="http://schemas.microsoft.com/office/drawing/2014/main" id="{3F72919F-E2D6-3901-5AB9-7487A8CF69B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82409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1FC45-3C43-282F-97C0-54DD5A83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8DFE9129-543F-FA92-ABBF-41D44AB2C46B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can leave a footprint in the data?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21F154BC-B14E-D8F0-4387-3222219C15C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B72278B-D873-50D9-84F2-3EF505A3A24A}"/>
              </a:ext>
            </a:extLst>
          </p:cNvPr>
          <p:cNvSpPr/>
          <p:nvPr/>
        </p:nvSpPr>
        <p:spPr>
          <a:xfrm>
            <a:off x="4779459" y="236066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29" name="Szövegdoboz 23">
            <a:extLst>
              <a:ext uri="{FF2B5EF4-FFF2-40B4-BE49-F238E27FC236}">
                <a16:creationId xmlns:a16="http://schemas.microsoft.com/office/drawing/2014/main" id="{CD880BB9-D749-512F-B16D-3B264B1F0D6B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50631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04ACA-AF41-F05F-17B7-9B88A3F7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0B9AC88D-359D-301F-E754-BFED214526C3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can leave a footprint in the data?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A3D41DF-9943-71A6-2AC3-871445E4D1F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DA80612-35EC-4D2F-9EBF-9757041D4AE1}"/>
              </a:ext>
            </a:extLst>
          </p:cNvPr>
          <p:cNvSpPr/>
          <p:nvPr/>
        </p:nvSpPr>
        <p:spPr>
          <a:xfrm>
            <a:off x="4779459" y="236066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D9CE21-3276-5AE1-6686-37E6E745732D}"/>
              </a:ext>
            </a:extLst>
          </p:cNvPr>
          <p:cNvCxnSpPr>
            <a:cxnSpLocks/>
          </p:cNvCxnSpPr>
          <p:nvPr/>
        </p:nvCxnSpPr>
        <p:spPr>
          <a:xfrm flipH="1">
            <a:off x="4032411" y="3098081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9DA1A4B-9D35-7129-3065-64DD3DF7C7C1}"/>
              </a:ext>
            </a:extLst>
          </p:cNvPr>
          <p:cNvSpPr/>
          <p:nvPr/>
        </p:nvSpPr>
        <p:spPr>
          <a:xfrm>
            <a:off x="2143416" y="3582246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Distributional</a:t>
            </a:r>
          </a:p>
        </p:txBody>
      </p:sp>
      <p:sp>
        <p:nvSpPr>
          <p:cNvPr id="29" name="Szövegdoboz 23">
            <a:extLst>
              <a:ext uri="{FF2B5EF4-FFF2-40B4-BE49-F238E27FC236}">
                <a16:creationId xmlns:a16="http://schemas.microsoft.com/office/drawing/2014/main" id="{05D7068F-965C-439E-A25A-650FB782EBC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68746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D52FD-D535-376D-ECCE-957C8163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F1E94A3-EF7F-933B-F5C2-C4DDDAF7EE67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can leave a footprint in the data?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80D4E189-F9E0-4FEE-FF15-5CC75ECB4FF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3">
            <a:extLst>
              <a:ext uri="{FF2B5EF4-FFF2-40B4-BE49-F238E27FC236}">
                <a16:creationId xmlns:a16="http://schemas.microsoft.com/office/drawing/2014/main" id="{BB6B2D85-C4EA-505E-B2CD-2960A87EFD18}"/>
              </a:ext>
            </a:extLst>
          </p:cNvPr>
          <p:cNvSpPr txBox="1"/>
          <p:nvPr/>
        </p:nvSpPr>
        <p:spPr>
          <a:xfrm>
            <a:off x="2562020" y="4119130"/>
            <a:ext cx="1315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Non-Gaussian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7C6AC2-D720-8534-D723-D48703B5F8E5}"/>
              </a:ext>
            </a:extLst>
          </p:cNvPr>
          <p:cNvSpPr/>
          <p:nvPr/>
        </p:nvSpPr>
        <p:spPr>
          <a:xfrm>
            <a:off x="4779459" y="236066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C89C32-2919-F7C9-3540-F18D89E56820}"/>
              </a:ext>
            </a:extLst>
          </p:cNvPr>
          <p:cNvCxnSpPr>
            <a:cxnSpLocks/>
          </p:cNvCxnSpPr>
          <p:nvPr/>
        </p:nvCxnSpPr>
        <p:spPr>
          <a:xfrm flipH="1">
            <a:off x="4032411" y="3098081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CC2C98D-3A72-EA77-643A-73934CAC9039}"/>
              </a:ext>
            </a:extLst>
          </p:cNvPr>
          <p:cNvSpPr/>
          <p:nvPr/>
        </p:nvSpPr>
        <p:spPr>
          <a:xfrm>
            <a:off x="2143416" y="3582246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Distributional</a:t>
            </a:r>
          </a:p>
        </p:txBody>
      </p:sp>
      <p:sp>
        <p:nvSpPr>
          <p:cNvPr id="29" name="Szövegdoboz 23">
            <a:extLst>
              <a:ext uri="{FF2B5EF4-FFF2-40B4-BE49-F238E27FC236}">
                <a16:creationId xmlns:a16="http://schemas.microsoft.com/office/drawing/2014/main" id="{DF81B00C-48E0-6B7A-75D5-CC3F4FD7E3C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3267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9DCF1-8D9C-A853-2B1C-CC7F599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1BE30A0-0B6C-A360-DBA2-0FEC75F23C7C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can leave a footprint in the data?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506B55A-AC9E-5122-9F79-C2E021F4EA31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3">
            <a:extLst>
              <a:ext uri="{FF2B5EF4-FFF2-40B4-BE49-F238E27FC236}">
                <a16:creationId xmlns:a16="http://schemas.microsoft.com/office/drawing/2014/main" id="{AC6E6C6F-F9FD-161F-4281-A6DECECB0C5B}"/>
              </a:ext>
            </a:extLst>
          </p:cNvPr>
          <p:cNvSpPr txBox="1"/>
          <p:nvPr/>
        </p:nvSpPr>
        <p:spPr>
          <a:xfrm>
            <a:off x="2562020" y="4119130"/>
            <a:ext cx="1315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Non-Gaussian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BB1E7B-7A86-92BD-A378-E4A2C92EACCE}"/>
              </a:ext>
            </a:extLst>
          </p:cNvPr>
          <p:cNvSpPr/>
          <p:nvPr/>
        </p:nvSpPr>
        <p:spPr>
          <a:xfrm>
            <a:off x="4779459" y="236066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F8E095-DBEF-C911-AF7D-68C54114B4EE}"/>
              </a:ext>
            </a:extLst>
          </p:cNvPr>
          <p:cNvCxnSpPr>
            <a:cxnSpLocks/>
          </p:cNvCxnSpPr>
          <p:nvPr/>
        </p:nvCxnSpPr>
        <p:spPr>
          <a:xfrm>
            <a:off x="7075650" y="312308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616B336-1632-EEC1-1BD9-8F2478A6A396}"/>
              </a:ext>
            </a:extLst>
          </p:cNvPr>
          <p:cNvSpPr/>
          <p:nvPr/>
        </p:nvSpPr>
        <p:spPr>
          <a:xfrm>
            <a:off x="7565522" y="3582246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Functional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A37B6E-8A30-9396-4974-9E0DD1025417}"/>
              </a:ext>
            </a:extLst>
          </p:cNvPr>
          <p:cNvCxnSpPr>
            <a:cxnSpLocks/>
          </p:cNvCxnSpPr>
          <p:nvPr/>
        </p:nvCxnSpPr>
        <p:spPr>
          <a:xfrm flipH="1">
            <a:off x="4032411" y="3098081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225C520-E6EA-3889-99E2-9B8945221E3A}"/>
              </a:ext>
            </a:extLst>
          </p:cNvPr>
          <p:cNvSpPr/>
          <p:nvPr/>
        </p:nvSpPr>
        <p:spPr>
          <a:xfrm>
            <a:off x="2143416" y="3582246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Distributional</a:t>
            </a:r>
          </a:p>
        </p:txBody>
      </p:sp>
      <p:sp>
        <p:nvSpPr>
          <p:cNvPr id="29" name="Szövegdoboz 23">
            <a:extLst>
              <a:ext uri="{FF2B5EF4-FFF2-40B4-BE49-F238E27FC236}">
                <a16:creationId xmlns:a16="http://schemas.microsoft.com/office/drawing/2014/main" id="{47B08860-CD0F-5194-5F5C-652F46F6B67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8836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68E1A-E6A8-19D2-0E76-0D6457B1B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4EBEA80-B81F-CE8E-758E-708669D7D5E8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What can leave a footprint in the data?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73C4F49C-96CC-F311-05C0-608419F30F0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3">
            <a:extLst>
              <a:ext uri="{FF2B5EF4-FFF2-40B4-BE49-F238E27FC236}">
                <a16:creationId xmlns:a16="http://schemas.microsoft.com/office/drawing/2014/main" id="{5FE72610-4E35-C612-1F40-B8F80740432B}"/>
              </a:ext>
            </a:extLst>
          </p:cNvPr>
          <p:cNvSpPr txBox="1"/>
          <p:nvPr/>
        </p:nvSpPr>
        <p:spPr>
          <a:xfrm>
            <a:off x="2562020" y="4119130"/>
            <a:ext cx="1315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Non-Gaussian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623F36-964E-7064-DF5A-EDE1E39A6A9A}"/>
              </a:ext>
            </a:extLst>
          </p:cNvPr>
          <p:cNvSpPr/>
          <p:nvPr/>
        </p:nvSpPr>
        <p:spPr>
          <a:xfrm>
            <a:off x="4779459" y="236066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E412FA-833E-1BA4-0C87-BA567DB46453}"/>
              </a:ext>
            </a:extLst>
          </p:cNvPr>
          <p:cNvCxnSpPr>
            <a:cxnSpLocks/>
          </p:cNvCxnSpPr>
          <p:nvPr/>
        </p:nvCxnSpPr>
        <p:spPr>
          <a:xfrm>
            <a:off x="7075650" y="312308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ECE8277-1B7C-3796-D38D-540489F5AEE4}"/>
              </a:ext>
            </a:extLst>
          </p:cNvPr>
          <p:cNvSpPr/>
          <p:nvPr/>
        </p:nvSpPr>
        <p:spPr>
          <a:xfrm>
            <a:off x="7565522" y="3582246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Functional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4B6017-F1FC-27DB-1D8D-0970303889D2}"/>
              </a:ext>
            </a:extLst>
          </p:cNvPr>
          <p:cNvCxnSpPr>
            <a:cxnSpLocks/>
          </p:cNvCxnSpPr>
          <p:nvPr/>
        </p:nvCxnSpPr>
        <p:spPr>
          <a:xfrm flipH="1">
            <a:off x="4032411" y="3098081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7D2A309-B2DD-78FB-A4F0-5D23A9043B6F}"/>
              </a:ext>
            </a:extLst>
          </p:cNvPr>
          <p:cNvSpPr/>
          <p:nvPr/>
        </p:nvSpPr>
        <p:spPr>
          <a:xfrm>
            <a:off x="2143416" y="3582246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Distributional</a:t>
            </a:r>
          </a:p>
        </p:txBody>
      </p:sp>
      <p:sp>
        <p:nvSpPr>
          <p:cNvPr id="28" name="Szövegdoboz 3">
            <a:extLst>
              <a:ext uri="{FF2B5EF4-FFF2-40B4-BE49-F238E27FC236}">
                <a16:creationId xmlns:a16="http://schemas.microsoft.com/office/drawing/2014/main" id="{4BCEDBEF-D469-D1CC-ADA0-E7F89B266D2B}"/>
              </a:ext>
            </a:extLst>
          </p:cNvPr>
          <p:cNvSpPr txBox="1"/>
          <p:nvPr/>
        </p:nvSpPr>
        <p:spPr>
          <a:xfrm>
            <a:off x="7809105" y="4119130"/>
            <a:ext cx="40638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Linear</a:t>
            </a:r>
          </a:p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Additive</a:t>
            </a:r>
          </a:p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IMA (~orthogonal)</a:t>
            </a:r>
          </a:p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Post-nonlinear (additive + nonlinearity)</a:t>
            </a:r>
          </a:p>
        </p:txBody>
      </p:sp>
      <p:sp>
        <p:nvSpPr>
          <p:cNvPr id="29" name="Szövegdoboz 23">
            <a:extLst>
              <a:ext uri="{FF2B5EF4-FFF2-40B4-BE49-F238E27FC236}">
                <a16:creationId xmlns:a16="http://schemas.microsoft.com/office/drawing/2014/main" id="{747BA8BC-E011-B3F6-750D-27F3B484366E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5323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AF7EC-8D49-4992-AA04-4AEBA0ACA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D159DC73-5DED-DEB6-E79F-2C347328B11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F7AD0DA0-78C6-03F7-0D83-4727E3FD0919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62982DC-FCD7-F0FE-5C73-EF3CDE479B43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9A7B60EE-7BC2-9426-5496-19E9E1C04AF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3784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07C80-900F-F363-6319-577EBCFD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3C298907-330D-67E3-6D0B-7216B707357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23FD4C5-3147-9984-DA70-914EBC79EB05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7ACD194-B2AC-852A-126F-CE3C9F6194A8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A0D4CA-9003-0B6D-F64B-92DF3BBEE1EC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8652403-399D-A97E-10A9-53EF49762930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</a:t>
            </a:r>
          </a:p>
        </p:txBody>
      </p:sp>
      <p:sp>
        <p:nvSpPr>
          <p:cNvPr id="38" name="Szövegdoboz 3">
            <a:extLst>
              <a:ext uri="{FF2B5EF4-FFF2-40B4-BE49-F238E27FC236}">
                <a16:creationId xmlns:a16="http://schemas.microsoft.com/office/drawing/2014/main" id="{73C4124E-F93B-AC37-1E28-9323CD01BFE2}"/>
              </a:ext>
            </a:extLst>
          </p:cNvPr>
          <p:cNvSpPr txBox="1"/>
          <p:nvPr/>
        </p:nvSpPr>
        <p:spPr>
          <a:xfrm>
            <a:off x="7606838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Active</a:t>
            </a: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BDDBCCEA-0758-18DF-68B1-E91B9DD07119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127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59227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CE3FD-E532-8D7D-95FD-7CFCC1E9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EB9EAA54-06C8-79AA-0FC2-F641DE7AE18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B1EA4B8B-3760-7880-885D-11F06E86CCC0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F2D22EC-C8AA-2BDD-34C8-13DC0E93F6D9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04571A-E9D6-F869-2E3B-179148D0635B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80423-D95F-D6D3-0A79-A57EABC1C55B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20C79E-2CA4-0DCF-1254-F757149FD913}"/>
              </a:ext>
            </a:extLst>
          </p:cNvPr>
          <p:cNvSpPr/>
          <p:nvPr/>
        </p:nvSpPr>
        <p:spPr>
          <a:xfrm>
            <a:off x="6743991" y="3675059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Imperfect (soft)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239A72-41AB-9779-570D-CD494B826871}"/>
              </a:ext>
            </a:extLst>
          </p:cNvPr>
          <p:cNvCxnSpPr>
            <a:cxnSpLocks/>
          </p:cNvCxnSpPr>
          <p:nvPr/>
        </p:nvCxnSpPr>
        <p:spPr>
          <a:xfrm flipH="1">
            <a:off x="76685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zövegdoboz 3">
            <a:extLst>
              <a:ext uri="{FF2B5EF4-FFF2-40B4-BE49-F238E27FC236}">
                <a16:creationId xmlns:a16="http://schemas.microsoft.com/office/drawing/2014/main" id="{FFEF2C84-7E60-0797-CC7F-C6BFF170F195}"/>
              </a:ext>
            </a:extLst>
          </p:cNvPr>
          <p:cNvSpPr txBox="1"/>
          <p:nvPr/>
        </p:nvSpPr>
        <p:spPr>
          <a:xfrm>
            <a:off x="7606838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Active</a:t>
            </a:r>
          </a:p>
        </p:txBody>
      </p:sp>
      <p:sp>
        <p:nvSpPr>
          <p:cNvPr id="43" name="Szövegdoboz 3">
            <a:extLst>
              <a:ext uri="{FF2B5EF4-FFF2-40B4-BE49-F238E27FC236}">
                <a16:creationId xmlns:a16="http://schemas.microsoft.com/office/drawing/2014/main" id="{A547F845-E9D4-8C2F-EBE7-0BC92633C6EF}"/>
              </a:ext>
            </a:extLst>
          </p:cNvPr>
          <p:cNvSpPr txBox="1"/>
          <p:nvPr/>
        </p:nvSpPr>
        <p:spPr>
          <a:xfrm>
            <a:off x="6865146" y="4219087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Educational campaign</a:t>
            </a: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A7B658D1-CD65-5E9E-9AAE-5493ACB2B1D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128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85738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ECD5F-340B-5D1B-760E-3CC3B7DD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1789D0D-DEF7-672E-3023-5F81B797A08F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66A338AD-246C-A5A3-4FDD-4DA5EA01357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E2D5E96-E918-50D9-1404-CD6594BBF4C1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5D0FBD-3C43-548E-ADE9-77ABBA9E2B7C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7B44BDB-5E77-6CCD-A022-C1A184982319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A75F9E-F181-3871-9FA9-A9E942283741}"/>
              </a:ext>
            </a:extLst>
          </p:cNvPr>
          <p:cNvCxnSpPr>
            <a:cxnSpLocks/>
          </p:cNvCxnSpPr>
          <p:nvPr/>
        </p:nvCxnSpPr>
        <p:spPr>
          <a:xfrm>
            <a:off x="93830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5D93240-D94B-693C-BF96-72C8B607EA75}"/>
              </a:ext>
            </a:extLst>
          </p:cNvPr>
          <p:cNvSpPr/>
          <p:nvPr/>
        </p:nvSpPr>
        <p:spPr>
          <a:xfrm>
            <a:off x="9594347" y="3682203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Perfect (hard)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943CC9-A0C4-0BF8-0B57-9D8C060870FB}"/>
              </a:ext>
            </a:extLst>
          </p:cNvPr>
          <p:cNvSpPr/>
          <p:nvPr/>
        </p:nvSpPr>
        <p:spPr>
          <a:xfrm>
            <a:off x="6743991" y="3675059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Imperfect (soft)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2E9F4B-9CE0-E2AF-3A23-868FC7A8C257}"/>
              </a:ext>
            </a:extLst>
          </p:cNvPr>
          <p:cNvCxnSpPr>
            <a:cxnSpLocks/>
          </p:cNvCxnSpPr>
          <p:nvPr/>
        </p:nvCxnSpPr>
        <p:spPr>
          <a:xfrm flipH="1">
            <a:off x="76685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zövegdoboz 3">
            <a:extLst>
              <a:ext uri="{FF2B5EF4-FFF2-40B4-BE49-F238E27FC236}">
                <a16:creationId xmlns:a16="http://schemas.microsoft.com/office/drawing/2014/main" id="{A045EC77-9547-DD84-CACB-03017341BE02}"/>
              </a:ext>
            </a:extLst>
          </p:cNvPr>
          <p:cNvSpPr txBox="1"/>
          <p:nvPr/>
        </p:nvSpPr>
        <p:spPr>
          <a:xfrm>
            <a:off x="7606838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Active</a:t>
            </a:r>
          </a:p>
        </p:txBody>
      </p:sp>
      <p:sp>
        <p:nvSpPr>
          <p:cNvPr id="42" name="Szövegdoboz 3">
            <a:extLst>
              <a:ext uri="{FF2B5EF4-FFF2-40B4-BE49-F238E27FC236}">
                <a16:creationId xmlns:a16="http://schemas.microsoft.com/office/drawing/2014/main" id="{81C7E9D8-8904-CF62-ECD0-D0BA1E1BF6C8}"/>
              </a:ext>
            </a:extLst>
          </p:cNvPr>
          <p:cNvSpPr txBox="1"/>
          <p:nvPr/>
        </p:nvSpPr>
        <p:spPr>
          <a:xfrm>
            <a:off x="10101263" y="4219087"/>
            <a:ext cx="162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 ban</a:t>
            </a:r>
          </a:p>
        </p:txBody>
      </p:sp>
      <p:sp>
        <p:nvSpPr>
          <p:cNvPr id="43" name="Szövegdoboz 3">
            <a:extLst>
              <a:ext uri="{FF2B5EF4-FFF2-40B4-BE49-F238E27FC236}">
                <a16:creationId xmlns:a16="http://schemas.microsoft.com/office/drawing/2014/main" id="{53BB0059-81BE-F3CB-E8A7-E02DC5C7EE8D}"/>
              </a:ext>
            </a:extLst>
          </p:cNvPr>
          <p:cNvSpPr txBox="1"/>
          <p:nvPr/>
        </p:nvSpPr>
        <p:spPr>
          <a:xfrm>
            <a:off x="6865146" y="4219087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Educational campaign</a:t>
            </a: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8FAB1A43-C5F8-DE86-365E-4F4951C8FE05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129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2039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74E71-0036-9AEE-7F85-F8798915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00597D4-8543-2182-3BC2-4CE82477BB9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D602E64-5204-517D-520A-E01634FAE67F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4B89D05-D2B0-C46A-95B7-3F6E31C72029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02B202-37DF-8A11-DAD6-5EFCA7AA2A2D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E75B38C-2867-8CC6-4192-29B5108FB3C5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9B406C-BFA3-F057-1252-18905EA13EDF}"/>
              </a:ext>
            </a:extLst>
          </p:cNvPr>
          <p:cNvCxnSpPr>
            <a:cxnSpLocks/>
          </p:cNvCxnSpPr>
          <p:nvPr/>
        </p:nvCxnSpPr>
        <p:spPr>
          <a:xfrm>
            <a:off x="93830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B344F42-C8D7-775B-DB2D-94942871AF97}"/>
              </a:ext>
            </a:extLst>
          </p:cNvPr>
          <p:cNvSpPr/>
          <p:nvPr/>
        </p:nvSpPr>
        <p:spPr>
          <a:xfrm>
            <a:off x="9594347" y="3682203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Perfect (hard)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B7A87A-7518-6819-4F09-3FD7F65606AA}"/>
              </a:ext>
            </a:extLst>
          </p:cNvPr>
          <p:cNvSpPr/>
          <p:nvPr/>
        </p:nvSpPr>
        <p:spPr>
          <a:xfrm>
            <a:off x="6743991" y="3675059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Imperfect (soft)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1110F0F-776D-113C-8BC4-9D1FB0AA91C0}"/>
              </a:ext>
            </a:extLst>
          </p:cNvPr>
          <p:cNvCxnSpPr>
            <a:cxnSpLocks/>
          </p:cNvCxnSpPr>
          <p:nvPr/>
        </p:nvCxnSpPr>
        <p:spPr>
          <a:xfrm flipH="1">
            <a:off x="76685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2FA181-481E-E11A-EA6D-00BCC3FB4D90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3DB39EA-A462-8D2E-DFC4-835F25E5F757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 shift</a:t>
            </a:r>
          </a:p>
        </p:txBody>
      </p:sp>
      <p:sp>
        <p:nvSpPr>
          <p:cNvPr id="37" name="Szövegdoboz 3">
            <a:extLst>
              <a:ext uri="{FF2B5EF4-FFF2-40B4-BE49-F238E27FC236}">
                <a16:creationId xmlns:a16="http://schemas.microsoft.com/office/drawing/2014/main" id="{728BED67-83FB-B806-7C1D-F40E1E8AF8EA}"/>
              </a:ext>
            </a:extLst>
          </p:cNvPr>
          <p:cNvSpPr txBox="1"/>
          <p:nvPr/>
        </p:nvSpPr>
        <p:spPr>
          <a:xfrm>
            <a:off x="3306301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Passive</a:t>
            </a:r>
          </a:p>
        </p:txBody>
      </p:sp>
      <p:sp>
        <p:nvSpPr>
          <p:cNvPr id="38" name="Szövegdoboz 3">
            <a:extLst>
              <a:ext uri="{FF2B5EF4-FFF2-40B4-BE49-F238E27FC236}">
                <a16:creationId xmlns:a16="http://schemas.microsoft.com/office/drawing/2014/main" id="{7DEEB093-4389-D92A-C354-CE2AD1748275}"/>
              </a:ext>
            </a:extLst>
          </p:cNvPr>
          <p:cNvSpPr txBox="1"/>
          <p:nvPr/>
        </p:nvSpPr>
        <p:spPr>
          <a:xfrm>
            <a:off x="7606838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Active</a:t>
            </a:r>
          </a:p>
        </p:txBody>
      </p:sp>
      <p:sp>
        <p:nvSpPr>
          <p:cNvPr id="42" name="Szövegdoboz 3">
            <a:extLst>
              <a:ext uri="{FF2B5EF4-FFF2-40B4-BE49-F238E27FC236}">
                <a16:creationId xmlns:a16="http://schemas.microsoft.com/office/drawing/2014/main" id="{FBBC7C2A-7462-2C34-B71B-F465AB490FF0}"/>
              </a:ext>
            </a:extLst>
          </p:cNvPr>
          <p:cNvSpPr txBox="1"/>
          <p:nvPr/>
        </p:nvSpPr>
        <p:spPr>
          <a:xfrm>
            <a:off x="10101263" y="4219087"/>
            <a:ext cx="162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 ban</a:t>
            </a:r>
          </a:p>
        </p:txBody>
      </p:sp>
      <p:sp>
        <p:nvSpPr>
          <p:cNvPr id="43" name="Szövegdoboz 3">
            <a:extLst>
              <a:ext uri="{FF2B5EF4-FFF2-40B4-BE49-F238E27FC236}">
                <a16:creationId xmlns:a16="http://schemas.microsoft.com/office/drawing/2014/main" id="{8A31CBAB-CC74-9620-9F56-39E9BD76A42C}"/>
              </a:ext>
            </a:extLst>
          </p:cNvPr>
          <p:cNvSpPr txBox="1"/>
          <p:nvPr/>
        </p:nvSpPr>
        <p:spPr>
          <a:xfrm>
            <a:off x="6865146" y="4219087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Educational campaign</a:t>
            </a: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86FB0A29-1777-A290-FAD1-8630E39F9E0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130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40849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90C8E-82F9-0FE4-8529-5B629C12B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71C29812-A5B3-3981-7214-506D5B2A47B1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12E38EC6-B63F-4C65-3B56-D5A1D98631F8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6D6A6DB-AFFE-91EE-7FAC-F449E4A5B609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6BA79E-33C5-9760-2EFD-265B0C9EF146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938E5-7919-3666-C9BD-D7DAFD3F7E9D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32F0C0-89ED-5EE3-C0B9-74BAAD909C62}"/>
              </a:ext>
            </a:extLst>
          </p:cNvPr>
          <p:cNvCxnSpPr>
            <a:cxnSpLocks/>
          </p:cNvCxnSpPr>
          <p:nvPr/>
        </p:nvCxnSpPr>
        <p:spPr>
          <a:xfrm>
            <a:off x="93830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08DF5C4-82C2-7181-9FA8-1819C02B6F52}"/>
              </a:ext>
            </a:extLst>
          </p:cNvPr>
          <p:cNvSpPr/>
          <p:nvPr/>
        </p:nvSpPr>
        <p:spPr>
          <a:xfrm>
            <a:off x="9594347" y="3682203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Perfect (hard)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A70268-A9D7-6C5F-3B65-81129192ECC5}"/>
              </a:ext>
            </a:extLst>
          </p:cNvPr>
          <p:cNvSpPr/>
          <p:nvPr/>
        </p:nvSpPr>
        <p:spPr>
          <a:xfrm>
            <a:off x="6743991" y="3675059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Imperfect (soft)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0CAFA89-666F-0D6A-1FE4-C07BF0B4D716}"/>
              </a:ext>
            </a:extLst>
          </p:cNvPr>
          <p:cNvCxnSpPr>
            <a:cxnSpLocks/>
          </p:cNvCxnSpPr>
          <p:nvPr/>
        </p:nvCxnSpPr>
        <p:spPr>
          <a:xfrm flipH="1">
            <a:off x="76685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CBEE90-4651-15A7-7E2F-A5D0CB63F92B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F78F766-3296-386F-117B-EF7267534E35}"/>
              </a:ext>
            </a:extLst>
          </p:cNvPr>
          <p:cNvSpPr/>
          <p:nvPr/>
        </p:nvSpPr>
        <p:spPr>
          <a:xfrm>
            <a:off x="803817" y="3675059"/>
            <a:ext cx="2207420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D809191-4F97-A795-5862-4A3B58F96950}"/>
              </a:ext>
            </a:extLst>
          </p:cNvPr>
          <p:cNvCxnSpPr>
            <a:cxnSpLocks/>
          </p:cNvCxnSpPr>
          <p:nvPr/>
        </p:nvCxnSpPr>
        <p:spPr>
          <a:xfrm flipH="1">
            <a:off x="2032162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9913A8C-2A4E-FE67-79AF-A82146135A1B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 shift</a:t>
            </a:r>
          </a:p>
        </p:txBody>
      </p:sp>
      <p:sp>
        <p:nvSpPr>
          <p:cNvPr id="37" name="Szövegdoboz 3">
            <a:extLst>
              <a:ext uri="{FF2B5EF4-FFF2-40B4-BE49-F238E27FC236}">
                <a16:creationId xmlns:a16="http://schemas.microsoft.com/office/drawing/2014/main" id="{FD9E35E2-66BF-EF55-D17F-D11F71609746}"/>
              </a:ext>
            </a:extLst>
          </p:cNvPr>
          <p:cNvSpPr txBox="1"/>
          <p:nvPr/>
        </p:nvSpPr>
        <p:spPr>
          <a:xfrm>
            <a:off x="3306301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Passive</a:t>
            </a:r>
          </a:p>
        </p:txBody>
      </p:sp>
      <p:sp>
        <p:nvSpPr>
          <p:cNvPr id="38" name="Szövegdoboz 3">
            <a:extLst>
              <a:ext uri="{FF2B5EF4-FFF2-40B4-BE49-F238E27FC236}">
                <a16:creationId xmlns:a16="http://schemas.microsoft.com/office/drawing/2014/main" id="{A183920A-B46D-9AF0-2908-3D88C032B356}"/>
              </a:ext>
            </a:extLst>
          </p:cNvPr>
          <p:cNvSpPr txBox="1"/>
          <p:nvPr/>
        </p:nvSpPr>
        <p:spPr>
          <a:xfrm>
            <a:off x="7606838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Active</a:t>
            </a:r>
          </a:p>
        </p:txBody>
      </p:sp>
      <p:sp>
        <p:nvSpPr>
          <p:cNvPr id="41" name="Szövegdoboz 3">
            <a:extLst>
              <a:ext uri="{FF2B5EF4-FFF2-40B4-BE49-F238E27FC236}">
                <a16:creationId xmlns:a16="http://schemas.microsoft.com/office/drawing/2014/main" id="{FC16AE63-7FDA-9487-A69F-2D3C48254506}"/>
              </a:ext>
            </a:extLst>
          </p:cNvPr>
          <p:cNvSpPr txBox="1"/>
          <p:nvPr/>
        </p:nvSpPr>
        <p:spPr>
          <a:xfrm>
            <a:off x="864684" y="4177606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Blue- vs White-collar</a:t>
            </a:r>
          </a:p>
        </p:txBody>
      </p:sp>
      <p:sp>
        <p:nvSpPr>
          <p:cNvPr id="42" name="Szövegdoboz 3">
            <a:extLst>
              <a:ext uri="{FF2B5EF4-FFF2-40B4-BE49-F238E27FC236}">
                <a16:creationId xmlns:a16="http://schemas.microsoft.com/office/drawing/2014/main" id="{A449AEDE-ABA0-6C20-923D-0E55945B7953}"/>
              </a:ext>
            </a:extLst>
          </p:cNvPr>
          <p:cNvSpPr txBox="1"/>
          <p:nvPr/>
        </p:nvSpPr>
        <p:spPr>
          <a:xfrm>
            <a:off x="10101263" y="4219087"/>
            <a:ext cx="162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 ban</a:t>
            </a:r>
          </a:p>
        </p:txBody>
      </p:sp>
      <p:sp>
        <p:nvSpPr>
          <p:cNvPr id="43" name="Szövegdoboz 3">
            <a:extLst>
              <a:ext uri="{FF2B5EF4-FFF2-40B4-BE49-F238E27FC236}">
                <a16:creationId xmlns:a16="http://schemas.microsoft.com/office/drawing/2014/main" id="{7F29C76A-0A80-8169-F750-75B73E70193C}"/>
              </a:ext>
            </a:extLst>
          </p:cNvPr>
          <p:cNvSpPr txBox="1"/>
          <p:nvPr/>
        </p:nvSpPr>
        <p:spPr>
          <a:xfrm>
            <a:off x="6865146" y="4219087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Educational campaign</a:t>
            </a: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742EE55F-78C7-298F-FA53-3ACC67FA94B2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131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08205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83B36-4D7C-6AFA-946E-5CB520AF7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D94DA14-2096-66DD-5582-ADA0C0E7B138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F7EEF19F-440C-1EA3-8E1C-F35E5130F423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DEDAAC4-8E47-C11F-35B2-03FA6E8AC88B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142182-A541-DE6D-DC4C-79C8822C7DCA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6B9D894-7738-0575-9722-D88307AC43CF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B60333-72DB-EDA4-1E6D-EB998B6F8E10}"/>
              </a:ext>
            </a:extLst>
          </p:cNvPr>
          <p:cNvCxnSpPr>
            <a:cxnSpLocks/>
          </p:cNvCxnSpPr>
          <p:nvPr/>
        </p:nvCxnSpPr>
        <p:spPr>
          <a:xfrm>
            <a:off x="93830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0E3BE75-DB59-0431-2387-AF86DA7F5D91}"/>
              </a:ext>
            </a:extLst>
          </p:cNvPr>
          <p:cNvSpPr/>
          <p:nvPr/>
        </p:nvSpPr>
        <p:spPr>
          <a:xfrm>
            <a:off x="9594347" y="3682203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Perfect (hard)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CBFB63-D9FA-A9AE-F8F5-DE84A81B2FCE}"/>
              </a:ext>
            </a:extLst>
          </p:cNvPr>
          <p:cNvSpPr/>
          <p:nvPr/>
        </p:nvSpPr>
        <p:spPr>
          <a:xfrm>
            <a:off x="6743991" y="3675059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Imperfect (soft)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8EB6A5-5D5A-5B7C-7480-0EC10EAD08DF}"/>
              </a:ext>
            </a:extLst>
          </p:cNvPr>
          <p:cNvCxnSpPr>
            <a:cxnSpLocks/>
          </p:cNvCxnSpPr>
          <p:nvPr/>
        </p:nvCxnSpPr>
        <p:spPr>
          <a:xfrm flipH="1">
            <a:off x="76685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B46A943-E40F-DF39-F4C2-CA9E228DDFC2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BF1C4AB-04C9-4721-E517-1E3DB8DD3DDE}"/>
              </a:ext>
            </a:extLst>
          </p:cNvPr>
          <p:cNvSpPr/>
          <p:nvPr/>
        </p:nvSpPr>
        <p:spPr>
          <a:xfrm>
            <a:off x="864684" y="4666841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681DAE-5BB0-EB6E-919C-A98F5E8AEF9D}"/>
              </a:ext>
            </a:extLst>
          </p:cNvPr>
          <p:cNvSpPr/>
          <p:nvPr/>
        </p:nvSpPr>
        <p:spPr>
          <a:xfrm>
            <a:off x="803817" y="3675059"/>
            <a:ext cx="2207420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D9250F1-DBD9-34E4-971B-12DE60B8AB73}"/>
              </a:ext>
            </a:extLst>
          </p:cNvPr>
          <p:cNvCxnSpPr>
            <a:cxnSpLocks/>
          </p:cNvCxnSpPr>
          <p:nvPr/>
        </p:nvCxnSpPr>
        <p:spPr>
          <a:xfrm flipH="1">
            <a:off x="2032162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0F3A079-0222-233F-B496-F917316B3037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 shift</a:t>
            </a:r>
          </a:p>
        </p:txBody>
      </p:sp>
      <p:sp>
        <p:nvSpPr>
          <p:cNvPr id="37" name="Szövegdoboz 3">
            <a:extLst>
              <a:ext uri="{FF2B5EF4-FFF2-40B4-BE49-F238E27FC236}">
                <a16:creationId xmlns:a16="http://schemas.microsoft.com/office/drawing/2014/main" id="{8A7ACD8D-ABF2-3F2B-486D-EEB37B2BA000}"/>
              </a:ext>
            </a:extLst>
          </p:cNvPr>
          <p:cNvSpPr txBox="1"/>
          <p:nvPr/>
        </p:nvSpPr>
        <p:spPr>
          <a:xfrm>
            <a:off x="3306301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Passive</a:t>
            </a:r>
          </a:p>
        </p:txBody>
      </p:sp>
      <p:sp>
        <p:nvSpPr>
          <p:cNvPr id="38" name="Szövegdoboz 3">
            <a:extLst>
              <a:ext uri="{FF2B5EF4-FFF2-40B4-BE49-F238E27FC236}">
                <a16:creationId xmlns:a16="http://schemas.microsoft.com/office/drawing/2014/main" id="{13AF796E-BD40-A99C-1228-254B326F8F85}"/>
              </a:ext>
            </a:extLst>
          </p:cNvPr>
          <p:cNvSpPr txBox="1"/>
          <p:nvPr/>
        </p:nvSpPr>
        <p:spPr>
          <a:xfrm>
            <a:off x="7606838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Active</a:t>
            </a:r>
          </a:p>
        </p:txBody>
      </p:sp>
      <p:sp>
        <p:nvSpPr>
          <p:cNvPr id="41" name="Szövegdoboz 3">
            <a:extLst>
              <a:ext uri="{FF2B5EF4-FFF2-40B4-BE49-F238E27FC236}">
                <a16:creationId xmlns:a16="http://schemas.microsoft.com/office/drawing/2014/main" id="{F5DADB8B-F552-73D5-D360-A07184C978FD}"/>
              </a:ext>
            </a:extLst>
          </p:cNvPr>
          <p:cNvSpPr txBox="1"/>
          <p:nvPr/>
        </p:nvSpPr>
        <p:spPr>
          <a:xfrm>
            <a:off x="864684" y="4177606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Blue- vs White-collar</a:t>
            </a:r>
          </a:p>
        </p:txBody>
      </p:sp>
      <p:sp>
        <p:nvSpPr>
          <p:cNvPr id="42" name="Szövegdoboz 3">
            <a:extLst>
              <a:ext uri="{FF2B5EF4-FFF2-40B4-BE49-F238E27FC236}">
                <a16:creationId xmlns:a16="http://schemas.microsoft.com/office/drawing/2014/main" id="{D647FC82-64F6-2DC7-4F1F-EF85B09D6065}"/>
              </a:ext>
            </a:extLst>
          </p:cNvPr>
          <p:cNvSpPr txBox="1"/>
          <p:nvPr/>
        </p:nvSpPr>
        <p:spPr>
          <a:xfrm>
            <a:off x="10101263" y="4219087"/>
            <a:ext cx="162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 ban</a:t>
            </a:r>
          </a:p>
        </p:txBody>
      </p:sp>
      <p:sp>
        <p:nvSpPr>
          <p:cNvPr id="43" name="Szövegdoboz 3">
            <a:extLst>
              <a:ext uri="{FF2B5EF4-FFF2-40B4-BE49-F238E27FC236}">
                <a16:creationId xmlns:a16="http://schemas.microsoft.com/office/drawing/2014/main" id="{310CED05-6AFE-9247-263D-97E5BBF0499D}"/>
              </a:ext>
            </a:extLst>
          </p:cNvPr>
          <p:cNvSpPr txBox="1"/>
          <p:nvPr/>
        </p:nvSpPr>
        <p:spPr>
          <a:xfrm>
            <a:off x="6865146" y="4219087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Educational campaign</a:t>
            </a:r>
          </a:p>
        </p:txBody>
      </p:sp>
      <p:sp>
        <p:nvSpPr>
          <p:cNvPr id="44" name="Szövegdoboz 3">
            <a:extLst>
              <a:ext uri="{FF2B5EF4-FFF2-40B4-BE49-F238E27FC236}">
                <a16:creationId xmlns:a16="http://schemas.microsoft.com/office/drawing/2014/main" id="{C2C4D7EE-98B9-F2B8-4F62-50AC2D7A257F}"/>
              </a:ext>
            </a:extLst>
          </p:cNvPr>
          <p:cNvSpPr txBox="1"/>
          <p:nvPr/>
        </p:nvSpPr>
        <p:spPr>
          <a:xfrm>
            <a:off x="864684" y="5165114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X-Ray + CO</a:t>
            </a:r>
            <a:r>
              <a:rPr lang="en-US" sz="1400" baseline="-25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2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retention</a:t>
            </a: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BD630DED-BBA5-E537-4693-58487B6C451C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132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39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0A36B-A937-6404-82CD-1B22076E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7A405FE-F39C-5003-96A9-7EF3366EA115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3200" dirty="0" err="1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i.i.d.</a:t>
            </a:r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data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91D34CE0-7659-DDE5-97A4-5C32E3A6D92B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0305028-67F4-43E6-D43E-D77C448732AE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Non-</a:t>
            </a:r>
            <a:r>
              <a:rPr lang="en-US" sz="20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i.i.d.</a:t>
            </a:r>
            <a:endParaRPr lang="en-US" sz="20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8959B7-5CDB-BA8E-4BB2-FFAD33E9CAF5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BD65D1C-F0BB-F49E-4D4F-233C3635BFBD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Intervention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37A9B9-1354-ACAE-07BC-2711FD4A1B97}"/>
              </a:ext>
            </a:extLst>
          </p:cNvPr>
          <p:cNvCxnSpPr>
            <a:cxnSpLocks/>
          </p:cNvCxnSpPr>
          <p:nvPr/>
        </p:nvCxnSpPr>
        <p:spPr>
          <a:xfrm>
            <a:off x="93830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CC01D9F-D882-66B3-1F81-4F89D7536D25}"/>
              </a:ext>
            </a:extLst>
          </p:cNvPr>
          <p:cNvSpPr/>
          <p:nvPr/>
        </p:nvSpPr>
        <p:spPr>
          <a:xfrm>
            <a:off x="9594347" y="3682203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Perfect (hard)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851AD9-A4CE-D7DD-68A8-08EC05FA3DB4}"/>
              </a:ext>
            </a:extLst>
          </p:cNvPr>
          <p:cNvSpPr/>
          <p:nvPr/>
        </p:nvSpPr>
        <p:spPr>
          <a:xfrm>
            <a:off x="6743991" y="3675059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Imperfect (soft)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45A7D5B-2E1B-8837-E564-8311FDE23D7B}"/>
              </a:ext>
            </a:extLst>
          </p:cNvPr>
          <p:cNvCxnSpPr>
            <a:cxnSpLocks/>
          </p:cNvCxnSpPr>
          <p:nvPr/>
        </p:nvCxnSpPr>
        <p:spPr>
          <a:xfrm flipH="1">
            <a:off x="7668581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64BB9D4-B9C6-D025-4F39-0428968F1596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2E2933-DB8D-0137-ADF0-D7961B01E03C}"/>
              </a:ext>
            </a:extLst>
          </p:cNvPr>
          <p:cNvCxnSpPr>
            <a:cxnSpLocks/>
          </p:cNvCxnSpPr>
          <p:nvPr/>
        </p:nvCxnSpPr>
        <p:spPr>
          <a:xfrm>
            <a:off x="3746662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DDEFCE5-4CFF-A2A3-74CE-FDFF69A94989}"/>
              </a:ext>
            </a:extLst>
          </p:cNvPr>
          <p:cNvSpPr/>
          <p:nvPr/>
        </p:nvSpPr>
        <p:spPr>
          <a:xfrm>
            <a:off x="864684" y="4666841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42B5F1-423F-FC9D-997A-1999F9D8906F}"/>
              </a:ext>
            </a:extLst>
          </p:cNvPr>
          <p:cNvSpPr/>
          <p:nvPr/>
        </p:nvSpPr>
        <p:spPr>
          <a:xfrm>
            <a:off x="803817" y="3675059"/>
            <a:ext cx="2207420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Multi-environment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F05FFA-9A18-2DDD-DBD3-7EEA6A0C3923}"/>
              </a:ext>
            </a:extLst>
          </p:cNvPr>
          <p:cNvCxnSpPr>
            <a:cxnSpLocks/>
          </p:cNvCxnSpPr>
          <p:nvPr/>
        </p:nvCxnSpPr>
        <p:spPr>
          <a:xfrm flipH="1">
            <a:off x="2032162" y="3151608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483A8CF-2A82-7496-9E90-9350DD0FDBF8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 shift</a:t>
            </a:r>
          </a:p>
        </p:txBody>
      </p:sp>
      <p:sp>
        <p:nvSpPr>
          <p:cNvPr id="37" name="Szövegdoboz 3">
            <a:extLst>
              <a:ext uri="{FF2B5EF4-FFF2-40B4-BE49-F238E27FC236}">
                <a16:creationId xmlns:a16="http://schemas.microsoft.com/office/drawing/2014/main" id="{E402CF1F-673C-7EF2-08AB-56780C03202C}"/>
              </a:ext>
            </a:extLst>
          </p:cNvPr>
          <p:cNvSpPr txBox="1"/>
          <p:nvPr/>
        </p:nvSpPr>
        <p:spPr>
          <a:xfrm>
            <a:off x="3306301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Passive</a:t>
            </a:r>
          </a:p>
        </p:txBody>
      </p:sp>
      <p:sp>
        <p:nvSpPr>
          <p:cNvPr id="38" name="Szövegdoboz 3">
            <a:extLst>
              <a:ext uri="{FF2B5EF4-FFF2-40B4-BE49-F238E27FC236}">
                <a16:creationId xmlns:a16="http://schemas.microsoft.com/office/drawing/2014/main" id="{D7C36AB8-46D2-9E5F-A429-BF079EE67F1C}"/>
              </a:ext>
            </a:extLst>
          </p:cNvPr>
          <p:cNvSpPr txBox="1"/>
          <p:nvPr/>
        </p:nvSpPr>
        <p:spPr>
          <a:xfrm>
            <a:off x="7606838" y="1733577"/>
            <a:ext cx="880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D1011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Active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2D9DDB-B08A-8E60-F8CA-2DD671B9CDBC}"/>
              </a:ext>
            </a:extLst>
          </p:cNvPr>
          <p:cNvSpPr/>
          <p:nvPr/>
        </p:nvSpPr>
        <p:spPr>
          <a:xfrm>
            <a:off x="3321842" y="3682203"/>
            <a:ext cx="254317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Natural experiment</a:t>
            </a:r>
          </a:p>
        </p:txBody>
      </p:sp>
      <p:sp>
        <p:nvSpPr>
          <p:cNvPr id="40" name="Szövegdoboz 3">
            <a:extLst>
              <a:ext uri="{FF2B5EF4-FFF2-40B4-BE49-F238E27FC236}">
                <a16:creationId xmlns:a16="http://schemas.microsoft.com/office/drawing/2014/main" id="{4850B51C-7C30-CA15-F7D8-4B0C4E09EEFE}"/>
              </a:ext>
            </a:extLst>
          </p:cNvPr>
          <p:cNvSpPr txBox="1"/>
          <p:nvPr/>
        </p:nvSpPr>
        <p:spPr>
          <a:xfrm>
            <a:off x="3186259" y="4219087"/>
            <a:ext cx="2724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Different tax in neighboring cities</a:t>
            </a:r>
          </a:p>
        </p:txBody>
      </p:sp>
      <p:sp>
        <p:nvSpPr>
          <p:cNvPr id="41" name="Szövegdoboz 3">
            <a:extLst>
              <a:ext uri="{FF2B5EF4-FFF2-40B4-BE49-F238E27FC236}">
                <a16:creationId xmlns:a16="http://schemas.microsoft.com/office/drawing/2014/main" id="{FB843B97-1007-9636-663E-6CE349213D93}"/>
              </a:ext>
            </a:extLst>
          </p:cNvPr>
          <p:cNvSpPr txBox="1"/>
          <p:nvPr/>
        </p:nvSpPr>
        <p:spPr>
          <a:xfrm>
            <a:off x="864684" y="4177606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Blue- vs White-collar</a:t>
            </a:r>
          </a:p>
        </p:txBody>
      </p:sp>
      <p:sp>
        <p:nvSpPr>
          <p:cNvPr id="42" name="Szövegdoboz 3">
            <a:extLst>
              <a:ext uri="{FF2B5EF4-FFF2-40B4-BE49-F238E27FC236}">
                <a16:creationId xmlns:a16="http://schemas.microsoft.com/office/drawing/2014/main" id="{07B71C20-3C9F-CA3C-42A6-04A644A2752C}"/>
              </a:ext>
            </a:extLst>
          </p:cNvPr>
          <p:cNvSpPr txBox="1"/>
          <p:nvPr/>
        </p:nvSpPr>
        <p:spPr>
          <a:xfrm>
            <a:off x="10101263" y="4219087"/>
            <a:ext cx="1621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Smoking ban</a:t>
            </a:r>
          </a:p>
        </p:txBody>
      </p:sp>
      <p:sp>
        <p:nvSpPr>
          <p:cNvPr id="43" name="Szövegdoboz 3">
            <a:extLst>
              <a:ext uri="{FF2B5EF4-FFF2-40B4-BE49-F238E27FC236}">
                <a16:creationId xmlns:a16="http://schemas.microsoft.com/office/drawing/2014/main" id="{E60BB52A-E99F-7B25-4966-9984C1173746}"/>
              </a:ext>
            </a:extLst>
          </p:cNvPr>
          <p:cNvSpPr txBox="1"/>
          <p:nvPr/>
        </p:nvSpPr>
        <p:spPr>
          <a:xfrm>
            <a:off x="6865146" y="4219087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Educational campaign</a:t>
            </a:r>
          </a:p>
        </p:txBody>
      </p:sp>
      <p:sp>
        <p:nvSpPr>
          <p:cNvPr id="44" name="Szövegdoboz 3">
            <a:extLst>
              <a:ext uri="{FF2B5EF4-FFF2-40B4-BE49-F238E27FC236}">
                <a16:creationId xmlns:a16="http://schemas.microsoft.com/office/drawing/2014/main" id="{3F97F59C-0581-CB81-F205-89ABFC8EF05B}"/>
              </a:ext>
            </a:extLst>
          </p:cNvPr>
          <p:cNvSpPr txBox="1"/>
          <p:nvPr/>
        </p:nvSpPr>
        <p:spPr>
          <a:xfrm>
            <a:off x="864684" y="5165114"/>
            <a:ext cx="2057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X-Ray + CO</a:t>
            </a:r>
            <a:r>
              <a:rPr lang="en-US" sz="1400" baseline="-250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2</a:t>
            </a:r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 retention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ABDD21-5EEF-9BC9-A8A1-B1C620F29C6E}"/>
              </a:ext>
            </a:extLst>
          </p:cNvPr>
          <p:cNvSpPr/>
          <p:nvPr/>
        </p:nvSpPr>
        <p:spPr>
          <a:xfrm>
            <a:off x="1577621" y="5938093"/>
            <a:ext cx="8904180" cy="498273"/>
          </a:xfrm>
          <a:prstGeom prst="rect">
            <a:avLst/>
          </a:prstGeom>
          <a:solidFill>
            <a:srgbClr val="D101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An alternative view is to focus on what does </a:t>
            </a:r>
            <a:r>
              <a:rPr lang="en-US" sz="2000" i="1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not </a:t>
            </a:r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change, i.e. on invariances</a:t>
            </a:r>
          </a:p>
        </p:txBody>
      </p:sp>
      <p:sp>
        <p:nvSpPr>
          <p:cNvPr id="46" name="Szövegdoboz 23">
            <a:extLst>
              <a:ext uri="{FF2B5EF4-FFF2-40B4-BE49-F238E27FC236}">
                <a16:creationId xmlns:a16="http://schemas.microsoft.com/office/drawing/2014/main" id="{9F296179-69DF-FDAA-FFA1-C7A251079067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133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44022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071FD-0DEF-45B3-D708-D48AA2B7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FAC860D8-C7EA-A237-6014-D96A801A85B0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Sparsity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F4D30E66-5CBE-BEEE-CE77-64B2B22B054A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B3F4513-71F5-4B9B-7E9D-1790DFD30D8C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Sparsity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DD2A8382-4985-8D37-F8E2-F7AF975D957C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134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04574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4E023-F2FE-8649-66D6-95292641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93E985A5-AF23-4EA1-BB49-79E147A94AEE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Sparsity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0C11D1BB-731E-77ED-2BA7-D8B12EC36DEE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69A905B-011A-D3DF-A7F8-9F784361A42D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Sparsity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F29A7A-D6FF-0E5C-2C60-03F1671E7F8E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CD73E4C-270F-1AAA-6B7D-418D59BFBAF2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Distributional</a:t>
            </a:r>
          </a:p>
        </p:txBody>
      </p:sp>
      <p:sp>
        <p:nvSpPr>
          <p:cNvPr id="15" name="Szövegdoboz 3">
            <a:extLst>
              <a:ext uri="{FF2B5EF4-FFF2-40B4-BE49-F238E27FC236}">
                <a16:creationId xmlns:a16="http://schemas.microsoft.com/office/drawing/2014/main" id="{799EA38B-73A0-040C-862E-4EB43B9F25A0}"/>
              </a:ext>
            </a:extLst>
          </p:cNvPr>
          <p:cNvSpPr txBox="1"/>
          <p:nvPr/>
        </p:nvSpPr>
        <p:spPr>
          <a:xfrm>
            <a:off x="2210186" y="3110269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Sparse Mechanism Shift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353A40F0-3F53-A94A-A880-ACBA840A3E58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135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78386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DE8C7-567E-E5E2-20A9-4818369A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zövegdoboz 13">
            <a:extLst>
              <a:ext uri="{FF2B5EF4-FFF2-40B4-BE49-F238E27FC236}">
                <a16:creationId xmlns:a16="http://schemas.microsoft.com/office/drawing/2014/main" id="{C8A78FB3-18DC-7210-EAE3-434367E62EA6}"/>
              </a:ext>
            </a:extLst>
          </p:cNvPr>
          <p:cNvSpPr txBox="1"/>
          <p:nvPr/>
        </p:nvSpPr>
        <p:spPr>
          <a:xfrm>
            <a:off x="112475" y="201310"/>
            <a:ext cx="118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A8FE3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Sparsity</a:t>
            </a:r>
            <a:endParaRPr lang="hu-HU" sz="3200" dirty="0">
              <a:solidFill>
                <a:srgbClr val="4A8FE3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cxnSp>
        <p:nvCxnSpPr>
          <p:cNvPr id="4" name="Egyenes összekötő 8">
            <a:extLst>
              <a:ext uri="{FF2B5EF4-FFF2-40B4-BE49-F238E27FC236}">
                <a16:creationId xmlns:a16="http://schemas.microsoft.com/office/drawing/2014/main" id="{A43EFD89-E5B6-C9CB-EC50-B884E980F49D}"/>
              </a:ext>
            </a:extLst>
          </p:cNvPr>
          <p:cNvCxnSpPr>
            <a:cxnSpLocks/>
          </p:cNvCxnSpPr>
          <p:nvPr/>
        </p:nvCxnSpPr>
        <p:spPr>
          <a:xfrm flipV="1">
            <a:off x="0" y="898543"/>
            <a:ext cx="12192000" cy="32559"/>
          </a:xfrm>
          <a:prstGeom prst="line">
            <a:avLst/>
          </a:prstGeom>
          <a:ln w="57150">
            <a:solidFill>
              <a:srgbClr val="4A8F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97349D7-7FD9-1F2C-0DBC-AD9F9EDD2231}"/>
              </a:ext>
            </a:extLst>
          </p:cNvPr>
          <p:cNvSpPr/>
          <p:nvPr/>
        </p:nvSpPr>
        <p:spPr>
          <a:xfrm>
            <a:off x="4779459" y="1224754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Sparsity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C017CB-6975-3525-12CC-7F0D1A2516D1}"/>
              </a:ext>
            </a:extLst>
          </p:cNvPr>
          <p:cNvCxnSpPr>
            <a:cxnSpLocks/>
          </p:cNvCxnSpPr>
          <p:nvPr/>
        </p:nvCxnSpPr>
        <p:spPr>
          <a:xfrm>
            <a:off x="7075650" y="1987177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FB99A57-1938-CA0C-FAD3-16F1913FFE78}"/>
              </a:ext>
            </a:extLst>
          </p:cNvPr>
          <p:cNvSpPr/>
          <p:nvPr/>
        </p:nvSpPr>
        <p:spPr>
          <a:xfrm>
            <a:off x="7565522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Structural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6C84E3-1FF6-C86E-7CE5-1EECCE767FF1}"/>
              </a:ext>
            </a:extLst>
          </p:cNvPr>
          <p:cNvCxnSpPr>
            <a:cxnSpLocks/>
          </p:cNvCxnSpPr>
          <p:nvPr/>
        </p:nvCxnSpPr>
        <p:spPr>
          <a:xfrm flipH="1">
            <a:off x="4032411" y="1962170"/>
            <a:ext cx="561019" cy="291665"/>
          </a:xfrm>
          <a:prstGeom prst="straightConnector1">
            <a:avLst/>
          </a:prstGeom>
          <a:ln w="28575">
            <a:solidFill>
              <a:srgbClr val="4A8F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4907914-505A-1CDB-1943-26CDC0C7820D}"/>
              </a:ext>
            </a:extLst>
          </p:cNvPr>
          <p:cNvSpPr/>
          <p:nvPr/>
        </p:nvSpPr>
        <p:spPr>
          <a:xfrm>
            <a:off x="2143416" y="2446335"/>
            <a:ext cx="2085686" cy="498273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Distributional</a:t>
            </a:r>
          </a:p>
        </p:txBody>
      </p:sp>
      <p:sp>
        <p:nvSpPr>
          <p:cNvPr id="14" name="Szövegdoboz 3">
            <a:extLst>
              <a:ext uri="{FF2B5EF4-FFF2-40B4-BE49-F238E27FC236}">
                <a16:creationId xmlns:a16="http://schemas.microsoft.com/office/drawing/2014/main" id="{7C0B031A-FEDB-3116-F35B-D77DCDA4C7D7}"/>
              </a:ext>
            </a:extLst>
          </p:cNvPr>
          <p:cNvSpPr txBox="1"/>
          <p:nvPr/>
        </p:nvSpPr>
        <p:spPr>
          <a:xfrm>
            <a:off x="7582286" y="3110269"/>
            <a:ext cx="2052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Mechanism sparsity</a:t>
            </a:r>
          </a:p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Structural sparsity</a:t>
            </a:r>
          </a:p>
        </p:txBody>
      </p:sp>
      <p:sp>
        <p:nvSpPr>
          <p:cNvPr id="15" name="Szövegdoboz 3">
            <a:extLst>
              <a:ext uri="{FF2B5EF4-FFF2-40B4-BE49-F238E27FC236}">
                <a16:creationId xmlns:a16="http://schemas.microsoft.com/office/drawing/2014/main" id="{575A8904-450C-359A-2879-5F22F29137A5}"/>
              </a:ext>
            </a:extLst>
          </p:cNvPr>
          <p:cNvSpPr txBox="1"/>
          <p:nvPr/>
        </p:nvSpPr>
        <p:spPr>
          <a:xfrm>
            <a:off x="2210186" y="3110269"/>
            <a:ext cx="2052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Sparse Mechanism Shift</a:t>
            </a:r>
          </a:p>
        </p:txBody>
      </p:sp>
      <p:sp>
        <p:nvSpPr>
          <p:cNvPr id="16" name="Szövegdoboz 23">
            <a:extLst>
              <a:ext uri="{FF2B5EF4-FFF2-40B4-BE49-F238E27FC236}">
                <a16:creationId xmlns:a16="http://schemas.microsoft.com/office/drawing/2014/main" id="{8BEF8C23-D80E-4C44-4C04-697515EB1F2F}"/>
              </a:ext>
            </a:extLst>
          </p:cNvPr>
          <p:cNvSpPr txBox="1"/>
          <p:nvPr/>
        </p:nvSpPr>
        <p:spPr>
          <a:xfrm>
            <a:off x="11512617" y="65028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15CFEBF-EE48-D84A-9B50-C2C8CB676597}" type="slidenum">
              <a:rPr lang="hu-HU" sz="1400" smtClean="0">
                <a:solidFill>
                  <a:srgbClr val="4A8FE3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136</a:t>
            </a:fld>
            <a:endParaRPr lang="hu-HU" sz="1400" dirty="0">
              <a:solidFill>
                <a:srgbClr val="4A8FE3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15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minimalist_blue" id="{73F18002-46DA-8247-855F-AAFE15A87812}" vid="{431B6ABD-544C-6A4F-AD0D-DEB57496A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35432</TotalTime>
  <Words>6218</Words>
  <Application>Microsoft Macintosh PowerPoint</Application>
  <PresentationFormat>Widescreen</PresentationFormat>
  <Paragraphs>1493</Paragraphs>
  <Slides>136</Slides>
  <Notes>130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44" baseType="lpstr">
      <vt:lpstr>Aptos</vt:lpstr>
      <vt:lpstr>Arial</vt:lpstr>
      <vt:lpstr>Calibri</vt:lpstr>
      <vt:lpstr>Calibri Light</vt:lpstr>
      <vt:lpstr>Cambria Math</vt:lpstr>
      <vt:lpstr>Helvetica Neue Light</vt:lpstr>
      <vt:lpstr>Helvetica Neue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Patrik Reizinger</dc:creator>
  <cp:lastModifiedBy>Reizinger Patrik</cp:lastModifiedBy>
  <cp:revision>132</cp:revision>
  <dcterms:created xsi:type="dcterms:W3CDTF">2023-06-26T07:34:44Z</dcterms:created>
  <dcterms:modified xsi:type="dcterms:W3CDTF">2025-10-12T11:44:46Z</dcterms:modified>
</cp:coreProperties>
</file>