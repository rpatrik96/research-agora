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502920"/>
            <a:ext cx="25603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246120"/>
            <a:ext cx="7863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Research Agora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4663440"/>
            <a:ext cx="274320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89204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4ECDC4"/>
                </a:solidFill>
                <a:latin typeface="Calibri"/>
              </a:rPr>
              <a:t>61 Open-Source AI Skills for ML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AAACC"/>
                </a:solidFill>
                <a:latin typeface="Calibri"/>
              </a:rPr>
              <a:t>Built by a researcher, for researchers.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920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E94560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286000" cy="50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7863840" cy="5943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>Researchers use ChatGPT for everything.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>But there are no verified, reusable workflows.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>Citation hallucinations pass peer review.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>We need infrastructure — not just chat.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9202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4ECDC4"/>
                </a:solidFill>
                <a:latin typeface="Calibri"/>
              </a:rPr>
              <a:t>Research Agora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74320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7863840" cy="5943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>A skills marketplace for ML research.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>61 public skills  ·  6 plugins  ·  MIT license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FFFFFF"/>
                </a:solidFill>
                <a:latin typeface="Calibri"/>
              </a:rPr>
              <a:t>One install command. Works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9202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What You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320040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▸ /paper-review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2103120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0">
                <a:solidFill>
                  <a:srgbClr val="AAAACC"/>
                </a:solidFill>
                <a:latin typeface="Calibri"/>
              </a:rPr>
              <a:t>Simulate a skeptical reviewer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▸ /paper-references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852928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0">
                <a:solidFill>
                  <a:srgbClr val="AAAACC"/>
                </a:solidFill>
                <a:latin typeface="Calibri"/>
              </a:rPr>
              <a:t>Catch hallucinated citations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02736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▸ /proof-auditor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602736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0">
                <a:solidFill>
                  <a:srgbClr val="AAAACC"/>
                </a:solidFill>
                <a:latin typeface="Calibri"/>
              </a:rPr>
              <a:t>Verify mathematical proofs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52544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▸ /claim-auditor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352544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0">
                <a:solidFill>
                  <a:srgbClr val="AAAACC"/>
                </a:solidFill>
                <a:latin typeface="Calibri"/>
              </a:rPr>
              <a:t>Audit evidence for every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02352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▸ /paper-introduction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102352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0">
                <a:solidFill>
                  <a:srgbClr val="AAAACC"/>
                </a:solidFill>
                <a:latin typeface="Calibri"/>
              </a:rPr>
              <a:t>Draft compelling intros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9202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Verified, Not Vibes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365760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FFFFFF"/>
                </a:solidFill>
                <a:latin typeface="Calibri"/>
              </a:rPr>
              <a:t>Every verification skill ships with a benchmark.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78638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4ECDC4"/>
                </a:solidFill>
                <a:latin typeface="Calibri"/>
              </a:rPr>
              <a:t>L1  </a:t>
            </a:r>
            <a:r>
              <a:rPr sz="2200" b="0">
                <a:solidFill>
                  <a:srgbClr val="AAAACC"/>
                </a:solidFill>
                <a:latin typeface="Calibri"/>
              </a:rPr>
              <a:t>Code-verified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4992"/>
            <a:ext cx="78638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4ECDC4"/>
                </a:solidFill>
                <a:latin typeface="Calibri"/>
              </a:rPr>
              <a:t>L2  </a:t>
            </a:r>
            <a:r>
              <a:rPr sz="2200" b="0">
                <a:solidFill>
                  <a:srgbClr val="AAAACC"/>
                </a:solidFill>
                <a:latin typeface="Calibri"/>
              </a:rPr>
              <a:t>Reproducible 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03904"/>
            <a:ext cx="78638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4ECDC4"/>
                </a:solidFill>
                <a:latin typeface="Calibri"/>
              </a:rPr>
              <a:t>L3  </a:t>
            </a:r>
            <a:r>
              <a:rPr sz="2200" b="0">
                <a:solidFill>
                  <a:srgbClr val="AAAACC"/>
                </a:solidFill>
                <a:latin typeface="Calibri"/>
              </a:rPr>
              <a:t>Paper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42816"/>
            <a:ext cx="78638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4ECDC4"/>
                </a:solidFill>
                <a:latin typeface="Calibri"/>
              </a:rPr>
              <a:t>L4  </a:t>
            </a:r>
            <a:r>
              <a:rPr sz="2200" b="0">
                <a:solidFill>
                  <a:srgbClr val="AAAACC"/>
                </a:solidFill>
                <a:latin typeface="Calibri"/>
              </a:rPr>
              <a:t>Citation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81728"/>
            <a:ext cx="78638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4ECDC4"/>
                </a:solidFill>
                <a:latin typeface="Calibri"/>
              </a:rPr>
              <a:t>L5  </a:t>
            </a:r>
            <a:r>
              <a:rPr sz="2200" b="0">
                <a:solidFill>
                  <a:srgbClr val="AAAACC"/>
                </a:solidFill>
                <a:latin typeface="Calibri"/>
              </a:rPr>
              <a:t>Logical argument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78638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4ECDC4"/>
                </a:solidFill>
                <a:latin typeface="Calibri"/>
              </a:rPr>
              <a:t>L6  </a:t>
            </a:r>
            <a:r>
              <a:rPr sz="2200" b="0">
                <a:solidFill>
                  <a:srgbClr val="AAAACC"/>
                </a:solidFill>
                <a:latin typeface="Calibri"/>
              </a:rPr>
              <a:t>Assertion (no evidence)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7498079"/>
            <a:ext cx="78638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>
                <a:solidFill>
                  <a:srgbClr val="4ECDC4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>
                <a:solidFill>
                  <a:srgbClr val="4ECDC4"/>
                </a:solidFill>
                <a:latin typeface="Calibri"/>
              </a:rPr>
              <a:t>You can measure skill quality.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920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Works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3200400" cy="50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Claude Code (native)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Cursor (.mdc rules)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Gemini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GitHub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669280"/>
            <a:ext cx="4572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78638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Conversion tool included.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No vendor lock-in.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9202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Benchmarked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28600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560320"/>
            <a:ext cx="6400800" cy="2560320"/>
          </a:xfrm>
          <a:prstGeom prst="rect">
            <a:avLst/>
          </a:prstGeom>
          <a:solidFill>
            <a:srgbClr val="222244"/>
          </a:solidFill>
          <a:ln w="1905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743200"/>
            <a:ext cx="5486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AAAACC"/>
                </a:solidFill>
                <a:latin typeface="Calibri"/>
              </a:rPr>
              <a:t>HALLMARK citation benchmark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8328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4ECDC4"/>
                </a:solidFill>
                <a:latin typeface="Calibri"/>
              </a:rPr>
              <a:t>F1-H: 0.908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786384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Quarterly refresh.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Open leaderboard.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Measure before you trust.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920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94560"/>
                </a:solidFill>
                <a:latin typeface="Calibri"/>
              </a:rPr>
              <a:t>P-AGI Workshop @ ICLR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5029200" cy="50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7863840" cy="16459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1">
                <a:solidFill>
                  <a:srgbClr val="FFFFFF"/>
                </a:solidFill>
                <a:latin typeface="Calibri"/>
              </a:rPr>
              <a:t>“Skills, Benchmarks, and Verification
Are What AI-Assisted Research Needs”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786384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Test-driven research: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Define verification criteria</a:t>
            </a:r>
          </a:p>
          <a:p>
            <a:pPr algn="l">
              <a:spcAft>
                <a:spcPts val="400"/>
              </a:spcAft>
            </a:pPr>
            <a:r>
              <a:rPr sz="2600">
                <a:solidFill>
                  <a:srgbClr val="AAAACC"/>
                </a:solidFill>
                <a:latin typeface="Calibri"/>
              </a:rPr>
              <a:t>BEFORE delegating to AI.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Get Started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2011680" cy="508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Browse: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8600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AAAACC"/>
                </a:solidFill>
                <a:latin typeface="Calibri"/>
              </a:rPr>
              <a:t>rpatrik96.github.io/research-agora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Install: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20040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AAAACC"/>
                </a:solidFill>
                <a:latin typeface="Calibri"/>
              </a:rPr>
              <a:t>/plugin marketplace add rpatrik96/research-agora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4ECDC4"/>
                </a:solidFill>
                <a:latin typeface="Calibri"/>
              </a:rPr>
              <a:t>Contribute: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11480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AAAACC"/>
                </a:solidFill>
                <a:latin typeface="Calibri"/>
              </a:rPr>
              <a:t>github.com/rpatrik96/research-agora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303520"/>
            <a:ext cx="4572000" cy="254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Save this post ↓  ·  Link in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8732520"/>
            <a:ext cx="9144000" cy="41148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8778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1A1A2E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